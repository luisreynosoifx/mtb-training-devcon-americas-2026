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2.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3.xml" ContentType="application/vnd.openxmlformats-officedocument.presentationml.notesSlide+xml"/>
  <Override PartName="/ppt/tags/tag95.xml" ContentType="application/vnd.openxmlformats-officedocument.presentationml.tags+xml"/>
  <Override PartName="/ppt/notesSlides/notesSlide4.xml" ContentType="application/vnd.openxmlformats-officedocument.presentationml.notesSlide+xml"/>
  <Override PartName="/ppt/tags/tag96.xml" ContentType="application/vnd.openxmlformats-officedocument.presentationml.tags+xml"/>
  <Override PartName="/ppt/notesSlides/notesSlide5.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5.xml" ContentType="application/vnd.openxmlformats-officedocument.presentationml.tags+xml"/>
  <Override PartName="/ppt/notesSlides/notesSlide1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7FFFD96C_F5E1FA56.xml" ContentType="application/vnd.ms-powerpoint.comments+xml"/>
  <Override PartName="/ppt/notesSlides/notesSlide23.xml" ContentType="application/vnd.openxmlformats-officedocument.presentationml.notesSlide+xml"/>
  <Override PartName="/ppt/comments/modernComment_7FFFD96D_A74ED71A.xml" ContentType="application/vnd.ms-powerpoint.comments+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0" r:id="rId5"/>
  </p:sldMasterIdLst>
  <p:notesMasterIdLst>
    <p:notesMasterId r:id="rId33"/>
  </p:notesMasterIdLst>
  <p:handoutMasterIdLst>
    <p:handoutMasterId r:id="rId34"/>
  </p:handoutMasterIdLst>
  <p:sldIdLst>
    <p:sldId id="299" r:id="rId6"/>
    <p:sldId id="2147473775" r:id="rId7"/>
    <p:sldId id="2147473776" r:id="rId8"/>
    <p:sldId id="323" r:id="rId9"/>
    <p:sldId id="2147473781" r:id="rId10"/>
    <p:sldId id="2147473777" r:id="rId11"/>
    <p:sldId id="2147473757" r:id="rId12"/>
    <p:sldId id="303" r:id="rId13"/>
    <p:sldId id="304" r:id="rId14"/>
    <p:sldId id="305" r:id="rId15"/>
    <p:sldId id="2147473778" r:id="rId16"/>
    <p:sldId id="307" r:id="rId17"/>
    <p:sldId id="2147473764" r:id="rId18"/>
    <p:sldId id="2147473766" r:id="rId19"/>
    <p:sldId id="327" r:id="rId20"/>
    <p:sldId id="2147473767" r:id="rId21"/>
    <p:sldId id="2147473779" r:id="rId22"/>
    <p:sldId id="2147473768" r:id="rId23"/>
    <p:sldId id="312" r:id="rId24"/>
    <p:sldId id="314" r:id="rId25"/>
    <p:sldId id="335" r:id="rId26"/>
    <p:sldId id="316" r:id="rId27"/>
    <p:sldId id="298" r:id="rId28"/>
    <p:sldId id="2147473771" r:id="rId29"/>
    <p:sldId id="2147473772" r:id="rId30"/>
    <p:sldId id="2147473773" r:id="rId31"/>
    <p:sldId id="810" r:id="rId32"/>
  </p:sldIdLst>
  <p:sldSz cx="12192000" cy="6858000"/>
  <p:notesSz cx="7099300" cy="10234613"/>
  <p:custDataLst>
    <p:tags r:id="rId35"/>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Title Section" id="{720975E3-D1A0-4A1E-BA5A-7CFB1E3EF32E}">
          <p14:sldIdLst>
            <p14:sldId id="299"/>
            <p14:sldId id="2147473775"/>
          </p14:sldIdLst>
        </p14:section>
        <p14:section name="Security by design" id="{2CBAEF39-B992-4A2A-9E82-FBDB03337975}">
          <p14:sldIdLst>
            <p14:sldId id="2147473776"/>
            <p14:sldId id="323"/>
            <p14:sldId id="2147473781"/>
          </p14:sldIdLst>
        </p14:section>
        <p14:section name="Device life cycle stage (LCS)" id="{0CADE2CE-090F-465D-BF39-3365045C5E23}">
          <p14:sldIdLst>
            <p14:sldId id="2147473777"/>
            <p14:sldId id="2147473757"/>
            <p14:sldId id="303"/>
            <p14:sldId id="304"/>
            <p14:sldId id="305"/>
          </p14:sldIdLst>
        </p14:section>
        <p14:section name="Ownership transfer and provisioning" id="{F107A171-8997-4849-A397-1CDDF667F3B3}">
          <p14:sldIdLst>
            <p14:sldId id="2147473778"/>
            <p14:sldId id="307"/>
            <p14:sldId id="2147473764"/>
            <p14:sldId id="2147473766"/>
            <p14:sldId id="327"/>
            <p14:sldId id="2147473767"/>
          </p14:sldIdLst>
        </p14:section>
        <p14:section name="Secure boot" id="{95A4599A-001A-4ED6-83B5-C846C7C7BBA9}">
          <p14:sldIdLst>
            <p14:sldId id="2147473779"/>
            <p14:sldId id="2147473768"/>
            <p14:sldId id="312"/>
            <p14:sldId id="314"/>
            <p14:sldId id="335"/>
          </p14:sldIdLst>
        </p14:section>
        <p14:section name="Last Section" id="{4E0E4620-0442-41EE-ADF3-FCE4742E9D92}">
          <p14:sldIdLst>
            <p14:sldId id="316"/>
            <p14:sldId id="298"/>
            <p14:sldId id="2147473771"/>
            <p14:sldId id="2147473772"/>
            <p14:sldId id="2147473773"/>
            <p14:sldId id="810"/>
          </p14:sldIdLst>
        </p14:section>
        <p14:section name="Last Section" id="{28648CAD-0C5A-478C-8BFA-18FDB7122170}">
          <p14:sldIdLst/>
        </p14:section>
      </p14:sectionLst>
    </p:ext>
    <p:ext uri="{EFAFB233-063F-42B5-8137-9DF3F51BA10A}">
      <p15:sldGuideLst xmlns:p15="http://schemas.microsoft.com/office/powerpoint/2012/main">
        <p15:guide id="2" orient="horz" pos="5360" userDrawn="1">
          <p15:clr>
            <a:srgbClr val="A4A3A4"/>
          </p15:clr>
        </p15:guide>
        <p15:guide id="3" pos="3840">
          <p15:clr>
            <a:srgbClr val="A4A3A4"/>
          </p15:clr>
        </p15:guide>
      </p15:sldGuideLst>
    </p:ext>
    <p:ext uri="{2D200454-40CA-4A62-9FC3-DE9A4176ACB9}">
      <p15:notesGuideLst xmlns:p15="http://schemas.microsoft.com/office/powerpoint/2012/main">
        <p15:guide id="1" orient="horz" pos="187">
          <p15:clr>
            <a:srgbClr val="A4A3A4"/>
          </p15:clr>
        </p15:guide>
        <p15:guide id="2" orient="horz" pos="638">
          <p15:clr>
            <a:srgbClr val="A4A3A4"/>
          </p15:clr>
        </p15:guide>
        <p15:guide id="3" orient="horz" pos="453">
          <p15:clr>
            <a:srgbClr val="A4A3A4"/>
          </p15:clr>
        </p15:guide>
        <p15:guide id="4" orient="horz" pos="6262">
          <p15:clr>
            <a:srgbClr val="A4A3A4"/>
          </p15:clr>
        </p15:guide>
        <p15:guide id="5" pos="4186">
          <p15:clr>
            <a:srgbClr val="A4A3A4"/>
          </p15:clr>
        </p15:guide>
        <p15:guide id="6" pos="286">
          <p15:clr>
            <a:srgbClr val="A4A3A4"/>
          </p15:clr>
        </p15:guide>
        <p15:guide id="7" pos="830">
          <p15:clr>
            <a:srgbClr val="A4A3A4"/>
          </p15:clr>
        </p15:guide>
        <p15:guide id="8" pos="386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95900F-D047-BE89-3F90-0979D368E73F}" name="Bhuvankumar Nishaa (DCI DCP TP TD)" initials="NB" userId="S::Nishaa.Bhuvankumar@infineon.com::a74cbcb7-3661-46a5-a815-ebd69be1c6bf" providerId="AD"/>
  <p188:author id="{E76D4A2B-230F-8B68-46AB-D450E62C7C6B}" name="HV Ravikiran (CSS ICW MCU APP FD SEC)" initials="RH" userId="S::Ravikiran.HV@infineon.com::f03405d6-2263-41b3-bc8c-9391831c7d76" providerId="AD"/>
  <p188:author id="{CFCDCB35-8700-B5F6-2A54-42278A91A089}" name="Vislavath Pavani (SMD HCJ CPM TP 2)" initials="PV" userId="S::Pavani.Vislavath@infineon.com::b3312269-98f8-4a54-a7a5-3991d1240f8b" providerId="AD"/>
  <p188:author id="{F4D2BCE7-2C3D-DD29-9141-D1BDEDF2690C}" name="Rangaswamy Vinay (CSS ICW MCU APP FD SEC)" initials="VR" userId="S::Vinay.Rangaswamy@infineon.com::084d8632-db5b-4c8f-a802-c449cccdec7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8276"/>
    <a:srgbClr val="EE813C"/>
    <a:srgbClr val="F5C631"/>
    <a:srgbClr val="AB377A"/>
    <a:srgbClr val="644F54"/>
    <a:srgbClr val="AEC067"/>
    <a:srgbClr val="5EA290"/>
    <a:srgbClr val="928285"/>
    <a:srgbClr val="F07F3C"/>
    <a:srgbClr val="9BC3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7A2E476-8D9F-405D-90A8-CEF93DEE4F6C}">
  <a:tblStyle styleId="{67A2E476-8D9F-405D-90A8-CEF93DEE4F6C}" styleName="Infineon Standard">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14" autoAdjust="0"/>
    <p:restoredTop sz="94404" autoAdjust="0"/>
  </p:normalViewPr>
  <p:slideViewPr>
    <p:cSldViewPr snapToObjects="1" showGuides="1">
      <p:cViewPr varScale="1">
        <p:scale>
          <a:sx n="74" d="100"/>
          <a:sy n="74" d="100"/>
        </p:scale>
        <p:origin x="92" y="56"/>
      </p:cViewPr>
      <p:guideLst>
        <p:guide orient="horz" pos="53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60" d="100"/>
          <a:sy n="60" d="100"/>
        </p:scale>
        <p:origin x="3144" y="38"/>
      </p:cViewPr>
      <p:guideLst>
        <p:guide orient="horz" pos="187"/>
        <p:guide orient="horz" pos="638"/>
        <p:guide orient="horz" pos="453"/>
        <p:guide orient="horz" pos="6262"/>
        <p:guide pos="4186"/>
        <p:guide pos="286"/>
        <p:guide pos="830"/>
        <p:guide pos="386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gs" Target="tags/tag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viewProps" Target="viewProps.xml"/></Relationships>
</file>

<file path=ppt/comments/modernComment_7FFFD96C_F5E1FA56.xml><?xml version="1.0" encoding="utf-8"?>
<p188:cmLst xmlns:a="http://schemas.openxmlformats.org/drawingml/2006/main" xmlns:r="http://schemas.openxmlformats.org/officeDocument/2006/relationships" xmlns:p188="http://schemas.microsoft.com/office/powerpoint/2018/8/main">
  <p188:cm id="{24EB5EF7-30C4-493C-8569-CE44F6BD7441}" authorId="{CFCDCB35-8700-B5F6-2A54-42278A91A089}" status="resolved" created="2026-06-25T04:33:56.564">
    <pc:sldMkLst xmlns:pc="http://schemas.microsoft.com/office/powerpoint/2013/main/command">
      <pc:docMk/>
      <pc:sldMk cId="2995882406" sldId="324"/>
    </pc:sldMkLst>
    <p188:replyLst>
      <p188:reply id="{D4622597-A7ED-45E3-A43A-5DD730FE9B05}" authorId="{F4D2BCE7-2C3D-DD29-9141-D1BDEDF2690C}" created="2026-06-25T13:00:47.394">
        <p188:txBody>
          <a:bodyPr/>
          <a:lstStyle/>
          <a:p>
            <a:r>
              <a:rPr lang="en-IN"/>
              <a:t>It is at the write place, this slides are only referred to answer some of the  anticipated questions from audience. Not part of the Agenda</a:t>
            </a:r>
          </a:p>
        </p188:txBody>
      </p188:reply>
    </p188:replyLst>
    <p188:txBody>
      <a:bodyPr/>
      <a:lstStyle/>
      <a:p>
        <a:r>
          <a:rPr lang="en-IN"/>
          <a:t>Kindly place this slide where it is relevant.</a:t>
        </a:r>
      </a:p>
    </p188:txBody>
  </p188:cm>
</p188:cmLst>
</file>

<file path=ppt/comments/modernComment_7FFFD96D_A74ED71A.xml><?xml version="1.0" encoding="utf-8"?>
<p188:cmLst xmlns:a="http://schemas.openxmlformats.org/drawingml/2006/main" xmlns:r="http://schemas.openxmlformats.org/officeDocument/2006/relationships" xmlns:p188="http://schemas.microsoft.com/office/powerpoint/2018/8/main">
  <p188:cm id="{ECB6CBA5-AE6B-4669-8C45-2CB9BC96A17D}" authorId="{CFCDCB35-8700-B5F6-2A54-42278A91A089}" status="resolved" created="2026-06-25T04:34:03.649">
    <pc:sldMkLst xmlns:pc="http://schemas.microsoft.com/office/powerpoint/2013/main/command">
      <pc:docMk/>
      <pc:sldMk cId="0" sldId="313"/>
    </pc:sldMkLst>
    <p188:replyLst>
      <p188:reply id="{B4B0EE18-46FB-4A73-80AF-00BEAD6AF025}" authorId="{F4D2BCE7-2C3D-DD29-9141-D1BDEDF2690C}" created="2026-06-25T13:00:54.211">
        <p188:txBody>
          <a:bodyPr/>
          <a:lstStyle/>
          <a:p>
            <a:r>
              <a:rPr lang="en-IN"/>
              <a:t>It is at the write place, this slides are only referred to answer some of the  anticipated questions from audience. Not part of the Agenda</a:t>
            </a:r>
          </a:p>
        </p188:txBody>
      </p188:reply>
    </p188:replyLst>
    <p188:txBody>
      <a:bodyPr/>
      <a:lstStyle/>
      <a:p>
        <a:r>
          <a:rPr lang="en-IN"/>
          <a:t>Kindly place this slide where it is relevant.</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IFXSHAPE"/>
          <p:cNvSpPr>
            <a:spLocks noGrp="1" noChangeArrowheads="1"/>
          </p:cNvSpPr>
          <p:nvPr>
            <p:ph type="hdr" sz="quarter"/>
          </p:nvPr>
        </p:nvSpPr>
        <p:spPr bwMode="auto">
          <a:xfrm>
            <a:off x="453306" y="296863"/>
            <a:ext cx="4422857" cy="41772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dirty="0">
              <a:solidFill>
                <a:srgbClr val="00214A"/>
              </a:solidFill>
              <a:latin typeface="Arial" panose="020B0604020202020204" pitchFamily="34" charset="0"/>
              <a:cs typeface="Arial" panose="020B0604020202020204" pitchFamily="34" charset="0"/>
            </a:endParaRPr>
          </a:p>
        </p:txBody>
      </p:sp>
      <p:pic>
        <p:nvPicPr>
          <p:cNvPr id="26" name="IFXSHAPE"/>
          <p:cNvPicPr>
            <a:picLocks noChangeAspect="1" noChangeArrowheads="1"/>
          </p:cNvPicPr>
          <p:nvPr/>
        </p:nvPicPr>
        <p:blipFill>
          <a:blip r:embed="rId2" cstate="print"/>
          <a:srcRect/>
          <a:stretch>
            <a:fillRect/>
          </a:stretch>
        </p:blipFill>
        <p:spPr bwMode="auto">
          <a:xfrm>
            <a:off x="5657072" y="295163"/>
            <a:ext cx="880886" cy="419422"/>
          </a:xfrm>
          <a:prstGeom prst="rect">
            <a:avLst/>
          </a:prstGeom>
          <a:noFill/>
          <a:ln w="9525">
            <a:noFill/>
            <a:miter lim="800000"/>
            <a:headEnd/>
            <a:tailEnd/>
          </a:ln>
          <a:effectLst/>
        </p:spPr>
      </p:pic>
      <p:sp>
        <p:nvSpPr>
          <p:cNvPr id="7" name="IFXSHAPE"/>
          <p:cNvSpPr>
            <a:spLocks noGrp="1"/>
          </p:cNvSpPr>
          <p:nvPr>
            <p:ph type="ftr" sz="quarter" idx="2"/>
          </p:nvPr>
        </p:nvSpPr>
        <p:spPr>
          <a:xfrm>
            <a:off x="1317625" y="9941842"/>
            <a:ext cx="4824413" cy="179611"/>
          </a:xfrm>
          <a:prstGeom prst="rect">
            <a:avLst/>
          </a:prstGeom>
        </p:spPr>
        <p:txBody>
          <a:bodyPr vert="horz" lIns="91440" tIns="45720" rIns="91440" bIns="45720" rtlCol="0" anchor="ctr"/>
          <a:lstStyle>
            <a:lvl1pPr algn="l">
              <a:defRPr sz="1200"/>
            </a:lvl1pPr>
          </a:lstStyle>
          <a:p>
            <a:pPr algn="ctr"/>
            <a:r>
              <a:rPr lang="en-US" sz="800">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800" b="1">
                <a:latin typeface="Arial" panose="020B0604020202020204" pitchFamily="34" charset="0"/>
                <a:ea typeface="Verdana" pitchFamily="34" charset="0"/>
                <a:cs typeface="Arial" panose="020B0604020202020204" pitchFamily="34" charset="0"/>
              </a:rPr>
              <a:t>restricted</a:t>
            </a:r>
            <a:endParaRPr lang="en-US" sz="800" b="1" dirty="0">
              <a:solidFill>
                <a:srgbClr val="E30034"/>
              </a:solidFill>
              <a:latin typeface="Arial" panose="020B0604020202020204" pitchFamily="34" charset="0"/>
              <a:ea typeface="Verdana" pitchFamily="34" charset="0"/>
              <a:cs typeface="Arial" panose="020B0604020202020204" pitchFamily="34" charset="0"/>
            </a:endParaRPr>
          </a:p>
        </p:txBody>
      </p:sp>
      <p:sp>
        <p:nvSpPr>
          <p:cNvPr id="9" name="IFXSHAPE"/>
          <p:cNvSpPr>
            <a:spLocks noGrp="1"/>
          </p:cNvSpPr>
          <p:nvPr>
            <p:ph type="dt" sz="quarter" idx="1"/>
          </p:nvPr>
        </p:nvSpPr>
        <p:spPr>
          <a:xfrm>
            <a:off x="453306" y="9941842"/>
            <a:ext cx="864319" cy="179611"/>
          </a:xfrm>
          <a:prstGeom prst="rect">
            <a:avLst/>
          </a:prstGeom>
        </p:spPr>
        <p:txBody>
          <a:bodyPr vert="horz" lIns="91440" tIns="45720" rIns="91440" bIns="45720" rtlCol="0" anchor="ctr"/>
          <a:lstStyle>
            <a:lvl1pPr algn="r">
              <a:defRPr sz="1200"/>
            </a:lvl1pPr>
          </a:lstStyle>
          <a:p>
            <a:pPr algn="l"/>
            <a:r>
              <a:rPr lang="en-US" sz="800">
                <a:latin typeface="Arial" panose="020B0604020202020204" pitchFamily="34" charset="0"/>
                <a:ea typeface="Verdana" pitchFamily="34" charset="0"/>
                <a:cs typeface="Arial" panose="020B0604020202020204" pitchFamily="34" charset="0"/>
              </a:rPr>
              <a:t>2020-12-16</a:t>
            </a:r>
          </a:p>
          <a:p>
            <a:pPr algn="l"/>
            <a:endParaRPr lang="en-US" sz="800">
              <a:latin typeface="Arial" panose="020B0604020202020204" pitchFamily="34" charset="0"/>
              <a:ea typeface="Verdana" pitchFamily="34" charset="0"/>
              <a:cs typeface="Arial" panose="020B0604020202020204" pitchFamily="34" charset="0"/>
            </a:endParaRPr>
          </a:p>
        </p:txBody>
      </p:sp>
      <p:sp>
        <p:nvSpPr>
          <p:cNvPr id="10" name="IFXSHAPE"/>
          <p:cNvSpPr>
            <a:spLocks noGrp="1"/>
          </p:cNvSpPr>
          <p:nvPr>
            <p:ph type="sldNum" sz="quarter" idx="3"/>
          </p:nvPr>
        </p:nvSpPr>
        <p:spPr>
          <a:xfrm>
            <a:off x="6142038" y="9941842"/>
            <a:ext cx="448737" cy="179611"/>
          </a:xfrm>
          <a:prstGeom prst="rect">
            <a:avLst/>
          </a:prstGeom>
        </p:spPr>
        <p:txBody>
          <a:bodyPr vert="horz" lIns="91440" tIns="45720" rIns="91440" bIns="45720" rtlCol="0" anchor="ctr"/>
          <a:lstStyle>
            <a:lvl1pPr algn="r">
              <a:defRPr sz="1200"/>
            </a:lvl1pPr>
          </a:lstStyle>
          <a:p>
            <a:fld id="{4F5EA4BF-E9AE-43AF-B3B0-E8B2B4D213BF}" type="slidenum">
              <a:rPr lang="en-US" sz="800">
                <a:latin typeface="Arial" panose="020B0604020202020204" pitchFamily="34" charset="0"/>
                <a:ea typeface="Verdana" pitchFamily="34" charset="0"/>
                <a:cs typeface="Arial" panose="020B0604020202020204" pitchFamily="34" charset="0"/>
              </a:rPr>
              <a:t>‹#›</a:t>
            </a:fld>
            <a:endParaRPr lang="en-US" sz="800">
              <a:latin typeface="Arial" panose="020B0604020202020204" pitchFamily="34" charset="0"/>
              <a:ea typeface="Verdana" pitchFamily="34" charset="0"/>
              <a:cs typeface="Arial" panose="020B0604020202020204" pitchFamily="34" charset="0"/>
            </a:endParaRPr>
          </a:p>
          <a:p>
            <a:endParaRPr lang="en-US" sz="800">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IFXSHAPE"/>
          <p:cNvSpPr>
            <a:spLocks noGrp="1" noRot="1" noChangeAspect="1" noChangeArrowheads="1" noTextEdit="1"/>
          </p:cNvSpPr>
          <p:nvPr>
            <p:ph type="sldImg" idx="2"/>
          </p:nvPr>
        </p:nvSpPr>
        <p:spPr bwMode="auto">
          <a:xfrm>
            <a:off x="454025" y="1012825"/>
            <a:ext cx="6191250" cy="3482975"/>
          </a:xfrm>
          <a:prstGeom prst="rect">
            <a:avLst/>
          </a:prstGeom>
          <a:noFill/>
          <a:ln w="9525">
            <a:solidFill>
              <a:srgbClr val="000000"/>
            </a:solidFill>
            <a:miter lim="800000"/>
            <a:headEnd/>
            <a:tailEnd/>
          </a:ln>
          <a:effectLst/>
        </p:spPr>
      </p:sp>
      <p:sp>
        <p:nvSpPr>
          <p:cNvPr id="84997" name="IFXSHAPE"/>
          <p:cNvSpPr>
            <a:spLocks noGrp="1" noChangeArrowheads="1"/>
          </p:cNvSpPr>
          <p:nvPr>
            <p:ph type="body" sz="quarter" idx="3"/>
          </p:nvPr>
        </p:nvSpPr>
        <p:spPr bwMode="auto">
          <a:xfrm>
            <a:off x="453306" y="4757266"/>
            <a:ext cx="6191968"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IFXSHAPE"/>
          <p:cNvSpPr>
            <a:spLocks noGrp="1" noChangeArrowheads="1"/>
          </p:cNvSpPr>
          <p:nvPr>
            <p:ph type="hdr" sz="quarter"/>
          </p:nvPr>
        </p:nvSpPr>
        <p:spPr bwMode="auto">
          <a:xfrm>
            <a:off x="454025" y="295163"/>
            <a:ext cx="4422857" cy="41942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solidFill>
                  <a:schemeClr val="tx1"/>
                </a:solidFill>
                <a:latin typeface="Arial" panose="020B0604020202020204" pitchFamily="34" charset="0"/>
                <a:cs typeface="Arial" panose="020B0604020202020204" pitchFamily="34" charset="0"/>
              </a:defRPr>
            </a:lvl1pPr>
          </a:lstStyle>
          <a:p>
            <a:endParaRPr lang="en-US" dirty="0"/>
          </a:p>
        </p:txBody>
      </p:sp>
      <p:pic>
        <p:nvPicPr>
          <p:cNvPr id="32" name="IFXSHAPE"/>
          <p:cNvPicPr>
            <a:picLocks noChangeAspect="1" noChangeArrowheads="1"/>
          </p:cNvPicPr>
          <p:nvPr/>
        </p:nvPicPr>
        <p:blipFill>
          <a:blip r:embed="rId2" cstate="print"/>
          <a:srcRect/>
          <a:stretch>
            <a:fillRect/>
          </a:stretch>
        </p:blipFill>
        <p:spPr bwMode="auto">
          <a:xfrm>
            <a:off x="5657072" y="295163"/>
            <a:ext cx="880886" cy="419422"/>
          </a:xfrm>
          <a:prstGeom prst="rect">
            <a:avLst/>
          </a:prstGeom>
          <a:noFill/>
          <a:ln w="9525">
            <a:noFill/>
            <a:miter lim="800000"/>
            <a:headEnd/>
            <a:tailEnd/>
          </a:ln>
          <a:effectLst/>
        </p:spPr>
      </p:pic>
      <p:sp>
        <p:nvSpPr>
          <p:cNvPr id="10" name="IFXSHAPE"/>
          <p:cNvSpPr>
            <a:spLocks noGrp="1"/>
          </p:cNvSpPr>
          <p:nvPr>
            <p:ph type="ftr" sz="quarter" idx="4"/>
          </p:nvPr>
        </p:nvSpPr>
        <p:spPr>
          <a:xfrm>
            <a:off x="1317625" y="9940925"/>
            <a:ext cx="4824411" cy="144933"/>
          </a:xfrm>
          <a:prstGeom prst="rect">
            <a:avLst/>
          </a:prstGeom>
        </p:spPr>
        <p:txBody>
          <a:bodyPr vert="horz" lIns="91440" tIns="45720" rIns="91440" bIns="45720" rtlCol="0" anchor="ctr"/>
          <a:lstStyle>
            <a:lvl1pPr algn="ctr">
              <a:defRPr sz="800">
                <a:latin typeface="Verdana" pitchFamily="34" charset="0"/>
                <a:ea typeface="Verdana" pitchFamily="34" charset="0"/>
                <a:cs typeface="Verdana" pitchFamily="34" charset="0"/>
              </a:defRPr>
            </a:lvl1p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11" name="IFXSHAPE"/>
          <p:cNvSpPr>
            <a:spLocks noGrp="1"/>
          </p:cNvSpPr>
          <p:nvPr>
            <p:ph type="dt" idx="1"/>
          </p:nvPr>
        </p:nvSpPr>
        <p:spPr>
          <a:xfrm>
            <a:off x="453306" y="9940925"/>
            <a:ext cx="864320" cy="144933"/>
          </a:xfrm>
          <a:prstGeom prst="rect">
            <a:avLst/>
          </a:prstGeom>
        </p:spPr>
        <p:txBody>
          <a:bodyPr vert="horz" lIns="91440" tIns="45720" rIns="91440" bIns="45720" rtlCol="0" anchor="ctr"/>
          <a:lstStyle>
            <a:lvl1pPr algn="l">
              <a:defRPr sz="800">
                <a:latin typeface="Arial" panose="020B0604020202020204" pitchFamily="34" charset="0"/>
                <a:ea typeface="Verdana" pitchFamily="34" charset="0"/>
                <a:cs typeface="Arial" panose="020B0604020202020204" pitchFamily="34" charset="0"/>
              </a:defRPr>
            </a:lvl1pPr>
          </a:lstStyle>
          <a:p>
            <a:r>
              <a:rPr lang="en-US"/>
              <a:t>2020-12-16</a:t>
            </a:r>
          </a:p>
          <a:p>
            <a:endParaRPr lang="en-US"/>
          </a:p>
        </p:txBody>
      </p:sp>
      <p:sp>
        <p:nvSpPr>
          <p:cNvPr id="12" name="IFXSHAPE"/>
          <p:cNvSpPr>
            <a:spLocks noGrp="1"/>
          </p:cNvSpPr>
          <p:nvPr>
            <p:ph type="sldNum" sz="quarter" idx="5"/>
          </p:nvPr>
        </p:nvSpPr>
        <p:spPr>
          <a:xfrm>
            <a:off x="6142037" y="9940925"/>
            <a:ext cx="503237" cy="144933"/>
          </a:xfrm>
          <a:prstGeom prst="rect">
            <a:avLst/>
          </a:prstGeom>
        </p:spPr>
        <p:txBody>
          <a:bodyPr vert="horz" lIns="91440" tIns="45720" rIns="91440" bIns="45720" rtlCol="0" anchor="ctr"/>
          <a:lstStyle>
            <a:lvl1pPr algn="r">
              <a:defRPr sz="800">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6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a:t>
            </a:r>
            <a:r>
              <a:rPr lang="en-US" dirty="0"/>
              <a:t>Security Introduction Training on PSOC Control C3</a:t>
            </a:r>
            <a:r>
              <a:rPr dirty="0"/>
              <a:t>. </a:t>
            </a:r>
            <a:endParaRPr lang="en-US" dirty="0"/>
          </a:p>
          <a:p>
            <a:endParaRPr lang="en-US" dirty="0"/>
          </a:p>
          <a:p>
            <a:r>
              <a:rPr lang="en-US" dirty="0"/>
              <a:t>This session is the entry point to PSOC™ C3 security. Everything that follows in later trainings — firmware update, memory isolation, debug authentication — depends on the device being in the right lifecycle state with the right policy provisioned. </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cover three topics, and they build on each other in order.</a:t>
            </a:r>
          </a:p>
          <a:p>
            <a:endParaRPr lang="en-US"/>
          </a:p>
          <a:p>
            <a:r>
              <a:rPr lang="en-US"/>
              <a:t>First, Device Lifecycle Stages. You need to understand the LCS model before anything else, because it governs what operations are even legal to perform on a device at any given moment.</a:t>
            </a:r>
          </a:p>
          <a:p>
            <a:endParaRPr lang="en-US"/>
          </a:p>
          <a:p>
            <a:r>
              <a:rPr lang="en-US"/>
              <a:t>Second, Ownership Transfer and Provisioning. This is where we actually do something to the device — install your keys, commit your policy, and extend trust from Infineon to your organization. By the end of this block you will have a provisioned device that BootROM considers yours.</a:t>
            </a:r>
          </a:p>
          <a:p>
            <a:endParaRPr lang="en-US"/>
          </a:p>
          <a:p>
            <a:r>
              <a:rPr lang="en-US"/>
              <a:t>Third, Secure Boot. With ownership transferred and your public key in SFlash, we configure BootROM to authenticate every image before executing it. This closes the loop: a device that boots only what you signed.</a:t>
            </a:r>
          </a:p>
          <a:p>
            <a:endParaRPr lang="en-IN"/>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2020-12-16</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5087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2020-12-16</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928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devices we are working with are not isolated lab components. They end up in motor drives, power converters, and industrial systems — controlling real physical processes. That changes the threat profile significantly compared to a general-purpose application processor.</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attacks we need to think about fall into a few categories. Software attacks target the firmware update path or debug interfaces — an attacker who can push arbitrary firmware owns the device. Physical attacks — voltage glitching and clock manipulation — try to skip security checks at the silicon level. Supply chain attacks involve counterfeit devices or stolen firmware being loaded onto unauthorized hardware. And lifecycle attacks exploit a device that ends up in the wrong hands at the wrong stage</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answer to all of these is the same: security has to be built into the silicon from the start. It cannot be added in software later. This is exactly what PSOC™ C3 addresses, and it is why the device holds PSA L3 certification.</a:t>
            </a:r>
          </a:p>
          <a:p>
            <a:br>
              <a:rPr lang="en-US" dirty="0"/>
            </a:b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3956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FXSHAPE"/>
          <p:cNvSpPr>
            <a:spLocks noGrp="1" noRot="1" noChangeAspect="1"/>
          </p:cNvSpPr>
          <p:nvPr>
            <p:ph type="sldImg"/>
          </p:nvPr>
        </p:nvSpPr>
        <p:spPr>
          <a:xfrm>
            <a:off x="454025" y="1012825"/>
            <a:ext cx="6191250" cy="3482975"/>
          </a:xfrm>
        </p:spPr>
        <p:txBody>
          <a:bodyPr/>
          <a:lstStyle/>
          <a:p>
            <a:endParaRPr lang="en-IN"/>
          </a:p>
        </p:txBody>
      </p:sp>
      <p:sp>
        <p:nvSpPr>
          <p:cNvPr id="8" name="IFXSHAPE"/>
          <p:cNvSpPr>
            <a:spLocks noGrp="1"/>
          </p:cNvSpPr>
          <p:nvPr>
            <p:ph type="body" idx="3"/>
          </p:nvPr>
        </p:nvSpPr>
        <p:spPr>
          <a:xfrm>
            <a:off x="453306" y="4708042"/>
            <a:ext cx="6191968" cy="4832456"/>
          </a:xfrm>
        </p:spPr>
        <p:txBody>
          <a:bodyPr/>
          <a:lstStyle/>
          <a:p>
            <a:endParaRPr lang="en-IN" dirty="0">
              <a:solidFill>
                <a:schemeClr val="tx1"/>
              </a:solidFill>
            </a:endParaRPr>
          </a:p>
        </p:txBody>
      </p:sp>
      <p:sp>
        <p:nvSpPr>
          <p:cNvPr id="9" name="IFXSHAPE"/>
          <p:cNvSpPr>
            <a:spLocks noGrp="1"/>
          </p:cNvSpPr>
          <p:nvPr>
            <p:ph type="hdr" sz="quarter"/>
          </p:nvPr>
        </p:nvSpPr>
        <p:spPr>
          <a:xfrm>
            <a:off x="454025" y="295163"/>
            <a:ext cx="4422857" cy="419422"/>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0" name="IFXSHAPE"/>
          <p:cNvSpPr>
            <a:spLocks noGrp="1"/>
          </p:cNvSpPr>
          <p:nvPr>
            <p:ph type="ftr" sz="quarter" idx="4"/>
          </p:nvPr>
        </p:nvSpPr>
        <p:spPr>
          <a:xfrm>
            <a:off x="1317625" y="9940925"/>
            <a:ext cx="4824411" cy="144933"/>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Arial" panose="020B0604020202020204" pitchFamily="34" charset="0"/>
                <a:ea typeface="Verdana" pitchFamily="34" charset="0"/>
                <a:cs typeface="Arial" panose="020B0604020202020204" pitchFamily="34" charset="0"/>
              </a:rPr>
              <a:t>restricted</a:t>
            </a:r>
            <a:endParaRPr kumimoji="0" lang="en-IN" sz="1400" b="1" i="0" u="none" strike="noStrike" kern="1200" cap="none" spc="0" normalizeH="0" baseline="0" noProof="0" dirty="0">
              <a:ln>
                <a:noFill/>
              </a:ln>
              <a:solidFill>
                <a:srgbClr val="E30034"/>
              </a:solidFill>
              <a:effectLst/>
              <a:uLnTx/>
              <a:uFillTx/>
              <a:latin typeface="Arial" panose="020B0604020202020204" pitchFamily="34" charset="0"/>
              <a:ea typeface="Verdana" pitchFamily="34" charset="0"/>
              <a:cs typeface="Arial" panose="020B0604020202020204" pitchFamily="34" charset="0"/>
            </a:endParaRPr>
          </a:p>
        </p:txBody>
      </p:sp>
      <p:sp>
        <p:nvSpPr>
          <p:cNvPr id="11" name="IFXSHAPE"/>
          <p:cNvSpPr>
            <a:spLocks noGrp="1"/>
          </p:cNvSpPr>
          <p:nvPr>
            <p:ph type="dt" idx="1"/>
          </p:nvPr>
        </p:nvSpPr>
        <p:spPr>
          <a:xfrm>
            <a:off x="453306" y="9940925"/>
            <a:ext cx="864320" cy="144933"/>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Arial" charset="0"/>
                <a:ea typeface="Verdana" pitchFamily="34" charset="0"/>
                <a:cs typeface="+mn-cs"/>
              </a:rPr>
              <a:t>2020-09-29</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rial" charset="0"/>
              <a:ea typeface="Verdana" pitchFamily="34" charset="0"/>
              <a:cs typeface="+mn-cs"/>
            </a:endParaRPr>
          </a:p>
        </p:txBody>
      </p:sp>
      <p:sp>
        <p:nvSpPr>
          <p:cNvPr id="12" name="IFXSHAPE"/>
          <p:cNvSpPr>
            <a:spLocks noGrp="1"/>
          </p:cNvSpPr>
          <p:nvPr>
            <p:ph type="sldNum" sz="quarter" idx="5"/>
          </p:nvPr>
        </p:nvSpPr>
        <p:spPr>
          <a:xfrm>
            <a:off x="6142037" y="9940925"/>
            <a:ext cx="503237" cy="144933"/>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IN" sz="1400" b="0" i="0" u="none" strike="noStrike" kern="1200" cap="none" spc="0" normalizeH="0" baseline="0" noProof="0" smtClean="0">
                <a:ln>
                  <a:noFill/>
                </a:ln>
                <a:solidFill>
                  <a:prstClr val="black"/>
                </a:solidFill>
                <a:effectLst/>
                <a:uLnTx/>
                <a:uFillTx/>
                <a:latin typeface="Arial" panose="020B0604020202020204" pitchFamily="34" charset="0"/>
                <a:ea typeface="Verdana" pitchFamily="34" charset="0"/>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5</a:t>
            </a:fld>
            <a:endParaRPr kumimoji="0" lang="en-IN" sz="1400" b="0" i="0" u="none" strike="noStrike" kern="1200" cap="none" spc="0" normalizeH="0" baseline="0" noProof="0">
              <a:ln>
                <a:noFill/>
              </a:ln>
              <a:solidFill>
                <a:prstClr val="black"/>
              </a:solidFill>
              <a:effectLst/>
              <a:uLnTx/>
              <a:uFillTx/>
              <a:latin typeface="Arial" panose="020B0604020202020204" pitchFamily="34" charset="0"/>
              <a:ea typeface="Verdana"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127634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2020-12-16</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7718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Development LCS is your working environment. The device arrives from Infineon with a default policy already installed: all debug ports open, secure boot is not enforced, meaning </a:t>
            </a:r>
            <a:r>
              <a:rPr lang="en-US" dirty="0" err="1"/>
              <a:t>BootROM</a:t>
            </a:r>
            <a:r>
              <a:rPr lang="en-US" dirty="0"/>
              <a:t> runs whatever image you program without any signature check. This is intentional — you should not need cryptographic infrastructure just to bring up hardware or test other capabilities of the device like motor control, power conversion </a:t>
            </a:r>
            <a:r>
              <a:rPr lang="en-US" dirty="0" err="1"/>
              <a:t>etc</a:t>
            </a:r>
            <a:endParaRPr lang="en-US" dirty="0"/>
          </a:p>
          <a:p>
            <a:endParaRPr lang="en-US" dirty="0"/>
          </a:p>
          <a:p>
            <a:r>
              <a:rPr lang="en-US" dirty="0"/>
              <a:t>When you install your OEM keys and a custom policy using a development certificate, the LCS does not advance. You can redo this operation as many times as you need — different keys, different policy, different boot mode. The three things that define this stage: debug is fully open, policy is writable, and </a:t>
            </a:r>
            <a:r>
              <a:rPr lang="en-US" dirty="0" err="1"/>
              <a:t>BootROM</a:t>
            </a:r>
            <a:r>
              <a:rPr lang="en-US" dirty="0"/>
              <a:t> does not verify application signatures.</a:t>
            </a:r>
          </a:p>
          <a:p>
            <a:endParaRPr lang="en-US" dirty="0"/>
          </a:p>
          <a:p>
            <a:r>
              <a:rPr lang="en-US" dirty="0"/>
              <a:t>Critically, you can fully simulate a near-production security posture without ever leaving Development LCS. Enable secure boot, sign your image with your OEM private key, provision with a development certificate, and boot. </a:t>
            </a:r>
            <a:r>
              <a:rPr lang="en-US" dirty="0" err="1"/>
              <a:t>BootROM</a:t>
            </a:r>
            <a:r>
              <a:rPr lang="en-US" dirty="0"/>
              <a:t> will enforce signature verification exactly as it will in production. This lets you validate that your keys are correct, your policy is right, and your signing pipeline works — before making any irreversible decisions. If something is wrong, you re-provision and fix it.</a:t>
            </a:r>
          </a:p>
          <a:p>
            <a:endParaRPr lang="en-US" dirty="0"/>
          </a:p>
          <a:p>
            <a:r>
              <a:rPr lang="en-US" dirty="0"/>
              <a:t>Only once you have validated all of that do you request a production certificate and make the transition. That transition is irreversible — one device, one chance. The development LCS is your safety net.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Production LCS is your deployment environment</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You enter Production LCS by provisioning with a production certificate obtained from Infineon EPSS. The moment that operation completes, the transition is recorded in </a:t>
            </a:r>
            <a:r>
              <a:rPr lang="en-US" sz="1600" b="0" i="0" kern="1200" dirty="0" err="1">
                <a:solidFill>
                  <a:schemeClr val="tx1"/>
                </a:solidFill>
                <a:effectLst/>
                <a:latin typeface="Arial" panose="020B0604020202020204" pitchFamily="34" charset="0"/>
                <a:ea typeface="+mn-ea"/>
                <a:cs typeface="Arial" panose="020B0604020202020204" pitchFamily="34" charset="0"/>
              </a:rPr>
              <a:t>eFuse</a:t>
            </a:r>
            <a:r>
              <a:rPr lang="en-US" sz="1600" b="0" i="0" kern="1200" dirty="0">
                <a:solidFill>
                  <a:schemeClr val="tx1"/>
                </a:solidFill>
                <a:effectLst/>
                <a:latin typeface="Arial" panose="020B0604020202020204" pitchFamily="34" charset="0"/>
                <a:ea typeface="+mn-ea"/>
                <a:cs typeface="Arial" panose="020B0604020202020204" pitchFamily="34" charset="0"/>
              </a:rPr>
              <a:t> — it cannot be undone. Do not do this until you have fully validated your policy and keys in Development LCS.</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Once here, the device is in a committed state. Your OEM root keys in </a:t>
            </a:r>
            <a:r>
              <a:rPr lang="en-US" sz="1600" b="0" i="0" kern="1200" dirty="0" err="1">
                <a:solidFill>
                  <a:schemeClr val="tx1"/>
                </a:solidFill>
                <a:effectLst/>
                <a:latin typeface="Arial" panose="020B0604020202020204" pitchFamily="34" charset="0"/>
                <a:ea typeface="+mn-ea"/>
                <a:cs typeface="Arial" panose="020B0604020202020204" pitchFamily="34" charset="0"/>
              </a:rPr>
              <a:t>SFlash</a:t>
            </a:r>
            <a:r>
              <a:rPr lang="en-US" sz="1600" b="0" i="0" kern="1200" dirty="0">
                <a:solidFill>
                  <a:schemeClr val="tx1"/>
                </a:solidFill>
                <a:effectLst/>
                <a:latin typeface="Arial" panose="020B0604020202020204" pitchFamily="34" charset="0"/>
                <a:ea typeface="+mn-ea"/>
                <a:cs typeface="Arial" panose="020B0604020202020204" pitchFamily="34" charset="0"/>
              </a:rPr>
              <a:t> are finalized. All the policy fields are still configurable. And when you eventually set </a:t>
            </a:r>
            <a:r>
              <a:rPr lang="en-US" dirty="0" err="1"/>
              <a:t>prov_oem_complete</a:t>
            </a:r>
            <a:r>
              <a:rPr lang="en-US" dirty="0"/>
              <a:t> = true</a:t>
            </a:r>
            <a:r>
              <a:rPr lang="en-US" sz="1600" b="0" i="0" kern="1200" dirty="0">
                <a:solidFill>
                  <a:schemeClr val="tx1"/>
                </a:solidFill>
                <a:effectLst/>
                <a:latin typeface="Arial" panose="020B0604020202020204" pitchFamily="34" charset="0"/>
                <a:ea typeface="+mn-ea"/>
                <a:cs typeface="Arial" panose="020B0604020202020204" pitchFamily="34" charset="0"/>
              </a:rPr>
              <a:t> and run provisioning again, every </a:t>
            </a:r>
            <a:r>
              <a:rPr lang="en-US" sz="1600" b="0" i="0" kern="1200" dirty="0" err="1">
                <a:solidFill>
                  <a:schemeClr val="tx1"/>
                </a:solidFill>
                <a:effectLst/>
                <a:latin typeface="Arial" panose="020B0604020202020204" pitchFamily="34" charset="0"/>
                <a:ea typeface="+mn-ea"/>
                <a:cs typeface="Arial" panose="020B0604020202020204" pitchFamily="34" charset="0"/>
              </a:rPr>
              <a:t>SFlash</a:t>
            </a:r>
            <a:r>
              <a:rPr lang="en-US" sz="1600" b="0" i="0" kern="1200" dirty="0">
                <a:solidFill>
                  <a:schemeClr val="tx1"/>
                </a:solidFill>
                <a:effectLst/>
                <a:latin typeface="Arial" panose="020B0604020202020204" pitchFamily="34" charset="0"/>
                <a:ea typeface="+mn-ea"/>
                <a:cs typeface="Arial" panose="020B0604020202020204" pitchFamily="34" charset="0"/>
              </a:rPr>
              <a:t> asset locks permanently — that flag itself is irreversible, so it should be the last provisioning operation you perform on a device.</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Some things remain possible. Key rotation is available once: you can retire OEM_ROT_KEY_0 and promote OEM_ROT_KEY_1 as the new root — but this is also a one-way operation. Plan your key hierarchy before you ever enter production.</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Debug in Production LCS is controlled by </a:t>
            </a:r>
            <a:r>
              <a:rPr lang="en-US" dirty="0"/>
              <a:t>ap_cm33</a:t>
            </a:r>
            <a:r>
              <a:rPr lang="en-US" sz="1600" b="0" i="0" kern="1200" dirty="0">
                <a:solidFill>
                  <a:schemeClr val="tx1"/>
                </a:solidFill>
                <a:effectLst/>
                <a:latin typeface="Arial" panose="020B0604020202020204" pitchFamily="34" charset="0"/>
                <a:ea typeface="+mn-ea"/>
                <a:cs typeface="Arial" panose="020B0604020202020204" pitchFamily="34" charset="0"/>
              </a:rPr>
              <a:t>. If you need to debug a field-returned device, you do it through an authenticated debug token signed with your OEM debug private key —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validates the token and temporarily re-enables the access port. No token, no access. </a:t>
            </a:r>
            <a:r>
              <a:rPr lang="en-US" sz="1600" b="1" i="0" kern="1200" dirty="0">
                <a:solidFill>
                  <a:schemeClr val="tx1"/>
                </a:solidFill>
                <a:effectLst/>
                <a:latin typeface="Arial" panose="020B0604020202020204" pitchFamily="34" charset="0"/>
                <a:ea typeface="+mn-ea"/>
                <a:cs typeface="Arial" panose="020B0604020202020204" pitchFamily="34" charset="0"/>
              </a:rPr>
              <a:t>Permanently Disable</a:t>
            </a:r>
            <a:r>
              <a:rPr lang="en-US" sz="1600" b="0" i="0" kern="1200" dirty="0">
                <a:solidFill>
                  <a:schemeClr val="tx1"/>
                </a:solidFill>
                <a:effectLst/>
                <a:latin typeface="Arial" panose="020B0604020202020204" pitchFamily="34" charset="0"/>
                <a:ea typeface="+mn-ea"/>
                <a:cs typeface="Arial" panose="020B0604020202020204" pitchFamily="34" charset="0"/>
              </a:rPr>
              <a:t> is exactly what it says — it writes to </a:t>
            </a:r>
            <a:r>
              <a:rPr lang="en-US" sz="1600" b="0" i="0" kern="1200" dirty="0" err="1">
                <a:solidFill>
                  <a:schemeClr val="tx1"/>
                </a:solidFill>
                <a:effectLst/>
                <a:latin typeface="Arial" panose="020B0604020202020204" pitchFamily="34" charset="0"/>
                <a:ea typeface="+mn-ea"/>
                <a:cs typeface="Arial" panose="020B0604020202020204" pitchFamily="34" charset="0"/>
              </a:rPr>
              <a:t>eFuse</a:t>
            </a:r>
            <a:r>
              <a:rPr lang="en-US" sz="1600" b="0" i="0" kern="1200" dirty="0">
                <a:solidFill>
                  <a:schemeClr val="tx1"/>
                </a:solidFill>
                <a:effectLst/>
                <a:latin typeface="Arial" panose="020B0604020202020204" pitchFamily="34" charset="0"/>
                <a:ea typeface="+mn-ea"/>
                <a:cs typeface="Arial" panose="020B0604020202020204" pitchFamily="34" charset="0"/>
              </a:rPr>
              <a:t> and cannot be reversed. Only use that if your threat model specifically requires it and you are certain you will never need in-circuit debug again.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RMA is the final LCS. You will rarely encounter it in normal development, but you should know what it is and what it does.</a:t>
            </a:r>
          </a:p>
          <a:p>
            <a:endParaRPr lang="en-US" dirty="0"/>
          </a:p>
          <a:p>
            <a:r>
              <a:rPr lang="en-US" dirty="0"/>
              <a:t>Its sole purpose is to allow Infineon to perform failure analysis on a device that has exhibited a suspected silicon defect. It is not a recovery mechanism — you cannot use it to reset a misconfigured device or recover a locked one.</a:t>
            </a:r>
          </a:p>
          <a:p>
            <a:endParaRPr lang="en-US" dirty="0"/>
          </a:p>
          <a:p>
            <a:r>
              <a:rPr lang="en-US" dirty="0"/>
              <a:t>Before initiating the transition, always run integrity-exam. This command captures a status report of the device's current state. Infineon can use that report during analysis, so running it beforehand gives them the most useful starting point.</a:t>
            </a:r>
          </a:p>
          <a:p>
            <a:endParaRPr lang="en-US" dirty="0"/>
          </a:p>
          <a:p>
            <a:r>
              <a:rPr lang="en-US" dirty="0"/>
              <a:t>The transition itself uses the transit-to-</a:t>
            </a:r>
            <a:r>
              <a:rPr lang="en-US" dirty="0" err="1"/>
              <a:t>rma</a:t>
            </a:r>
            <a:r>
              <a:rPr lang="en-US" dirty="0"/>
              <a:t> command, which requires a valid RMA token — signed by OEM-ROT-KEY. When executed, it erases all OEM assets from the device: your keys, your policy, everything. From that point, Infineon uses its RMA master key to access the device for analysis. There is no way back from this state.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Provisioning is the mechanism by which the OEM installs its identity (keys + policy) into the device.</a:t>
            </a:r>
          </a:p>
          <a:p>
            <a:endParaRPr lang="en-IN"/>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2020-12-16</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8206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Before we walk through the provisioning or ownership transfer steps, let's establish the tool we will be using for it — Edge Protect Tools, or EPT.</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EPT is the command-line interface for all security-related operations on the device. Every operation we cover in the next slides — generating keys, creating a CSR, provisioning the device, signing images — is done through EPT commands.</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It is Python-based, which means it is cross-platform and scriptable. Under the hood it uses third-party Python modules for JSON policy file handling, ELF object file processing, and cryptographic operations. You do not need to interact with any of that directly — the CLI abstracts it.</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For device communication, EPT uses two different tools depending on the interface. For SWD it drives </a:t>
            </a:r>
            <a:r>
              <a:rPr lang="en-US" sz="1600" b="0" i="0" kern="1200" dirty="0" err="1">
                <a:solidFill>
                  <a:schemeClr val="tx1"/>
                </a:solidFill>
                <a:effectLst/>
                <a:latin typeface="Arial" panose="020B0604020202020204" pitchFamily="34" charset="0"/>
                <a:ea typeface="+mn-ea"/>
                <a:cs typeface="Arial" panose="020B0604020202020204" pitchFamily="34" charset="0"/>
              </a:rPr>
              <a:t>OpenOCD</a:t>
            </a:r>
            <a:r>
              <a:rPr lang="en-US" sz="1600" b="0" i="0" kern="1200" dirty="0">
                <a:solidFill>
                  <a:schemeClr val="tx1"/>
                </a:solidFill>
                <a:effectLst/>
                <a:latin typeface="Arial" panose="020B0604020202020204" pitchFamily="34" charset="0"/>
                <a:ea typeface="+mn-ea"/>
                <a:cs typeface="Arial" panose="020B0604020202020204" pitchFamily="34" charset="0"/>
              </a:rPr>
              <a:t>, which is the standard path for provisioning during development. For serial interfaces — UART, I2C, SPI — it uses the DFU Host Tool, which is used for factory loading and field updates without a debug probe.</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You can run EPT from any shell, but Infineon recommends Modus-Shell, which ships with ModusToolbox.</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36ECF-CCB2-12BB-E05D-9BB516A8808D}"/>
            </a:ext>
          </a:extLst>
        </p:cNvPr>
        <p:cNvGrpSpPr/>
        <p:nvPr/>
      </p:nvGrpSpPr>
      <p:grpSpPr>
        <a:xfrm>
          <a:off x="0" y="0"/>
          <a:ext cx="0" cy="0"/>
          <a:chOff x="0" y="0"/>
          <a:chExt cx="0" cy="0"/>
        </a:xfrm>
      </p:grpSpPr>
      <p:sp>
        <p:nvSpPr>
          <p:cNvPr id="2" name="IFXSHAPE">
            <a:extLst>
              <a:ext uri="{FF2B5EF4-FFF2-40B4-BE49-F238E27FC236}">
                <a16:creationId xmlns:a16="http://schemas.microsoft.com/office/drawing/2014/main" id="{3E7FF46E-21A1-6F61-BE56-CD7956F6962C}"/>
              </a:ext>
            </a:extLst>
          </p:cNvPr>
          <p:cNvSpPr>
            <a:spLocks noGrp="1" noRot="1" noChangeAspect="1"/>
          </p:cNvSpPr>
          <p:nvPr>
            <p:ph type="sldImg"/>
          </p:nvPr>
        </p:nvSpPr>
        <p:spPr>
          <a:xfrm>
            <a:off x="454025" y="1012825"/>
            <a:ext cx="6191250" cy="3482975"/>
          </a:xfrm>
        </p:spPr>
      </p:sp>
      <p:sp>
        <p:nvSpPr>
          <p:cNvPr id="8" name="IFXSHAPE">
            <a:extLst>
              <a:ext uri="{FF2B5EF4-FFF2-40B4-BE49-F238E27FC236}">
                <a16:creationId xmlns:a16="http://schemas.microsoft.com/office/drawing/2014/main" id="{C304B0C3-C872-83C3-CC53-8B83F92E1D0C}"/>
              </a:ext>
            </a:extLst>
          </p:cNvPr>
          <p:cNvSpPr>
            <a:spLocks noGrp="1"/>
          </p:cNvSpPr>
          <p:nvPr>
            <p:ph type="body" idx="3"/>
          </p:nvPr>
        </p:nvSpPr>
        <p:spPr>
          <a:xfrm>
            <a:off x="453306" y="4708042"/>
            <a:ext cx="6191968" cy="4832456"/>
          </a:xfrm>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For ownership transfer or provisioning we need a certificate, the certificate type you use determines what happens to the device LCS during provisioning. This is one of the most important decisions in the provisioning workflow.</a:t>
            </a:r>
          </a:p>
          <a:p>
            <a:endParaRPr lang="en-US" dirty="0"/>
          </a:p>
          <a:p>
            <a:r>
              <a:rPr lang="en-US" dirty="0"/>
              <a:t>DEVELOPMENT certificate: use for everything during development. The device stays in Development LCS. Your keys are not fixed; you can undo mistakes with a different certificate. You can fully test secure boot, debug lockdown, and all other security features with a development certificate — you do not need a production certificate to test security.</a:t>
            </a:r>
          </a:p>
          <a:p>
            <a:endParaRPr lang="en-US" dirty="0"/>
          </a:p>
          <a:p>
            <a:r>
              <a:rPr lang="en-US" dirty="0"/>
              <a:t>PRODUCTION certificate: use only once per device, only when preparing for actual production. This is a one-way gate. If you provision with a production certificate and something is wrong with your keys, you have no room to recover. </a:t>
            </a:r>
            <a:r>
              <a:rPr lang="en-US" sz="1600" b="0" i="0" kern="1200" dirty="0">
                <a:solidFill>
                  <a:schemeClr val="tx1"/>
                </a:solidFill>
                <a:effectLst/>
                <a:latin typeface="Arial" panose="020B0604020202020204" pitchFamily="34" charset="0"/>
                <a:ea typeface="+mn-ea"/>
                <a:cs typeface="Arial" panose="020B0604020202020204" pitchFamily="34" charset="0"/>
              </a:rPr>
              <a:t>Key rotation to KEY_1 is still possible, but you cannot replace KEY_0 with an entirely new key.</a:t>
            </a:r>
            <a:endParaRPr lang="en-US" dirty="0"/>
          </a:p>
          <a:p>
            <a:endParaRPr lang="en-US" dirty="0"/>
          </a:p>
          <a:p>
            <a:r>
              <a:rPr lang="en-US" dirty="0"/>
              <a:t>Both certificates are obtained by providing </a:t>
            </a:r>
            <a:r>
              <a:rPr lang="en-US" dirty="0" err="1"/>
              <a:t>oem-csr</a:t>
            </a:r>
            <a:r>
              <a:rPr lang="en-US" dirty="0"/>
              <a:t> to IFX EPSS portal. The cert-type flag in the </a:t>
            </a:r>
            <a:r>
              <a:rPr lang="en-US" dirty="0" err="1"/>
              <a:t>oem-csr</a:t>
            </a:r>
            <a:r>
              <a:rPr lang="en-US" dirty="0"/>
              <a:t> is the only thing that differs between creating a development and production certificate.</a:t>
            </a:r>
          </a:p>
        </p:txBody>
      </p:sp>
      <p:sp>
        <p:nvSpPr>
          <p:cNvPr id="9" name="IFXSHAPE">
            <a:extLst>
              <a:ext uri="{FF2B5EF4-FFF2-40B4-BE49-F238E27FC236}">
                <a16:creationId xmlns:a16="http://schemas.microsoft.com/office/drawing/2014/main" id="{CC519373-D25C-3FD0-DC60-E69CACB0E52D}"/>
              </a:ext>
            </a:extLst>
          </p:cNvPr>
          <p:cNvSpPr>
            <a:spLocks noGrp="1"/>
          </p:cNvSpPr>
          <p:nvPr>
            <p:ph type="hdr" sz="quarter"/>
          </p:nvPr>
        </p:nvSpPr>
        <p:spPr>
          <a:xfrm>
            <a:off x="454025" y="295163"/>
            <a:ext cx="4422857" cy="419422"/>
          </a:xfrm>
        </p:spPr>
        <p:txBody>
          <a:bodyPr/>
          <a:lstStyle/>
          <a:p>
            <a:endParaRPr lang="en-IN" dirty="0"/>
          </a:p>
        </p:txBody>
      </p:sp>
      <p:sp>
        <p:nvSpPr>
          <p:cNvPr id="10" name="IFXSHAPE">
            <a:extLst>
              <a:ext uri="{FF2B5EF4-FFF2-40B4-BE49-F238E27FC236}">
                <a16:creationId xmlns:a16="http://schemas.microsoft.com/office/drawing/2014/main" id="{6EC63F25-AB00-C992-4C1B-D097A155C5EA}"/>
              </a:ext>
            </a:extLst>
          </p:cNvPr>
          <p:cNvSpPr>
            <a:spLocks noGrp="1"/>
          </p:cNvSpPr>
          <p:nvPr>
            <p:ph type="ftr" sz="quarter" idx="4"/>
          </p:nvPr>
        </p:nvSpPr>
        <p:spPr>
          <a:xfrm>
            <a:off x="1317625" y="9940925"/>
            <a:ext cx="4824411" cy="144933"/>
          </a:xfrm>
        </p:spPr>
        <p:txBody>
          <a:bodyPr/>
          <a:lstStyle/>
          <a:p>
            <a:r>
              <a:rPr lang="en-IN">
                <a:latin typeface="Arial" panose="020B0604020202020204" pitchFamily="34" charset="0"/>
                <a:cs typeface="Arial" panose="020B0604020202020204" pitchFamily="34" charset="0"/>
              </a:rPr>
              <a:t>Copyright © Infineon Technologies AG 2020. All rights reserved.</a:t>
            </a:r>
          </a:p>
          <a:p>
            <a:r>
              <a:rPr lang="en-IN" b="1">
                <a:latin typeface="Arial" panose="020B0604020202020204" pitchFamily="34" charset="0"/>
                <a:cs typeface="Arial" panose="020B0604020202020204" pitchFamily="34" charset="0"/>
              </a:rPr>
              <a:t>restricted</a:t>
            </a:r>
            <a:endParaRPr lang="en-IN" b="1" dirty="0">
              <a:solidFill>
                <a:srgbClr val="E30034"/>
              </a:solidFill>
              <a:latin typeface="Arial" panose="020B0604020202020204" pitchFamily="34" charset="0"/>
              <a:cs typeface="Arial" panose="020B0604020202020204" pitchFamily="34" charset="0"/>
            </a:endParaRPr>
          </a:p>
        </p:txBody>
      </p:sp>
      <p:sp>
        <p:nvSpPr>
          <p:cNvPr id="11" name="IFXSHAPE">
            <a:extLst>
              <a:ext uri="{FF2B5EF4-FFF2-40B4-BE49-F238E27FC236}">
                <a16:creationId xmlns:a16="http://schemas.microsoft.com/office/drawing/2014/main" id="{346E2240-1626-861A-7D61-0D7DA3ADD3E6}"/>
              </a:ext>
            </a:extLst>
          </p:cNvPr>
          <p:cNvSpPr>
            <a:spLocks noGrp="1"/>
          </p:cNvSpPr>
          <p:nvPr>
            <p:ph type="dt" idx="1"/>
          </p:nvPr>
        </p:nvSpPr>
        <p:spPr>
          <a:xfrm>
            <a:off x="453306" y="9940925"/>
            <a:ext cx="864320" cy="144933"/>
          </a:xfrm>
        </p:spPr>
        <p:txBody>
          <a:bodyPr/>
          <a:lstStyle/>
          <a:p>
            <a:r>
              <a:rPr lang="en-IN"/>
              <a:t>2020-09-29</a:t>
            </a:r>
          </a:p>
          <a:p>
            <a:endParaRPr lang="en-IN" dirty="0"/>
          </a:p>
        </p:txBody>
      </p:sp>
      <p:sp>
        <p:nvSpPr>
          <p:cNvPr id="12" name="IFXSHAPE">
            <a:extLst>
              <a:ext uri="{FF2B5EF4-FFF2-40B4-BE49-F238E27FC236}">
                <a16:creationId xmlns:a16="http://schemas.microsoft.com/office/drawing/2014/main" id="{B0BA8A4A-0E75-E53E-857D-748F3B3C0089}"/>
              </a:ext>
            </a:extLst>
          </p:cNvPr>
          <p:cNvSpPr>
            <a:spLocks noGrp="1"/>
          </p:cNvSpPr>
          <p:nvPr>
            <p:ph type="sldNum" sz="quarter" idx="5"/>
          </p:nvPr>
        </p:nvSpPr>
        <p:spPr>
          <a:xfrm>
            <a:off x="6142037" y="9940925"/>
            <a:ext cx="503237" cy="144933"/>
          </a:xfrm>
        </p:spPr>
        <p:txBody>
          <a:bodyPr/>
          <a:lstStyle/>
          <a:p>
            <a:fld id="{4165D906-55BD-49C5-997D-27A40DB53D15}" type="slidenum">
              <a:rPr lang="en-IN" smtClean="0">
                <a:latin typeface="Arial" panose="020B0604020202020204" pitchFamily="34" charset="0"/>
                <a:cs typeface="Arial" panose="020B0604020202020204" pitchFamily="34" charset="0"/>
              </a:rPr>
              <a:pPr/>
              <a:t>13</a:t>
            </a:fld>
            <a:endParaRPr lang="en-IN">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806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This is the complete ownership transfer flow. Five steps, can be done multiple times during development, and for production, once per device.</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1" i="0" kern="1200" dirty="0">
                <a:solidFill>
                  <a:schemeClr val="tx1"/>
                </a:solidFill>
                <a:effectLst/>
                <a:latin typeface="Arial" panose="020B0604020202020204" pitchFamily="34" charset="0"/>
                <a:ea typeface="+mn-ea"/>
                <a:cs typeface="Arial" panose="020B0604020202020204" pitchFamily="34" charset="0"/>
              </a:rPr>
              <a:t>Step 1 — </a:t>
            </a:r>
            <a:r>
              <a:rPr lang="en-US" sz="1600" b="1" i="0" kern="1200" dirty="0" err="1">
                <a:solidFill>
                  <a:schemeClr val="tx1"/>
                </a:solidFill>
                <a:effectLst/>
                <a:latin typeface="Arial" panose="020B0604020202020204" pitchFamily="34" charset="0"/>
                <a:ea typeface="+mn-ea"/>
                <a:cs typeface="Arial" panose="020B0604020202020204" pitchFamily="34" charset="0"/>
              </a:rPr>
              <a:t>init</a:t>
            </a:r>
            <a:r>
              <a:rPr lang="en-US" sz="1600" b="0" i="0" kern="1200" dirty="0">
                <a:solidFill>
                  <a:schemeClr val="tx1"/>
                </a:solidFill>
                <a:effectLst/>
                <a:latin typeface="Arial" panose="020B0604020202020204" pitchFamily="34" charset="0"/>
                <a:ea typeface="+mn-ea"/>
                <a:cs typeface="Arial" panose="020B0604020202020204" pitchFamily="34" charset="0"/>
              </a:rPr>
              <a:t> creates your working folder structure: a keys/ directory, the policy template JSON, and the pre-signed Infineon DLM packages that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needs to execute the provisioning operation. Start here on every new project.</a:t>
            </a:r>
          </a:p>
          <a:p>
            <a:r>
              <a:rPr lang="en-US" sz="1600" b="1" i="0" kern="1200" dirty="0">
                <a:solidFill>
                  <a:schemeClr val="tx1"/>
                </a:solidFill>
                <a:effectLst/>
                <a:latin typeface="Arial" panose="020B0604020202020204" pitchFamily="34" charset="0"/>
                <a:ea typeface="+mn-ea"/>
                <a:cs typeface="Arial" panose="020B0604020202020204" pitchFamily="34" charset="0"/>
              </a:rPr>
              <a:t>Step 2 — create-key</a:t>
            </a:r>
            <a:r>
              <a:rPr lang="en-US" sz="1600" b="0" i="0" kern="1200" dirty="0">
                <a:solidFill>
                  <a:schemeClr val="tx1"/>
                </a:solidFill>
                <a:effectLst/>
                <a:latin typeface="Arial" panose="020B0604020202020204" pitchFamily="34" charset="0"/>
                <a:ea typeface="+mn-ea"/>
                <a:cs typeface="Arial" panose="020B0604020202020204" pitchFamily="34" charset="0"/>
              </a:rPr>
              <a:t> generates your OEM ROT key pair as PEM files. The public key goes into the certificate and eventually into </a:t>
            </a:r>
            <a:r>
              <a:rPr lang="en-US" sz="1600" b="0" i="0" kern="1200" dirty="0" err="1">
                <a:solidFill>
                  <a:schemeClr val="tx1"/>
                </a:solidFill>
                <a:effectLst/>
                <a:latin typeface="Arial" panose="020B0604020202020204" pitchFamily="34" charset="0"/>
                <a:ea typeface="+mn-ea"/>
                <a:cs typeface="Arial" panose="020B0604020202020204" pitchFamily="34" charset="0"/>
              </a:rPr>
              <a:t>SFlash</a:t>
            </a:r>
            <a:r>
              <a:rPr lang="en-US" sz="1600" b="0" i="0" kern="1200" dirty="0">
                <a:solidFill>
                  <a:schemeClr val="tx1"/>
                </a:solidFill>
                <a:effectLst/>
                <a:latin typeface="Arial" panose="020B0604020202020204" pitchFamily="34" charset="0"/>
                <a:ea typeface="+mn-ea"/>
                <a:cs typeface="Arial" panose="020B0604020202020204" pitchFamily="34" charset="0"/>
              </a:rPr>
              <a:t>. The private key must go directly into secure storage — HSM or air-gapped system. It should never sit on a developer workstation beyond the time needed to complete this flow.</a:t>
            </a:r>
          </a:p>
          <a:p>
            <a:r>
              <a:rPr lang="en-US" sz="1600" b="1" i="0" kern="1200" dirty="0">
                <a:solidFill>
                  <a:schemeClr val="tx1"/>
                </a:solidFill>
                <a:effectLst/>
                <a:latin typeface="Arial" panose="020B0604020202020204" pitchFamily="34" charset="0"/>
                <a:ea typeface="+mn-ea"/>
                <a:cs typeface="Arial" panose="020B0604020202020204" pitchFamily="34" charset="0"/>
              </a:rPr>
              <a:t>Step 3 — </a:t>
            </a:r>
            <a:r>
              <a:rPr lang="en-US" sz="1600" b="1" i="0" kern="1200" dirty="0" err="1">
                <a:solidFill>
                  <a:schemeClr val="tx1"/>
                </a:solidFill>
                <a:effectLst/>
                <a:latin typeface="Arial" panose="020B0604020202020204" pitchFamily="34" charset="0"/>
                <a:ea typeface="+mn-ea"/>
                <a:cs typeface="Arial" panose="020B0604020202020204" pitchFamily="34" charset="0"/>
              </a:rPr>
              <a:t>oem-csr</a:t>
            </a:r>
            <a:r>
              <a:rPr lang="en-US" sz="1600" b="0" i="0" kern="1200" dirty="0">
                <a:solidFill>
                  <a:schemeClr val="tx1"/>
                </a:solidFill>
                <a:effectLst/>
                <a:latin typeface="Arial" panose="020B0604020202020204" pitchFamily="34" charset="0"/>
                <a:ea typeface="+mn-ea"/>
                <a:cs typeface="Arial" panose="020B0604020202020204" pitchFamily="34" charset="0"/>
              </a:rPr>
              <a:t> creates the Certificate Signing Request. This is where the --cert-type flag matters — development or production. Everything else in the CSR is the same; the type determines what Infineon's EPSS system will issue back and what effect it will have on the device LCS.</a:t>
            </a:r>
          </a:p>
          <a:p>
            <a:r>
              <a:rPr lang="en-US" sz="1600" b="1" i="0" kern="1200" dirty="0">
                <a:solidFill>
                  <a:schemeClr val="tx1"/>
                </a:solidFill>
                <a:effectLst/>
                <a:latin typeface="Arial" panose="020B0604020202020204" pitchFamily="34" charset="0"/>
                <a:ea typeface="+mn-ea"/>
                <a:cs typeface="Arial" panose="020B0604020202020204" pitchFamily="34" charset="0"/>
              </a:rPr>
              <a:t>Step 4</a:t>
            </a:r>
            <a:r>
              <a:rPr lang="en-US" sz="1600" b="0" i="0" kern="1200" dirty="0">
                <a:solidFill>
                  <a:schemeClr val="tx1"/>
                </a:solidFill>
                <a:effectLst/>
                <a:latin typeface="Arial" panose="020B0604020202020204" pitchFamily="34" charset="0"/>
                <a:ea typeface="+mn-ea"/>
                <a:cs typeface="Arial" panose="020B0604020202020204" pitchFamily="34" charset="0"/>
              </a:rPr>
              <a:t> is the only step that happens outside your environment. You submit the CSR to Infineon EPSS and receive a signed certificate in return. </a:t>
            </a:r>
          </a:p>
          <a:p>
            <a:endParaRPr lang="en-US" dirty="0"/>
          </a:p>
          <a:p>
            <a:endParaRPr lang="en-IN" dirty="0"/>
          </a:p>
        </p:txBody>
      </p:sp>
      <p:sp>
        <p:nvSpPr>
          <p:cNvPr id="4" name="Header Placeholder 3"/>
          <p:cNvSpPr>
            <a:spLocks noGrp="1"/>
          </p:cNvSpPr>
          <p:nvPr>
            <p:ph type="hdr" sz="quarter"/>
          </p:nvPr>
        </p:nvSpPr>
        <p:spPr/>
        <p:txBody>
          <a:bodyPr/>
          <a:lstStyle/>
          <a:p>
            <a:endParaRPr lang="en-IN" dirty="0"/>
          </a:p>
        </p:txBody>
      </p:sp>
      <p:sp>
        <p:nvSpPr>
          <p:cNvPr id="5" name="Footer Placeholder 4"/>
          <p:cNvSpPr>
            <a:spLocks noGrp="1"/>
          </p:cNvSpPr>
          <p:nvPr>
            <p:ph type="ftr" sz="quarter" idx="4"/>
          </p:nvPr>
        </p:nvSpPr>
        <p:spPr/>
        <p:txBody>
          <a:bodyPr/>
          <a:lstStyle/>
          <a:p>
            <a:r>
              <a:rPr lang="en-IN">
                <a:latin typeface="Arial" panose="020B0604020202020204" pitchFamily="34" charset="0"/>
                <a:cs typeface="Arial" panose="020B0604020202020204" pitchFamily="34" charset="0"/>
              </a:rPr>
              <a:t>Copyright © Infineon Technologies AG 2020. All rights reserved.</a:t>
            </a:r>
          </a:p>
          <a:p>
            <a:r>
              <a:rPr lang="en-IN" b="1">
                <a:latin typeface="Arial" panose="020B0604020202020204" pitchFamily="34" charset="0"/>
                <a:cs typeface="Arial" panose="020B0604020202020204" pitchFamily="34" charset="0"/>
              </a:rPr>
              <a:t>restricted</a:t>
            </a:r>
            <a:endParaRPr lang="en-IN"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IN"/>
              <a:t>2020-12-16</a:t>
            </a:r>
          </a:p>
          <a:p>
            <a:endParaRPr lang="en-IN" dirty="0"/>
          </a:p>
        </p:txBody>
      </p:sp>
      <p:sp>
        <p:nvSpPr>
          <p:cNvPr id="7" name="Slide Number Placeholder 6"/>
          <p:cNvSpPr>
            <a:spLocks noGrp="1"/>
          </p:cNvSpPr>
          <p:nvPr>
            <p:ph type="sldNum" sz="quarter" idx="5"/>
          </p:nvPr>
        </p:nvSpPr>
        <p:spPr/>
        <p:txBody>
          <a:bodyPr/>
          <a:lstStyle/>
          <a:p>
            <a:fld id="{4165D906-55BD-49C5-997D-27A40DB53D15}" type="slidenum">
              <a:rPr lang="en-IN" smtClean="0">
                <a:latin typeface="Arial" panose="020B0604020202020204" pitchFamily="34" charset="0"/>
                <a:cs typeface="Arial" panose="020B0604020202020204" pitchFamily="34" charset="0"/>
              </a:rPr>
              <a:pPr/>
              <a:t>14</a:t>
            </a:fld>
            <a:endParaRPr lang="en-IN">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4133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600" b="1" i="0" kern="1200" dirty="0">
                <a:solidFill>
                  <a:schemeClr val="tx1"/>
                </a:solidFill>
                <a:effectLst/>
                <a:latin typeface="Arial" panose="020B0604020202020204" pitchFamily="34" charset="0"/>
                <a:ea typeface="+mn-ea"/>
                <a:cs typeface="Arial" panose="020B0604020202020204" pitchFamily="34" charset="0"/>
              </a:rPr>
              <a:t>provision-device</a:t>
            </a:r>
            <a:r>
              <a:rPr lang="en-US" sz="1600" b="0" i="0" kern="1200" dirty="0">
                <a:solidFill>
                  <a:schemeClr val="tx1"/>
                </a:solidFill>
                <a:effectLst/>
                <a:latin typeface="Arial" panose="020B0604020202020204" pitchFamily="34" charset="0"/>
                <a:ea typeface="+mn-ea"/>
                <a:cs typeface="Arial" panose="020B0604020202020204" pitchFamily="34" charset="0"/>
              </a:rPr>
              <a:t> does the actual work on the device. EPT assembles a DLM package containing your policy and certificate, downloads it to the device over SWD or UART, and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validates then launches the Infineon RAM application that writes your keys and policy to </a:t>
            </a:r>
            <a:r>
              <a:rPr lang="en-US" sz="1600" b="0" i="0" kern="1200" dirty="0" err="1">
                <a:solidFill>
                  <a:schemeClr val="tx1"/>
                </a:solidFill>
                <a:effectLst/>
                <a:latin typeface="Arial" panose="020B0604020202020204" pitchFamily="34" charset="0"/>
                <a:ea typeface="+mn-ea"/>
                <a:cs typeface="Arial" panose="020B0604020202020204" pitchFamily="34" charset="0"/>
              </a:rPr>
              <a:t>SFlash</a:t>
            </a:r>
            <a:r>
              <a:rPr lang="en-US" sz="1600" b="0" i="0" kern="1200" dirty="0">
                <a:solidFill>
                  <a:schemeClr val="tx1"/>
                </a:solidFill>
                <a:effectLst/>
                <a:latin typeface="Arial" panose="020B0604020202020204" pitchFamily="34" charset="0"/>
                <a:ea typeface="+mn-ea"/>
                <a:cs typeface="Arial" panose="020B0604020202020204" pitchFamily="34" charset="0"/>
              </a:rPr>
              <a:t>. </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06141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file is the central configuration artefact for device security. It is a JSON file generated automatically when you run </a:t>
            </a:r>
            <a:r>
              <a:rPr lang="en-US" dirty="0" err="1"/>
              <a:t>edgeprotecttools</a:t>
            </a:r>
            <a:r>
              <a:rPr lang="en-US" dirty="0"/>
              <a:t> </a:t>
            </a:r>
            <a:r>
              <a:rPr lang="en-US" dirty="0" err="1"/>
              <a:t>init</a:t>
            </a:r>
            <a:r>
              <a:rPr lang="en-US" dirty="0"/>
              <a:t> — it lands in the policy/ folder as </a:t>
            </a:r>
            <a:r>
              <a:rPr lang="en-US" dirty="0" err="1"/>
              <a:t>policy_oem_provisioning.json</a:t>
            </a:r>
            <a:r>
              <a:rPr lang="en-US" dirty="0"/>
              <a:t>. </a:t>
            </a:r>
          </a:p>
          <a:p>
            <a:endParaRPr lang="en-US" dirty="0"/>
          </a:p>
          <a:p>
            <a:r>
              <a:rPr lang="en-US" dirty="0"/>
              <a:t>During provisioning, the contents of this file are written to </a:t>
            </a:r>
            <a:r>
              <a:rPr lang="en-US" dirty="0" err="1"/>
              <a:t>SFlash</a:t>
            </a:r>
            <a:r>
              <a:rPr lang="en-US" dirty="0"/>
              <a:t>. From that point on, </a:t>
            </a:r>
            <a:r>
              <a:rPr lang="en-US" dirty="0" err="1"/>
              <a:t>BootROM</a:t>
            </a:r>
            <a:r>
              <a:rPr lang="en-US" dirty="0"/>
              <a:t> reads the policy at every power-on reset and configures itself accordingly. The policy is the authoritative source of truth at runtime — it governs everything from which boot mode is active to whether the debug port is open.</a:t>
            </a:r>
          </a:p>
          <a:p>
            <a:endParaRPr lang="en-US" dirty="0"/>
          </a:p>
          <a:p>
            <a:r>
              <a:rPr lang="en-US" dirty="0"/>
              <a:t>The key message for this slide is that there is no hardcoded device behavior. Everything in the table — boot mode, debug access, DFU availability, flash bank configuration — is a policy decision that you make and provision. A device with no policy provisioned has no security. A device with a well-crafted policy behaves exactly as you intend, and nothing outside that policy can change it.</a:t>
            </a:r>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2020-12-16</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16</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9323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2020-12-16</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17</a:t>
            </a:fld>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7064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These are the four policy fields that directly control secure boot </a:t>
            </a:r>
            <a:r>
              <a:rPr lang="en-US" sz="1600" b="0" i="0" kern="1200" dirty="0" err="1">
                <a:solidFill>
                  <a:schemeClr val="tx1"/>
                </a:solidFill>
                <a:effectLst/>
                <a:latin typeface="Arial" panose="020B0604020202020204" pitchFamily="34" charset="0"/>
                <a:ea typeface="+mn-ea"/>
                <a:cs typeface="Arial" panose="020B0604020202020204" pitchFamily="34" charset="0"/>
              </a:rPr>
              <a:t>behaviour</a:t>
            </a:r>
            <a:r>
              <a:rPr lang="en-US" sz="1600" b="0" i="0" kern="1200" dirty="0">
                <a:solidFill>
                  <a:schemeClr val="tx1"/>
                </a:solidFill>
                <a:effectLst/>
                <a:latin typeface="Arial" panose="020B0604020202020204" pitchFamily="34" charset="0"/>
                <a:ea typeface="+mn-ea"/>
                <a:cs typeface="Arial" panose="020B0604020202020204" pitchFamily="34" charset="0"/>
              </a:rPr>
              <a:t>. You will touch all of them when configuring a device for authenticated boot.</a:t>
            </a:r>
          </a:p>
          <a:p>
            <a:endParaRPr lang="en-US" sz="1600" b="1" i="0" kern="1200" dirty="0">
              <a:solidFill>
                <a:schemeClr val="tx1"/>
              </a:solidFill>
              <a:effectLst/>
              <a:latin typeface="Arial" panose="020B0604020202020204" pitchFamily="34" charset="0"/>
              <a:ea typeface="+mn-ea"/>
              <a:cs typeface="Arial" panose="020B0604020202020204" pitchFamily="34" charset="0"/>
            </a:endParaRPr>
          </a:p>
          <a:p>
            <a:r>
              <a:rPr lang="en-US" sz="1600" b="1" i="0" kern="1200" dirty="0" err="1">
                <a:solidFill>
                  <a:schemeClr val="tx1"/>
                </a:solidFill>
                <a:effectLst/>
                <a:latin typeface="Arial" panose="020B0604020202020204" pitchFamily="34" charset="0"/>
                <a:ea typeface="+mn-ea"/>
                <a:cs typeface="Arial" panose="020B0604020202020204" pitchFamily="34" charset="0"/>
              </a:rPr>
              <a:t>boot_cfg_id</a:t>
            </a:r>
            <a:r>
              <a:rPr lang="en-US" sz="1600" b="0" i="0" kern="1200" dirty="0">
                <a:solidFill>
                  <a:schemeClr val="tx1"/>
                </a:solidFill>
                <a:effectLst/>
                <a:latin typeface="Arial" panose="020B0604020202020204" pitchFamily="34" charset="0"/>
                <a:ea typeface="+mn-ea"/>
                <a:cs typeface="Arial" panose="020B0604020202020204" pitchFamily="34" charset="0"/>
              </a:rPr>
              <a:t> is the on/off switch. SIMPLE_APP means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boots whatever is in the slot with no verification —  this is the default configuration, fine for early development, not for deployment. SECURE_APP enables ECDSA verification at every boot. Flip this field and re-provision when you are ready to start testing authenticated boot.</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1" i="0" kern="1200" dirty="0" err="1">
                <a:solidFill>
                  <a:schemeClr val="tx1"/>
                </a:solidFill>
                <a:effectLst/>
                <a:latin typeface="Arial" panose="020B0604020202020204" pitchFamily="34" charset="0"/>
                <a:ea typeface="+mn-ea"/>
                <a:cs typeface="Arial" panose="020B0604020202020204" pitchFamily="34" charset="0"/>
              </a:rPr>
              <a:t>boot_auth_signature</a:t>
            </a:r>
            <a:r>
              <a:rPr lang="en-US" sz="1600" b="0" i="0" kern="1200" dirty="0">
                <a:solidFill>
                  <a:schemeClr val="tx1"/>
                </a:solidFill>
                <a:effectLst/>
                <a:latin typeface="Arial" panose="020B0604020202020204" pitchFamily="34" charset="0"/>
                <a:ea typeface="+mn-ea"/>
                <a:cs typeface="Arial" panose="020B0604020202020204" pitchFamily="34" charset="0"/>
              </a:rPr>
              <a:t> selects the ECDSA curve. This value must be consistent across three things: the OEM_ROT_KEY you provisioned during ownership transfer, the key used to sign the image, and this policy field. If any one of them uses a different curve, authentication will fail. Pick your curve once and keep it consistent throughout.</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1" i="0" kern="1200" dirty="0" err="1">
                <a:solidFill>
                  <a:schemeClr val="tx1"/>
                </a:solidFill>
                <a:effectLst/>
                <a:latin typeface="Arial" panose="020B0604020202020204" pitchFamily="34" charset="0"/>
                <a:ea typeface="+mn-ea"/>
                <a:cs typeface="Arial" panose="020B0604020202020204" pitchFamily="34" charset="0"/>
              </a:rPr>
              <a:t>boot_app_layout</a:t>
            </a:r>
            <a:r>
              <a:rPr lang="en-US" sz="1600" b="0" i="0" kern="1200" dirty="0">
                <a:solidFill>
                  <a:schemeClr val="tx1"/>
                </a:solidFill>
                <a:effectLst/>
                <a:latin typeface="Arial" panose="020B0604020202020204" pitchFamily="34" charset="0"/>
                <a:ea typeface="+mn-ea"/>
                <a:cs typeface="Arial" panose="020B0604020202020204" pitchFamily="34" charset="0"/>
              </a:rPr>
              <a:t> tells FLASH_BOOT where your application images live in flash. Slot 0 is mandatory — it is the Secure CM33 application. Slots 1 through 3 are optional and cover the Non-Secure application and PPCA images. Basically, this field decides how many images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needs to verify and where to find them.</a:t>
            </a:r>
          </a:p>
          <a:p>
            <a:r>
              <a:rPr lang="en-US" sz="1600" b="0" i="0" kern="1200" dirty="0">
                <a:solidFill>
                  <a:schemeClr val="tx1"/>
                </a:solidFill>
                <a:effectLst/>
                <a:latin typeface="Arial" panose="020B0604020202020204" pitchFamily="34" charset="0"/>
                <a:ea typeface="+mn-ea"/>
                <a:cs typeface="Arial" panose="020B0604020202020204" pitchFamily="34" charset="0"/>
              </a:rPr>
              <a:t>Any slot you are not using must be zeroed out — address and size both set to 0x00.</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1" i="0" kern="1200" dirty="0" err="1">
                <a:solidFill>
                  <a:schemeClr val="tx1"/>
                </a:solidFill>
                <a:effectLst/>
                <a:latin typeface="Arial" panose="020B0604020202020204" pitchFamily="34" charset="0"/>
                <a:ea typeface="+mn-ea"/>
                <a:cs typeface="Arial" panose="020B0604020202020204" pitchFamily="34" charset="0"/>
              </a:rPr>
              <a:t>failed_signature_counter</a:t>
            </a:r>
            <a:r>
              <a:rPr lang="en-US" sz="1600" b="0" i="0" kern="1200" dirty="0">
                <a:solidFill>
                  <a:schemeClr val="tx1"/>
                </a:solidFill>
                <a:effectLst/>
                <a:latin typeface="Arial" panose="020B0604020202020204" pitchFamily="34" charset="0"/>
                <a:ea typeface="+mn-ea"/>
                <a:cs typeface="Arial" panose="020B0604020202020204" pitchFamily="34" charset="0"/>
              </a:rPr>
              <a:t> is a per-slot watchdog. Each consecutive authentication failure decrements the counter; when it reaches zero the slot is permanently rejected and will never boot again. Set it to </a:t>
            </a:r>
            <a:r>
              <a:rPr lang="en-US" dirty="0"/>
              <a:t>65535</a:t>
            </a:r>
            <a:r>
              <a:rPr lang="en-US" sz="1600" b="0" i="0" kern="1200" dirty="0">
                <a:solidFill>
                  <a:schemeClr val="tx1"/>
                </a:solidFill>
                <a:effectLst/>
                <a:latin typeface="Arial" panose="020B0604020202020204" pitchFamily="34" charset="0"/>
                <a:ea typeface="+mn-ea"/>
                <a:cs typeface="Arial" panose="020B0604020202020204" pitchFamily="34" charset="0"/>
              </a:rPr>
              <a:t> in production — this means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always checks and a bad image never permanently locks out the slot. Lower values give you a hard limit on consecutive failures, which some security policies require.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Signing is the operation that produces the image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can actually authenticate. It takes your raw application binary and wraps it with three additional structures.</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a:t>
            </a:r>
            <a:r>
              <a:rPr lang="en-US" sz="1600" b="1" i="0" kern="1200" dirty="0" err="1">
                <a:solidFill>
                  <a:schemeClr val="tx1"/>
                </a:solidFill>
                <a:effectLst/>
                <a:latin typeface="Arial" panose="020B0604020202020204" pitchFamily="34" charset="0"/>
                <a:ea typeface="+mn-ea"/>
                <a:cs typeface="Arial" panose="020B0604020202020204" pitchFamily="34" charset="0"/>
              </a:rPr>
              <a:t>MCUboot</a:t>
            </a:r>
            <a:r>
              <a:rPr lang="en-US" sz="1600" b="1" i="0" kern="1200" dirty="0">
                <a:solidFill>
                  <a:schemeClr val="tx1"/>
                </a:solidFill>
                <a:effectLst/>
                <a:latin typeface="Arial" panose="020B0604020202020204" pitchFamily="34" charset="0"/>
                <a:ea typeface="+mn-ea"/>
                <a:cs typeface="Arial" panose="020B0604020202020204" pitchFamily="34" charset="0"/>
              </a:rPr>
              <a:t> header</a:t>
            </a:r>
            <a:r>
              <a:rPr lang="en-US" sz="1600" b="0" i="0" kern="1200" dirty="0">
                <a:solidFill>
                  <a:schemeClr val="tx1"/>
                </a:solidFill>
                <a:effectLst/>
                <a:latin typeface="Arial" panose="020B0604020202020204" pitchFamily="34" charset="0"/>
                <a:ea typeface="+mn-ea"/>
                <a:cs typeface="Arial" panose="020B0604020202020204" pitchFamily="34" charset="0"/>
              </a:rPr>
              <a:t> carries metadata: the load address, image size, version number, and flags. The </a:t>
            </a:r>
            <a:r>
              <a:rPr lang="en-US" sz="1600" b="1" i="0" kern="1200" dirty="0">
                <a:solidFill>
                  <a:schemeClr val="tx1"/>
                </a:solidFill>
                <a:effectLst/>
                <a:latin typeface="Arial" panose="020B0604020202020204" pitchFamily="34" charset="0"/>
                <a:ea typeface="+mn-ea"/>
                <a:cs typeface="Arial" panose="020B0604020202020204" pitchFamily="34" charset="0"/>
              </a:rPr>
              <a:t>Protected TLV</a:t>
            </a:r>
            <a:r>
              <a:rPr lang="en-US" sz="1600" b="0" i="0" kern="1200" dirty="0">
                <a:solidFill>
                  <a:schemeClr val="tx1"/>
                </a:solidFill>
                <a:effectLst/>
                <a:latin typeface="Arial" panose="020B0604020202020204" pitchFamily="34" charset="0"/>
                <a:ea typeface="+mn-ea"/>
                <a:cs typeface="Arial" panose="020B0604020202020204" pitchFamily="34" charset="0"/>
              </a:rPr>
              <a:t> contains a hash of the firmware payload and the security counter — this counter is used for anti-rollback, preventing older firmware versions from being installed over newer ones.</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a:t>
            </a:r>
            <a:r>
              <a:rPr lang="en-US" sz="1600" b="1" i="0" kern="1200" dirty="0">
                <a:solidFill>
                  <a:schemeClr val="tx1"/>
                </a:solidFill>
                <a:effectLst/>
                <a:latin typeface="Arial" panose="020B0604020202020204" pitchFamily="34" charset="0"/>
                <a:ea typeface="+mn-ea"/>
                <a:cs typeface="Arial" panose="020B0604020202020204" pitchFamily="34" charset="0"/>
              </a:rPr>
              <a:t>Signature TLV</a:t>
            </a:r>
            <a:r>
              <a:rPr lang="en-US" sz="1600" b="0" i="0" kern="1200" dirty="0">
                <a:solidFill>
                  <a:schemeClr val="tx1"/>
                </a:solidFill>
                <a:effectLst/>
                <a:latin typeface="Arial" panose="020B0604020202020204" pitchFamily="34" charset="0"/>
                <a:ea typeface="+mn-ea"/>
                <a:cs typeface="Arial" panose="020B0604020202020204" pitchFamily="34" charset="0"/>
              </a:rPr>
              <a:t> holds the ECDSA signature computed over both the header and the payload.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verifies this signature using the OEM_ROT_KEY stored in </a:t>
            </a:r>
            <a:r>
              <a:rPr lang="en-US" sz="1600" b="0" i="0" kern="1200" dirty="0" err="1">
                <a:solidFill>
                  <a:schemeClr val="tx1"/>
                </a:solidFill>
                <a:effectLst/>
                <a:latin typeface="Arial" panose="020B0604020202020204" pitchFamily="34" charset="0"/>
                <a:ea typeface="+mn-ea"/>
                <a:cs typeface="Arial" panose="020B0604020202020204" pitchFamily="34" charset="0"/>
              </a:rPr>
              <a:t>SFlash</a:t>
            </a:r>
            <a:r>
              <a:rPr lang="en-US" sz="1600" b="0" i="0" kern="1200" dirty="0">
                <a:solidFill>
                  <a:schemeClr val="tx1"/>
                </a:solidFill>
                <a:effectLst/>
                <a:latin typeface="Arial" panose="020B0604020202020204" pitchFamily="34" charset="0"/>
                <a:ea typeface="+mn-ea"/>
                <a:cs typeface="Arial" panose="020B0604020202020204" pitchFamily="34" charset="0"/>
              </a:rPr>
              <a:t>.</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In practice, most teams will use the </a:t>
            </a:r>
            <a:r>
              <a:rPr lang="en-US" sz="1600" b="1" i="0" kern="1200" dirty="0">
                <a:solidFill>
                  <a:schemeClr val="tx1"/>
                </a:solidFill>
                <a:effectLst/>
                <a:latin typeface="Arial" panose="020B0604020202020204" pitchFamily="34" charset="0"/>
                <a:ea typeface="+mn-ea"/>
                <a:cs typeface="Arial" panose="020B0604020202020204" pitchFamily="34" charset="0"/>
              </a:rPr>
              <a:t>ModusToolbox integration</a:t>
            </a:r>
            <a:r>
              <a:rPr lang="en-US" sz="1600" b="0" i="0" kern="1200" dirty="0">
                <a:solidFill>
                  <a:schemeClr val="tx1"/>
                </a:solidFill>
                <a:effectLst/>
                <a:latin typeface="Arial" panose="020B0604020202020204" pitchFamily="34" charset="0"/>
                <a:ea typeface="+mn-ea"/>
                <a:cs typeface="Arial" panose="020B0604020202020204" pitchFamily="34" charset="0"/>
              </a:rPr>
              <a:t>. EPT provides a sign-combine extension that plugs into the ModusToolbox build system. You configure it once in </a:t>
            </a:r>
            <a:r>
              <a:rPr lang="en-US" sz="1600" b="0" i="0" kern="1200" dirty="0" err="1">
                <a:solidFill>
                  <a:schemeClr val="tx1"/>
                </a:solidFill>
                <a:effectLst/>
                <a:latin typeface="Arial" panose="020B0604020202020204" pitchFamily="34" charset="0"/>
                <a:ea typeface="+mn-ea"/>
                <a:cs typeface="Arial" panose="020B0604020202020204" pitchFamily="34" charset="0"/>
              </a:rPr>
              <a:t>signer_config.json</a:t>
            </a:r>
            <a:r>
              <a:rPr lang="en-US" sz="1600" b="0" i="0" kern="1200" dirty="0">
                <a:solidFill>
                  <a:schemeClr val="tx1"/>
                </a:solidFill>
                <a:effectLst/>
                <a:latin typeface="Arial" panose="020B0604020202020204" pitchFamily="34" charset="0"/>
                <a:ea typeface="+mn-ea"/>
                <a:cs typeface="Arial" panose="020B0604020202020204" pitchFamily="34" charset="0"/>
              </a:rPr>
              <a:t> — specifying the key, slot parameters, version — and from that point signing happens automatically as a post-build step. The output of every build is a signed image ready to flash.</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manual sign-image command is the underlying operation that the extension calls. It is useful to know for scripting, CI pipelines, or situations where you are signing outside of ModusToolbox. The parameters are the same either way: key, header size, slot size, image version.</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One important note: the slot address and size you pass to the signing command must match exactly what is configured in </a:t>
            </a:r>
            <a:r>
              <a:rPr lang="en-US" sz="1600" b="0" i="0" kern="1200" dirty="0" err="1">
                <a:solidFill>
                  <a:schemeClr val="tx1"/>
                </a:solidFill>
                <a:effectLst/>
                <a:latin typeface="Arial" panose="020B0604020202020204" pitchFamily="34" charset="0"/>
                <a:ea typeface="+mn-ea"/>
                <a:cs typeface="Arial" panose="020B0604020202020204" pitchFamily="34" charset="0"/>
              </a:rPr>
              <a:t>boot_app_layout</a:t>
            </a:r>
            <a:r>
              <a:rPr lang="en-US" sz="1600" b="0" i="0" kern="1200" dirty="0">
                <a:solidFill>
                  <a:schemeClr val="tx1"/>
                </a:solidFill>
                <a:effectLst/>
                <a:latin typeface="Arial" panose="020B0604020202020204" pitchFamily="34" charset="0"/>
                <a:ea typeface="+mn-ea"/>
                <a:cs typeface="Arial" panose="020B0604020202020204" pitchFamily="34" charset="0"/>
              </a:rPr>
              <a:t> in your policy. A mismatch here is one of the most common causes of authentication failure.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F7DB-4CC1-6D3D-2CCF-FD98DB02A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C1FCC-FB0F-59CE-4FC0-BE357E5A2E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C2D12A-943D-B564-3D56-303563648604}"/>
              </a:ext>
            </a:extLst>
          </p:cNvPr>
          <p:cNvSpPr>
            <a:spLocks noGrp="1"/>
          </p:cNvSpPr>
          <p:nvPr>
            <p:ph type="body" sz="quarter" idx="3"/>
          </p:nvPr>
        </p:nvSpPr>
        <p:spPr/>
        <p:txBody>
          <a:bodyPr/>
          <a:lstStyle/>
          <a:p>
            <a:endParaRPr lang="en-US" sz="1600" b="0" i="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40730FF-22C4-65AE-AA16-1360FBD6F310}"/>
              </a:ext>
            </a:extLst>
          </p:cNvPr>
          <p:cNvSpPr>
            <a:spLocks noGrp="1"/>
          </p:cNvSpPr>
          <p:nvPr>
            <p:ph type="sldNum" sz="quarter" idx="5"/>
          </p:nvPr>
        </p:nvSpPr>
        <p:spPr/>
      </p:sp>
    </p:spTree>
    <p:extLst>
      <p:ext uri="{BB962C8B-B14F-4D97-AF65-F5344CB8AC3E}">
        <p14:creationId xmlns:p14="http://schemas.microsoft.com/office/powerpoint/2010/main" val="3666411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of theory session. Transition to the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AC0E-A67A-E780-E234-92E5B090F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A065B-6124-47F6-5A6A-350113CAEA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0345EBF-2C66-A6A2-316B-D4231888E6A6}"/>
              </a:ext>
            </a:extLst>
          </p:cNvPr>
          <p:cNvSpPr>
            <a:spLocks noGrp="1"/>
          </p:cNvSpPr>
          <p:nvPr>
            <p:ph type="body" sz="quarter" idx="3"/>
          </p:nvPr>
        </p:nvSpPr>
        <p:spPr/>
        <p:txBody>
          <a:bodyPr/>
          <a:lstStyle/>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dirty="0"/>
              <a:t>This slide maps each attack vector to the hardware or firmware mechanism that addresses it. The goal is to show that the security features are not a collection of independent checkboxes — each one exists to close a specific gap.</a:t>
            </a:r>
          </a:p>
          <a:p>
            <a:endParaRPr lang="en-US" dirty="0"/>
          </a:p>
          <a:p>
            <a:r>
              <a:rPr lang="en-US" dirty="0"/>
              <a:t>Secure boot and image signing directly address firmware tampering and the firmware update path. The security counter in the </a:t>
            </a:r>
            <a:r>
              <a:rPr lang="en-US" dirty="0" err="1"/>
              <a:t>MCUboot</a:t>
            </a:r>
            <a:r>
              <a:rPr lang="en-US" dirty="0"/>
              <a:t> image format prevents an attacker from rolling back to an older, potentially vulnerable firmware version.</a:t>
            </a:r>
          </a:p>
          <a:p>
            <a:endParaRPr lang="en-US" dirty="0"/>
          </a:p>
          <a:p>
            <a:r>
              <a:rPr lang="en-US" dirty="0"/>
              <a:t>Debug port exploitation is a common vector on deployed embedded devices. Closing the debug port before deployment, and the authenticated debug token provides a controlled way to re-enable it when legitimately needed.</a:t>
            </a:r>
          </a:p>
          <a:p>
            <a:endParaRPr lang="en-US" dirty="0"/>
          </a:p>
          <a:p>
            <a:r>
              <a:rPr lang="en-US" dirty="0"/>
              <a:t>Physical attacks — voltage glitching and clock manipulation — are used to cause the CPU to skip instructions, including security checks. The hardware fault injection hardening countermeasures are in silicon; they cannot be patched away or bypassed by modifying software.</a:t>
            </a:r>
          </a:p>
          <a:p>
            <a:endParaRPr lang="en-US" dirty="0"/>
          </a:p>
          <a:p>
            <a:r>
              <a:rPr lang="en-US" dirty="0"/>
              <a:t>IP protection — keeping your motor control algorithms or other proprietary firmware confidential — is addressed by Memory Protection Controller isolation and the PROT_FW boot mode, which we will cover in an advanced session.</a:t>
            </a:r>
          </a:p>
          <a:p>
            <a:endParaRPr lang="en-US" dirty="0"/>
          </a:p>
          <a:p>
            <a:r>
              <a:rPr lang="en-US" dirty="0"/>
              <a:t>The OEM key hierarchy and ownership transfer model address supply chain risk. A device that has not been provisioned with your keys will not run your firmware, and a device provisioned with your keys will not run anyone else's.</a:t>
            </a:r>
          </a:p>
          <a:p>
            <a:endParaRPr lang="en-US" dirty="0"/>
          </a:p>
          <a:p>
            <a:r>
              <a:rPr lang="en-US" dirty="0"/>
              <a:t>The overall picture: each layer of the security architecture closes a different attack surface. Together they provide </a:t>
            </a:r>
            <a:r>
              <a:rPr lang="en-US" dirty="0" err="1"/>
              <a:t>defence</a:t>
            </a:r>
            <a:r>
              <a:rPr lang="en-US" dirty="0"/>
              <a:t> in depth — if one layer is compromised or misapplied, the others continue to provide protection.</a:t>
            </a:r>
            <a:endParaRPr dirty="0"/>
          </a:p>
        </p:txBody>
      </p:sp>
      <p:sp>
        <p:nvSpPr>
          <p:cNvPr id="4" name="Slide Number Placeholder 3">
            <a:extLst>
              <a:ext uri="{FF2B5EF4-FFF2-40B4-BE49-F238E27FC236}">
                <a16:creationId xmlns:a16="http://schemas.microsoft.com/office/drawing/2014/main" id="{46C8D21A-43EE-67CB-29F7-43F9E8639F3A}"/>
              </a:ext>
            </a:extLst>
          </p:cNvPr>
          <p:cNvSpPr>
            <a:spLocks noGrp="1"/>
          </p:cNvSpPr>
          <p:nvPr>
            <p:ph type="sldNum" sz="quarter" idx="5"/>
          </p:nvPr>
        </p:nvSpPr>
        <p:spPr/>
      </p:sp>
    </p:spTree>
    <p:extLst>
      <p:ext uri="{BB962C8B-B14F-4D97-AF65-F5344CB8AC3E}">
        <p14:creationId xmlns:p14="http://schemas.microsoft.com/office/powerpoint/2010/main" val="3093886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95C0-0E60-D076-B6CA-331F10F8B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E11D7-C7B0-BD5D-AEF3-CA654A72132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CA688D-F547-A728-AB72-C6A551DA14C5}"/>
              </a:ext>
            </a:extLst>
          </p:cNvPr>
          <p:cNvSpPr>
            <a:spLocks noGrp="1"/>
          </p:cNvSpPr>
          <p:nvPr>
            <p:ph type="body" sz="quarter" idx="3"/>
          </p:nvPr>
        </p:nvSpPr>
        <p:spPr/>
        <p:txBody>
          <a:bodyPr/>
          <a:lstStyle/>
          <a:p>
            <a:r>
              <a:rPr lang="en-US" sz="1600" b="0" i="0" kern="1200" dirty="0">
                <a:solidFill>
                  <a:schemeClr val="tx1"/>
                </a:solidFill>
                <a:effectLst/>
                <a:latin typeface="Arial" panose="020B0604020202020204" pitchFamily="34" charset="0"/>
                <a:ea typeface="+mn-ea"/>
                <a:cs typeface="Arial" panose="020B0604020202020204" pitchFamily="34" charset="0"/>
              </a:rPr>
              <a:t>Authentication failure behavior depends entirely on which slot fails.</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If </a:t>
            </a:r>
            <a:r>
              <a:rPr lang="en-US" sz="1600" b="1" i="0" kern="1200" dirty="0">
                <a:solidFill>
                  <a:schemeClr val="tx1"/>
                </a:solidFill>
                <a:effectLst/>
                <a:latin typeface="Arial" panose="020B0604020202020204" pitchFamily="34" charset="0"/>
                <a:ea typeface="+mn-ea"/>
                <a:cs typeface="Arial" panose="020B0604020202020204" pitchFamily="34" charset="0"/>
              </a:rPr>
              <a:t>Slot 0</a:t>
            </a:r>
            <a:r>
              <a:rPr lang="en-US" sz="1600" b="0" i="0" kern="1200" dirty="0">
                <a:solidFill>
                  <a:schemeClr val="tx1"/>
                </a:solidFill>
                <a:effectLst/>
                <a:latin typeface="Arial" panose="020B0604020202020204" pitchFamily="34" charset="0"/>
                <a:ea typeface="+mn-ea"/>
                <a:cs typeface="Arial" panose="020B0604020202020204" pitchFamily="34" charset="0"/>
              </a:rPr>
              <a:t> fails — the Secure CM33 application — the device enters the DEAD branch. No code executes. The device halts and stays halted until the next reset. This is by design: if the primary application cannot be authenticated, the device has no safe state to fall back to. Recovery means getting a correctly signed image into Slot 0, either by flashing it directly over SWD in Development LCS or by re-provisioning if the policy itself is the problem.</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If any of </a:t>
            </a:r>
            <a:r>
              <a:rPr lang="en-US" sz="1600" b="1" i="0" kern="1200" dirty="0">
                <a:solidFill>
                  <a:schemeClr val="tx1"/>
                </a:solidFill>
                <a:effectLst/>
                <a:latin typeface="Arial" panose="020B0604020202020204" pitchFamily="34" charset="0"/>
                <a:ea typeface="+mn-ea"/>
                <a:cs typeface="Arial" panose="020B0604020202020204" pitchFamily="34" charset="0"/>
              </a:rPr>
              <a:t>Slots 1 through 3</a:t>
            </a:r>
            <a:r>
              <a:rPr lang="en-US" sz="1600" b="0" i="0" kern="1200" dirty="0">
                <a:solidFill>
                  <a:schemeClr val="tx1"/>
                </a:solidFill>
                <a:effectLst/>
                <a:latin typeface="Arial" panose="020B0604020202020204" pitchFamily="34" charset="0"/>
                <a:ea typeface="+mn-ea"/>
                <a:cs typeface="Arial" panose="020B0604020202020204" pitchFamily="34" charset="0"/>
              </a:rPr>
              <a:t> fail, </a:t>
            </a:r>
            <a:r>
              <a:rPr lang="en-US" sz="1600" b="0" i="0" kern="1200" dirty="0" err="1">
                <a:solidFill>
                  <a:schemeClr val="tx1"/>
                </a:solidFill>
                <a:effectLst/>
                <a:latin typeface="Arial" panose="020B0604020202020204" pitchFamily="34" charset="0"/>
                <a:ea typeface="+mn-ea"/>
                <a:cs typeface="Arial" panose="020B0604020202020204" pitchFamily="34" charset="0"/>
              </a:rPr>
              <a:t>BootROM</a:t>
            </a:r>
            <a:r>
              <a:rPr lang="en-US" sz="1600" b="0" i="0" kern="1200" dirty="0">
                <a:solidFill>
                  <a:schemeClr val="tx1"/>
                </a:solidFill>
                <a:effectLst/>
                <a:latin typeface="Arial" panose="020B0604020202020204" pitchFamily="34" charset="0"/>
                <a:ea typeface="+mn-ea"/>
                <a:cs typeface="Arial" panose="020B0604020202020204" pitchFamily="34" charset="0"/>
              </a:rPr>
              <a:t> skips that slot and continues. The Secure application still launches. The responsibility for handling the missing sub-image — whether that means degraded operation, an error flag, or refusing to run — lies entirely with the Secure application code.</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a:t>
            </a:r>
            <a:r>
              <a:rPr lang="en-US" sz="1600" b="0" i="0" kern="1200" dirty="0" err="1">
                <a:solidFill>
                  <a:schemeClr val="tx1"/>
                </a:solidFill>
                <a:effectLst/>
                <a:latin typeface="Arial" panose="020B0604020202020204" pitchFamily="34" charset="0"/>
                <a:ea typeface="+mn-ea"/>
                <a:cs typeface="Arial" panose="020B0604020202020204" pitchFamily="34" charset="0"/>
              </a:rPr>
              <a:t>failed_signature_counter</a:t>
            </a:r>
            <a:r>
              <a:rPr lang="en-US" sz="1600" b="0" i="0" kern="1200" dirty="0">
                <a:solidFill>
                  <a:schemeClr val="tx1"/>
                </a:solidFill>
                <a:effectLst/>
                <a:latin typeface="Arial" panose="020B0604020202020204" pitchFamily="34" charset="0"/>
                <a:ea typeface="+mn-ea"/>
                <a:cs typeface="Arial" panose="020B0604020202020204" pitchFamily="34" charset="0"/>
              </a:rPr>
              <a:t> tracks consecutive failures per slot and decrements on each one. Keep this in mind during debugging: repeated failed boot attempts on a slot with a low counter value will eventually lock that slot out permanently.</a:t>
            </a:r>
          </a:p>
          <a:p>
            <a:endParaRPr lang="en-US" sz="1600" b="0" i="0" kern="1200" dirty="0">
              <a:solidFill>
                <a:schemeClr val="tx1"/>
              </a:solidFill>
              <a:effectLst/>
              <a:latin typeface="Arial" panose="020B0604020202020204" pitchFamily="34" charset="0"/>
              <a:ea typeface="+mn-ea"/>
              <a:cs typeface="Arial" panose="020B0604020202020204" pitchFamily="34" charset="0"/>
            </a:endParaRPr>
          </a:p>
          <a:p>
            <a:r>
              <a:rPr lang="en-US" sz="1600" b="0" i="0" kern="1200" dirty="0">
                <a:solidFill>
                  <a:schemeClr val="tx1"/>
                </a:solidFill>
                <a:effectLst/>
                <a:latin typeface="Arial" panose="020B0604020202020204" pitchFamily="34" charset="0"/>
                <a:ea typeface="+mn-ea"/>
                <a:cs typeface="Arial" panose="020B0604020202020204" pitchFamily="34" charset="0"/>
              </a:rPr>
              <a:t>The four most common causes of authentication failure in the lab: the image was never signed, the image was signed with a different key than the one provisioned as OEM_ROT_KEY, the slot address or size in the policy does not match where the image was actually linked or flashed, or the image in flash is corrupted. When authentication fails unexpectedly, check these four things in order before looking elsewhere.</a:t>
            </a:r>
          </a:p>
        </p:txBody>
      </p:sp>
      <p:sp>
        <p:nvSpPr>
          <p:cNvPr id="4" name="Slide Number Placeholder 3">
            <a:extLst>
              <a:ext uri="{FF2B5EF4-FFF2-40B4-BE49-F238E27FC236}">
                <a16:creationId xmlns:a16="http://schemas.microsoft.com/office/drawing/2014/main" id="{34276384-28C7-BDBE-9A4F-D82F9B4A49F5}"/>
              </a:ext>
            </a:extLst>
          </p:cNvPr>
          <p:cNvSpPr>
            <a:spLocks noGrp="1"/>
          </p:cNvSpPr>
          <p:nvPr>
            <p:ph type="sldNum" sz="quarter" idx="5"/>
          </p:nvPr>
        </p:nvSpPr>
        <p:spPr/>
      </p:sp>
    </p:spTree>
    <p:extLst>
      <p:ext uri="{BB962C8B-B14F-4D97-AF65-F5344CB8AC3E}">
        <p14:creationId xmlns:p14="http://schemas.microsoft.com/office/powerpoint/2010/main" val="1452158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FXSHAPE"/>
          <p:cNvSpPr>
            <a:spLocks noGrp="1"/>
          </p:cNvSpPr>
          <p:nvPr>
            <p:ph type="body" idx="1"/>
          </p:nvPr>
        </p:nvSpPr>
        <p:spPr/>
        <p:txBody>
          <a:bodyPr/>
          <a:lstStyle/>
          <a:p>
            <a:endParaRPr kumimoji="1" lang="ja-JP" altLang="en-US" dirty="0"/>
          </a:p>
        </p:txBody>
      </p:sp>
      <p:sp>
        <p:nvSpPr>
          <p:cNvPr id="4" name="IFXSHAPE"/>
          <p:cNvSpPr>
            <a:spLocks noGrp="1"/>
          </p:cNvSpPr>
          <p:nvPr>
            <p:ph type="sldNum" sz="quarter" idx="4294967295"/>
          </p:nvPr>
        </p:nvSpPr>
        <p:spPr>
          <a:xfrm>
            <a:off x="6033274" y="9833798"/>
            <a:ext cx="612000" cy="288000"/>
          </a:xfrm>
          <a:prstGeom prst="rect">
            <a:avLst/>
          </a:prstGeom>
        </p:spPr>
        <p:txBody>
          <a:bodyPr/>
          <a:lstStyle/>
          <a:p>
            <a:fld id="{E7F10E92-F852-4805-9DEB-14239861A640}" type="slidenum">
              <a:rPr lang="en-US" smtClean="0"/>
              <a:t>27</a:t>
            </a:fld>
            <a:endParaRPr lang="en-US" dirty="0"/>
          </a:p>
        </p:txBody>
      </p:sp>
    </p:spTree>
    <p:extLst>
      <p:ext uri="{BB962C8B-B14F-4D97-AF65-F5344CB8AC3E}">
        <p14:creationId xmlns:p14="http://schemas.microsoft.com/office/powerpoint/2010/main" val="126494996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3.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2.jpg"/><Relationship Id="rId5" Type="http://schemas.openxmlformats.org/officeDocument/2006/relationships/tags" Target="../tags/tag14.xml"/><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0" Type="http://schemas.openxmlformats.org/officeDocument/2006/relationships/tags" Target="../tags/tag41.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slideMaster" Target="../slideMasters/slideMaster1.xml"/><Relationship Id="rId4" Type="http://schemas.openxmlformats.org/officeDocument/2006/relationships/tags" Target="../tags/tag6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4.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slideMaster" Target="../slideMasters/slideMaster1.xml"/><Relationship Id="rId5" Type="http://schemas.openxmlformats.org/officeDocument/2006/relationships/tags" Target="../tags/tag66.xml"/><Relationship Id="rId4" Type="http://schemas.openxmlformats.org/officeDocument/2006/relationships/tags" Target="../tags/tag6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1"/>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857824698"/>
      </p:ext>
    </p:extLst>
  </p:cSld>
  <p:clrMapOvr>
    <a:masterClrMapping/>
  </p:clrMapOvr>
  <p:hf sldNum="0"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2026.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2026-06-26</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13" name="empower_classification_placeholder">
            <a:extLst>
              <a:ext uri="{FF2B5EF4-FFF2-40B4-BE49-F238E27FC236}">
                <a16:creationId xmlns:a16="http://schemas.microsoft.com/office/drawing/2014/main" id="{B869961F-A974-D4E3-D854-484934A7FFEE}"/>
              </a:ext>
            </a:extLst>
          </p:cNvPr>
          <p:cNvSpPr txBox="1"/>
          <p:nvPr userDrawn="1">
            <p:custDataLst>
              <p:tags r:id="rId13"/>
            </p:custDataLst>
          </p:nvPr>
        </p:nvSpPr>
        <p:spPr bwMode="auto">
          <a:xfrm>
            <a:off x="9336360" y="648441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0" kern="0" baseline="0" noProof="0" dirty="0">
                <a:solidFill>
                  <a:schemeClr val="tx1"/>
                </a:solidFill>
                <a:latin typeface="+mn-lt"/>
                <a:ea typeface="+mn-ea"/>
                <a:cs typeface="+mn-cs"/>
              </a:rPr>
              <a:t>002-43291 Rev. **</a:t>
            </a:r>
          </a:p>
        </p:txBody>
      </p:sp>
    </p:spTree>
    <p:extLst>
      <p:ext uri="{BB962C8B-B14F-4D97-AF65-F5344CB8AC3E}">
        <p14:creationId xmlns:p14="http://schemas.microsoft.com/office/powerpoint/2010/main" val="1228050584"/>
      </p:ext>
    </p:extLst>
  </p:cSld>
  <p:clrMapOvr>
    <a:masterClrMapping/>
  </p:clrMapOvr>
  <p:hf sldNum="0" hdr="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2026-06-26</a:t>
            </a:r>
            <a:endParaRPr lang="en-US" sz="800" kern="0" noProof="0" dirty="0">
              <a:solidFill>
                <a:schemeClr val="tx1"/>
              </a:solidFill>
              <a:latin typeface="+mn-lt"/>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r>
              <a:rPr lang="en-US" b="1"/>
              <a:t> </a:t>
            </a:r>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4" name="empower_classification_placeholder">
            <a:extLst>
              <a:ext uri="{FF2B5EF4-FFF2-40B4-BE49-F238E27FC236}">
                <a16:creationId xmlns:a16="http://schemas.microsoft.com/office/drawing/2014/main" id="{7E9857E5-9C1A-972D-8D82-52322BD3F937}"/>
              </a:ext>
            </a:extLst>
          </p:cNvPr>
          <p:cNvSpPr txBox="1"/>
          <p:nvPr userDrawn="1">
            <p:custDataLst>
              <p:tags r:id="rId13"/>
            </p:custDataLst>
          </p:nvPr>
        </p:nvSpPr>
        <p:spPr bwMode="auto">
          <a:xfrm>
            <a:off x="9336360" y="648441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0" kern="0" baseline="0" noProof="0" dirty="0">
                <a:solidFill>
                  <a:schemeClr val="tx1"/>
                </a:solidFill>
                <a:latin typeface="+mn-lt"/>
                <a:ea typeface="+mn-ea"/>
                <a:cs typeface="+mn-cs"/>
              </a:rPr>
              <a:t>002-43291 Rev. **</a:t>
            </a:r>
          </a:p>
        </p:txBody>
      </p:sp>
    </p:spTree>
    <p:extLst>
      <p:ext uri="{BB962C8B-B14F-4D97-AF65-F5344CB8AC3E}">
        <p14:creationId xmlns:p14="http://schemas.microsoft.com/office/powerpoint/2010/main" val="2011624713"/>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2026-06-26</a:t>
            </a:r>
            <a:endParaRPr lang="en-US" sz="800" kern="0" noProof="0" dirty="0">
              <a:solidFill>
                <a:schemeClr val="tx1"/>
              </a:solidFill>
              <a:latin typeface="+mn-lt"/>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r>
              <a:rPr lang="en-US" b="1"/>
              <a:t> </a:t>
            </a:r>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4" name="empower_classification_placeholder">
            <a:extLst>
              <a:ext uri="{FF2B5EF4-FFF2-40B4-BE49-F238E27FC236}">
                <a16:creationId xmlns:a16="http://schemas.microsoft.com/office/drawing/2014/main" id="{71246030-3169-2BAF-1828-57F1F83FA448}"/>
              </a:ext>
            </a:extLst>
          </p:cNvPr>
          <p:cNvSpPr txBox="1"/>
          <p:nvPr userDrawn="1">
            <p:custDataLst>
              <p:tags r:id="rId13"/>
            </p:custDataLst>
          </p:nvPr>
        </p:nvSpPr>
        <p:spPr bwMode="auto">
          <a:xfrm>
            <a:off x="9336360" y="648441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0" kern="0" baseline="0" noProof="0" dirty="0">
                <a:solidFill>
                  <a:schemeClr val="tx1"/>
                </a:solidFill>
                <a:latin typeface="+mn-lt"/>
                <a:ea typeface="+mn-ea"/>
                <a:cs typeface="+mn-cs"/>
              </a:rPr>
              <a:t>002-43291 Rev. **</a:t>
            </a:r>
          </a:p>
        </p:txBody>
      </p:sp>
    </p:spTree>
    <p:extLst>
      <p:ext uri="{BB962C8B-B14F-4D97-AF65-F5344CB8AC3E}">
        <p14:creationId xmlns:p14="http://schemas.microsoft.com/office/powerpoint/2010/main" val="1514670003"/>
      </p:ext>
    </p:extLst>
  </p:cSld>
  <p:clrMapOvr>
    <a:masterClrMapping/>
  </p:clrMapOvr>
  <p:hf sldNum="0" hdr="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394061936"/>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747640960"/>
      </p:ext>
    </p:extLst>
  </p:cSld>
  <p:clrMapOvr>
    <a:masterClrMapping/>
  </p:clrMapOvr>
  <p:hf sldNum="0" hdr="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IFX_Title_Only">
    <p:spTree>
      <p:nvGrpSpPr>
        <p:cNvPr id="1" name=""/>
        <p:cNvGrpSpPr/>
        <p:nvPr/>
      </p:nvGrpSpPr>
      <p:grpSpPr>
        <a:xfrm>
          <a:off x="0" y="0"/>
          <a:ext cx="0" cy="0"/>
          <a:chOff x="0" y="0"/>
          <a:chExt cx="0" cy="0"/>
        </a:xfrm>
      </p:grpSpPr>
      <p:sp>
        <p:nvSpPr>
          <p:cNvPr id="5" name="IFXSHAPE" hidden="1">
            <a:extLst>
              <a:ext uri="{FF2B5EF4-FFF2-40B4-BE49-F238E27FC236}">
                <a16:creationId xmlns:a16="http://schemas.microsoft.com/office/drawing/2014/main" id="{BAC51527-9DE0-4331-A59D-54355C093FD5}"/>
              </a:ext>
            </a:extLst>
          </p:cNvPr>
          <p:cNvSpPr>
            <a:spLocks noGrp="1"/>
          </p:cNvSpPr>
          <p:nvPr>
            <p:ph type="ftr" sz="quarter" idx="12"/>
          </p:nvPr>
        </p:nvSpPr>
        <p:spPr>
          <a:xfrm>
            <a:off x="5711952" y="6541008"/>
            <a:ext cx="768096" cy="304800"/>
          </a:xfrm>
        </p:spPr>
        <p:txBody>
          <a:bodyPr wrap="none" lIns="0" tIns="0" rIns="0" bIns="0" anchor="ctr">
            <a:noAutofit/>
          </a:bodyPr>
          <a:lstStyle>
            <a:lvl1pPr algn="ctr" fontAlgn="t">
              <a:buClr>
                <a:schemeClr val="accent2"/>
              </a:buClr>
              <a:defRPr sz="933" b="0">
                <a:solidFill>
                  <a:schemeClr val="accent2"/>
                </a:solidFill>
                <a:latin typeface="Arial" panose="020B0604020202020204" pitchFamily="34" charset="0"/>
              </a:defRPr>
            </a:lvl1pPr>
          </a:lstStyle>
          <a:p>
            <a:r>
              <a:rPr lang="en-US"/>
              <a:t> </a:t>
            </a:r>
            <a:endParaRPr lang="en-IN" dirty="0"/>
          </a:p>
        </p:txBody>
      </p:sp>
      <p:sp>
        <p:nvSpPr>
          <p:cNvPr id="2" name="IFXSHAPE"/>
          <p:cNvSpPr>
            <a:spLocks noGrp="1"/>
          </p:cNvSpPr>
          <p:nvPr>
            <p:ph type="title" hasCustomPrompt="1"/>
          </p:nvPr>
        </p:nvSpPr>
        <p:spPr>
          <a:xfrm>
            <a:off x="335360" y="188720"/>
            <a:ext cx="9631680" cy="720000"/>
          </a:xfrm>
          <a:prstGeom prst="rect">
            <a:avLst/>
          </a:prstGeom>
        </p:spPr>
        <p:txBody>
          <a:bodyPr/>
          <a:lstStyle/>
          <a:p>
            <a:r>
              <a:rPr lang="en-GB" dirty="0"/>
              <a:t>Click to edit title</a:t>
            </a:r>
          </a:p>
        </p:txBody>
      </p:sp>
      <p:sp>
        <p:nvSpPr>
          <p:cNvPr id="3" name="IFXSHAPE" hidden="1">
            <a:extLst>
              <a:ext uri="{FF2B5EF4-FFF2-40B4-BE49-F238E27FC236}">
                <a16:creationId xmlns:a16="http://schemas.microsoft.com/office/drawing/2014/main" id="{AC540F64-E3B1-4E1D-BCF5-7633FA1987A8}"/>
              </a:ext>
            </a:extLst>
          </p:cNvPr>
          <p:cNvSpPr>
            <a:spLocks noGrp="1"/>
          </p:cNvSpPr>
          <p:nvPr>
            <p:ph type="sldNum" sz="quarter" idx="10"/>
          </p:nvPr>
        </p:nvSpPr>
        <p:spPr>
          <a:xfrm>
            <a:off x="11087355" y="6541008"/>
            <a:ext cx="384048" cy="304800"/>
          </a:xfrm>
        </p:spPr>
        <p:txBody>
          <a:bodyPr wrap="none" lIns="0" tIns="0" rIns="0" bIns="0" anchor="ctr">
            <a:noAutofit/>
          </a:bodyPr>
          <a:lstStyle>
            <a:lvl1pPr algn="r" fontAlgn="t">
              <a:buClr>
                <a:srgbClr val="928285"/>
              </a:buClr>
              <a:defRPr sz="1333" b="0">
                <a:solidFill>
                  <a:srgbClr val="FFFFFF"/>
                </a:solidFill>
                <a:latin typeface="Arial" panose="020B0604020202020204" pitchFamily="34" charset="0"/>
              </a:defRPr>
            </a:lvl1pPr>
          </a:lstStyle>
          <a:p>
            <a:r>
              <a:rPr lang="en-IN"/>
              <a:t> </a:t>
            </a:r>
            <a:endParaRPr lang="en-IN" dirty="0"/>
          </a:p>
        </p:txBody>
      </p:sp>
      <p:sp>
        <p:nvSpPr>
          <p:cNvPr id="4" name="IFXSHAPE" hidden="1">
            <a:extLst>
              <a:ext uri="{FF2B5EF4-FFF2-40B4-BE49-F238E27FC236}">
                <a16:creationId xmlns:a16="http://schemas.microsoft.com/office/drawing/2014/main" id="{C83B5934-DE99-4370-96B8-58B9C6B4ED3F}"/>
              </a:ext>
            </a:extLst>
          </p:cNvPr>
          <p:cNvSpPr>
            <a:spLocks noGrp="1"/>
          </p:cNvSpPr>
          <p:nvPr>
            <p:ph type="dt" sz="half" idx="11"/>
          </p:nvPr>
        </p:nvSpPr>
        <p:spPr>
          <a:xfrm>
            <a:off x="334432" y="6541008"/>
            <a:ext cx="384048" cy="304800"/>
          </a:xfrm>
        </p:spPr>
        <p:txBody>
          <a:bodyPr wrap="none" lIns="0" tIns="0" rIns="0" bIns="0" anchor="ctr">
            <a:noAutofit/>
          </a:bodyPr>
          <a:lstStyle>
            <a:lvl1pPr algn="l" fontAlgn="t">
              <a:buClr>
                <a:schemeClr val="accent2"/>
              </a:buClr>
              <a:defRPr sz="933" b="0">
                <a:solidFill>
                  <a:schemeClr val="accent2"/>
                </a:solidFill>
                <a:latin typeface="Arial" panose="020B0604020202020204" pitchFamily="34" charset="0"/>
              </a:defRPr>
            </a:lvl1pPr>
          </a:lstStyle>
          <a:p>
            <a:r>
              <a:rPr lang="en-US"/>
              <a:t> </a:t>
            </a:r>
            <a:endParaRPr lang="en-IN" dirty="0"/>
          </a:p>
        </p:txBody>
      </p:sp>
    </p:spTree>
    <p:extLst>
      <p:ext uri="{BB962C8B-B14F-4D97-AF65-F5344CB8AC3E}">
        <p14:creationId xmlns:p14="http://schemas.microsoft.com/office/powerpoint/2010/main" val="4243992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5.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tags" Target="../tags/tag8.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tags" Target="../tags/tag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9"/>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10"/>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11"/>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r>
              <a:rPr lang="en-US" b="1"/>
              <a:t> </a:t>
            </a:r>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p:custDataLst>
              <p:tags r:id="rId12"/>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en-US"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en-US"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
        <p:nvSpPr>
          <p:cNvPr id="12" name="empower_footer_placeholder">
            <a:extLst>
              <a:ext uri="{FF2B5EF4-FFF2-40B4-BE49-F238E27FC236}">
                <a16:creationId xmlns:a16="http://schemas.microsoft.com/office/drawing/2014/main" id="{B1590FD1-B89A-31A3-4A38-1C979D520A79}"/>
              </a:ext>
            </a:extLst>
          </p:cNvPr>
          <p:cNvSpPr txBox="1"/>
          <p:nvPr userDrawn="1">
            <p:custDataLst>
              <p:tags r:id="rId13"/>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2026. All rights reserved.</a:t>
            </a:r>
            <a:endParaRPr lang="en-US" sz="800" kern="0" baseline="0" noProof="0" dirty="0">
              <a:solidFill>
                <a:schemeClr val="tx1"/>
              </a:solidFill>
              <a:latin typeface="+mn-lt"/>
              <a:ea typeface="+mn-ea"/>
              <a:cs typeface="+mn-cs"/>
            </a:endParaRPr>
          </a:p>
        </p:txBody>
      </p:sp>
      <p:sp>
        <p:nvSpPr>
          <p:cNvPr id="13" name="empower_classification_placeholder">
            <a:extLst>
              <a:ext uri="{FF2B5EF4-FFF2-40B4-BE49-F238E27FC236}">
                <a16:creationId xmlns:a16="http://schemas.microsoft.com/office/drawing/2014/main" id="{C39E3FA6-D603-FC81-0225-866E72DC812B}"/>
              </a:ext>
            </a:extLst>
          </p:cNvPr>
          <p:cNvSpPr txBox="1"/>
          <p:nvPr userDrawn="1">
            <p:custDataLst>
              <p:tags r:id="rId14"/>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1"/>
                </a:solidFill>
                <a:latin typeface="+mn-lt"/>
                <a:ea typeface="+mn-ea"/>
                <a:cs typeface="+mn-cs"/>
              </a:rPr>
              <a:t>Restricted</a:t>
            </a:r>
          </a:p>
        </p:txBody>
      </p:sp>
      <p:sp>
        <p:nvSpPr>
          <p:cNvPr id="14" name="empower_date_placeholder">
            <a:extLst>
              <a:ext uri="{FF2B5EF4-FFF2-40B4-BE49-F238E27FC236}">
                <a16:creationId xmlns:a16="http://schemas.microsoft.com/office/drawing/2014/main" id="{6933702E-9271-358B-1920-C32866E3E383}"/>
              </a:ext>
            </a:extLst>
          </p:cNvPr>
          <p:cNvSpPr txBox="1"/>
          <p:nvPr userDrawn="1">
            <p:custDataLst>
              <p:tags r:id="rId15"/>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2026-06-26</a:t>
            </a:r>
            <a:endParaRPr lang="en-US" sz="800" kern="0" baseline="0" noProof="0" dirty="0">
              <a:solidFill>
                <a:schemeClr val="tx1"/>
              </a:solidFill>
              <a:latin typeface="+mn-lt"/>
              <a:ea typeface="+mn-ea"/>
              <a:cs typeface="+mn-cs"/>
            </a:endParaRPr>
          </a:p>
        </p:txBody>
      </p:sp>
      <p:sp>
        <p:nvSpPr>
          <p:cNvPr id="17" name="empower_classification_placeholder">
            <a:extLst>
              <a:ext uri="{FF2B5EF4-FFF2-40B4-BE49-F238E27FC236}">
                <a16:creationId xmlns:a16="http://schemas.microsoft.com/office/drawing/2014/main" id="{CC9CA4C2-AA09-9D07-74C3-3D5AA820DD99}"/>
              </a:ext>
            </a:extLst>
          </p:cNvPr>
          <p:cNvSpPr txBox="1"/>
          <p:nvPr userDrawn="1">
            <p:custDataLst>
              <p:tags r:id="rId16"/>
            </p:custDataLst>
          </p:nvPr>
        </p:nvSpPr>
        <p:spPr bwMode="auto">
          <a:xfrm>
            <a:off x="9336360" y="648441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0" kern="0" baseline="0" noProof="0" dirty="0">
                <a:solidFill>
                  <a:schemeClr val="tx1"/>
                </a:solidFill>
                <a:latin typeface="+mn-lt"/>
                <a:ea typeface="+mn-ea"/>
                <a:cs typeface="+mn-cs"/>
              </a:rPr>
              <a:t>002-43291 Rev. **</a:t>
            </a:r>
          </a:p>
        </p:txBody>
      </p:sp>
    </p:spTree>
    <p:extLst>
      <p:ext uri="{BB962C8B-B14F-4D97-AF65-F5344CB8AC3E}">
        <p14:creationId xmlns:p14="http://schemas.microsoft.com/office/powerpoint/2010/main" val="2699615857"/>
      </p:ext>
    </p:extLst>
  </p:cSld>
  <p:clrMap bg1="lt1" tx1="dk1" bg2="lt2" tx2="dk2" accent1="accent1" accent2="accent2" accent3="accent3" accent4="accent4" accent5="accent5" accent6="accent6" hlink="hlink" folHlink="folHlink"/>
  <p:sldLayoutIdLst>
    <p:sldLayoutId id="2147483891" r:id="rId1"/>
    <p:sldLayoutId id="2147483894" r:id="rId2"/>
    <p:sldLayoutId id="2147483895" r:id="rId3"/>
    <p:sldLayoutId id="2147483896" r:id="rId4"/>
    <p:sldLayoutId id="2147483897" r:id="rId5"/>
    <p:sldLayoutId id="2147483908" r:id="rId6"/>
    <p:sldLayoutId id="2147483909" r:id="rId7"/>
  </p:sldLayoutIdLst>
  <p:hf sldNum="0" hdr="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slide" Target="slide6.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slide" Target="slide3.xml"/><Relationship Id="rId2" Type="http://schemas.openxmlformats.org/officeDocument/2006/relationships/tags" Target="../tags/tag68.xml"/><Relationship Id="rId16" Type="http://schemas.openxmlformats.org/officeDocument/2006/relationships/notesSlide" Target="../notesSlides/notesSlide2.xml"/><Relationship Id="rId20" Type="http://schemas.openxmlformats.org/officeDocument/2006/relationships/slide" Target="slide17.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slideLayout" Target="../slideLayouts/slideLayout2.xml"/><Relationship Id="rId10" Type="http://schemas.openxmlformats.org/officeDocument/2006/relationships/tags" Target="../tags/tag76.xml"/><Relationship Id="rId19" Type="http://schemas.openxmlformats.org/officeDocument/2006/relationships/slide" Target="slide11.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s/_rels/slide3.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slide" Target="slide6.xm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slide" Target="slide3.xml"/><Relationship Id="rId2" Type="http://schemas.openxmlformats.org/officeDocument/2006/relationships/tags" Target="../tags/tag82.xml"/><Relationship Id="rId16" Type="http://schemas.openxmlformats.org/officeDocument/2006/relationships/notesSlide" Target="../notesSlides/notesSlide3.xml"/><Relationship Id="rId20" Type="http://schemas.openxmlformats.org/officeDocument/2006/relationships/slide" Target="slide17.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slideLayout" Target="../slideLayouts/slideLayout2.xml"/><Relationship Id="rId10" Type="http://schemas.openxmlformats.org/officeDocument/2006/relationships/tags" Target="../tags/tag90.xml"/><Relationship Id="rId19" Type="http://schemas.openxmlformats.org/officeDocument/2006/relationships/slide" Target="slide11.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9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9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tags" Target="../tags/tag109.xml"/><Relationship Id="rId18" Type="http://schemas.openxmlformats.org/officeDocument/2006/relationships/slide" Target="slide6.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tags" Target="../tags/tag108.xml"/><Relationship Id="rId17" Type="http://schemas.openxmlformats.org/officeDocument/2006/relationships/slide" Target="slide3.xml"/><Relationship Id="rId2" Type="http://schemas.openxmlformats.org/officeDocument/2006/relationships/tags" Target="../tags/tag98.xml"/><Relationship Id="rId16" Type="http://schemas.openxmlformats.org/officeDocument/2006/relationships/notesSlide" Target="../notesSlides/notesSlide6.xml"/><Relationship Id="rId20" Type="http://schemas.openxmlformats.org/officeDocument/2006/relationships/slide" Target="slide17.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tags" Target="../tags/tag107.xml"/><Relationship Id="rId5" Type="http://schemas.openxmlformats.org/officeDocument/2006/relationships/tags" Target="../tags/tag101.xml"/><Relationship Id="rId15" Type="http://schemas.openxmlformats.org/officeDocument/2006/relationships/slideLayout" Target="../slideLayouts/slideLayout2.xml"/><Relationship Id="rId10" Type="http://schemas.openxmlformats.org/officeDocument/2006/relationships/tags" Target="../tags/tag106.xml"/><Relationship Id="rId19" Type="http://schemas.openxmlformats.org/officeDocument/2006/relationships/slide" Target="slide11.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tags" Target="../tags/tag110.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tags" Target="../tags/tag123.xml"/><Relationship Id="rId18" Type="http://schemas.openxmlformats.org/officeDocument/2006/relationships/slide" Target="slide6.xml"/><Relationship Id="rId3" Type="http://schemas.openxmlformats.org/officeDocument/2006/relationships/tags" Target="../tags/tag113.xml"/><Relationship Id="rId7" Type="http://schemas.openxmlformats.org/officeDocument/2006/relationships/tags" Target="../tags/tag117.xml"/><Relationship Id="rId12" Type="http://schemas.openxmlformats.org/officeDocument/2006/relationships/tags" Target="../tags/tag122.xml"/><Relationship Id="rId17" Type="http://schemas.openxmlformats.org/officeDocument/2006/relationships/slide" Target="slide3.xml"/><Relationship Id="rId2" Type="http://schemas.openxmlformats.org/officeDocument/2006/relationships/tags" Target="../tags/tag112.xml"/><Relationship Id="rId16" Type="http://schemas.openxmlformats.org/officeDocument/2006/relationships/notesSlide" Target="../notesSlides/notesSlide10.xml"/><Relationship Id="rId20" Type="http://schemas.openxmlformats.org/officeDocument/2006/relationships/slide" Target="slide17.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5" Type="http://schemas.openxmlformats.org/officeDocument/2006/relationships/tags" Target="../tags/tag115.xml"/><Relationship Id="rId15" Type="http://schemas.openxmlformats.org/officeDocument/2006/relationships/slideLayout" Target="../slideLayouts/slideLayout2.xml"/><Relationship Id="rId10" Type="http://schemas.openxmlformats.org/officeDocument/2006/relationships/tags" Target="../tags/tag120.xml"/><Relationship Id="rId19" Type="http://schemas.openxmlformats.org/officeDocument/2006/relationships/slide" Target="slide11.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tags" Target="../tags/tag12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5.svg"/><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14.sv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image" Target="../media/image13.svg"/><Relationship Id="rId5" Type="http://schemas.openxmlformats.org/officeDocument/2006/relationships/tags" Target="../tags/tag130.xml"/><Relationship Id="rId10" Type="http://schemas.openxmlformats.org/officeDocument/2006/relationships/image" Target="../media/image12.png"/><Relationship Id="rId4" Type="http://schemas.openxmlformats.org/officeDocument/2006/relationships/tags" Target="../tags/tag129.xml"/><Relationship Id="rId9" Type="http://schemas.openxmlformats.org/officeDocument/2006/relationships/notesSlide" Target="../notesSlides/notesSlide13.xml"/><Relationship Id="rId14" Type="http://schemas.openxmlformats.org/officeDocument/2006/relationships/image" Target="../media/image16.sv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tags" Target="../tags/tag145.xml"/><Relationship Id="rId18" Type="http://schemas.openxmlformats.org/officeDocument/2006/relationships/slide" Target="slide6.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tags" Target="../tags/tag144.xml"/><Relationship Id="rId17" Type="http://schemas.openxmlformats.org/officeDocument/2006/relationships/slide" Target="slide3.xml"/><Relationship Id="rId2" Type="http://schemas.openxmlformats.org/officeDocument/2006/relationships/tags" Target="../tags/tag134.xml"/><Relationship Id="rId16" Type="http://schemas.openxmlformats.org/officeDocument/2006/relationships/notesSlide" Target="../notesSlides/notesSlide16.xml"/><Relationship Id="rId20" Type="http://schemas.openxmlformats.org/officeDocument/2006/relationships/slide" Target="slide17.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5" Type="http://schemas.openxmlformats.org/officeDocument/2006/relationships/slideLayout" Target="../slideLayouts/slideLayout2.xml"/><Relationship Id="rId10" Type="http://schemas.openxmlformats.org/officeDocument/2006/relationships/tags" Target="../tags/tag142.xml"/><Relationship Id="rId19" Type="http://schemas.openxmlformats.org/officeDocument/2006/relationships/slide" Target="slide11.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tags" Target="../tags/tag14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FD96C_F5E1FA56.xm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1.sv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D96D_A74ED71A.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IN"/>
          </a:p>
        </p:txBody>
      </p:sp>
      <p:sp>
        <p:nvSpPr>
          <p:cNvPr id="3" name="Subtitle 2"/>
          <p:cNvSpPr>
            <a:spLocks noGrp="1"/>
          </p:cNvSpPr>
          <p:nvPr>
            <p:ph type="subTitle" idx="1" hasCustomPrompt="1"/>
          </p:nvPr>
        </p:nvSpPr>
        <p:spPr>
          <a:xfrm>
            <a:off x="621751" y="5701004"/>
            <a:ext cx="6120680" cy="612000"/>
          </a:xfrm>
        </p:spPr>
        <p:txBody>
          <a:bodyPr wrap="square"/>
          <a:lstStyle/>
          <a:p>
            <a:r>
              <a:rPr dirty="0"/>
              <a:t>June 2026</a:t>
            </a:r>
          </a:p>
        </p:txBody>
      </p:sp>
      <p:sp>
        <p:nvSpPr>
          <p:cNvPr id="5" name="Footer Placeholder 4">
            <a:extLst>
              <a:ext uri="{FF2B5EF4-FFF2-40B4-BE49-F238E27FC236}">
                <a16:creationId xmlns:a16="http://schemas.microsoft.com/office/drawing/2014/main" id="{7F833721-31F2-AC7A-DB5A-045E89CAA0D6}"/>
              </a:ext>
            </a:extLst>
          </p:cNvPr>
          <p:cNvSpPr>
            <a:spLocks noGrp="1"/>
          </p:cNvSpPr>
          <p:nvPr>
            <p:ph type="ftr" sz="quarter" idx="11"/>
          </p:nvPr>
        </p:nvSpPr>
        <p:spPr/>
        <p:txBody>
          <a:bodyPr/>
          <a:lstStyle/>
          <a:p>
            <a:endParaRPr lang="en-US" dirty="0"/>
          </a:p>
        </p:txBody>
      </p:sp>
      <p:sp>
        <p:nvSpPr>
          <p:cNvPr id="11" name="Title 6">
            <a:extLst>
              <a:ext uri="{FF2B5EF4-FFF2-40B4-BE49-F238E27FC236}">
                <a16:creationId xmlns:a16="http://schemas.microsoft.com/office/drawing/2014/main" id="{075A541E-2560-C614-992E-6340C91E2561}"/>
              </a:ext>
            </a:extLst>
          </p:cNvPr>
          <p:cNvSpPr>
            <a:spLocks noGrp="1"/>
          </p:cNvSpPr>
          <p:nvPr>
            <p:ph type="ctrTitle" hasCustomPrompt="1"/>
          </p:nvPr>
        </p:nvSpPr>
        <p:spPr>
          <a:xfrm>
            <a:off x="624000" y="3933057"/>
            <a:ext cx="10152520" cy="1944216"/>
          </a:xfrm>
        </p:spPr>
        <p:txBody>
          <a:bodyPr anchor="t">
            <a:normAutofit/>
          </a:bodyPr>
          <a:lstStyle/>
          <a:p>
            <a:pPr>
              <a:spcBef>
                <a:spcPts val="600"/>
              </a:spcBef>
            </a:pPr>
            <a:r>
              <a:rPr lang="en-US" sz="3200" dirty="0"/>
              <a:t>PSOC™ Control C3 (PSC3x7, PSC3x8) - Security introduction</a:t>
            </a:r>
            <a:br>
              <a:rPr lang="en-IN" sz="2000" dirty="0"/>
            </a:br>
            <a:br>
              <a:rPr lang="en-IN" sz="1000" dirty="0"/>
            </a:br>
            <a:r>
              <a:rPr lang="en-IN" sz="2600" b="0" dirty="0"/>
              <a:t>Customer training workshop (CTW)</a:t>
            </a:r>
            <a:endParaRPr lang="en-US" sz="2600"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E31CAF13-DBCC-1FD5-FFEB-1B02C663150B}"/>
              </a:ext>
            </a:extLst>
          </p:cNvPr>
          <p:cNvGrpSpPr/>
          <p:nvPr>
            <p:custDataLst>
              <p:tags r:id="rId1"/>
            </p:custDataLst>
          </p:nvPr>
        </p:nvGrpSpPr>
        <p:grpSpPr>
          <a:xfrm>
            <a:off x="334434" y="1268413"/>
            <a:ext cx="11521017" cy="2231998"/>
            <a:chOff x="334434" y="1268413"/>
            <a:chExt cx="11521017" cy="2231998"/>
          </a:xfrm>
        </p:grpSpPr>
        <p:sp>
          <p:nvSpPr>
            <p:cNvPr id="5" name="MIO_AGENDA_ELEMENT_TITEL_1">
              <a:hlinkClick r:id="rId17" action="ppaction://hlinksldjump"/>
              <a:extLst>
                <a:ext uri="{FF2B5EF4-FFF2-40B4-BE49-F238E27FC236}">
                  <a16:creationId xmlns:a16="http://schemas.microsoft.com/office/drawing/2014/main" id="{A3D5E495-7143-4CB4-A837-DBB47064F2C4}"/>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Security by design</a:t>
              </a:r>
              <a:endParaRPr lang="de-DE" sz="1800" dirty="0">
                <a:latin typeface="+mn-lt"/>
              </a:endParaRPr>
            </a:p>
          </p:txBody>
        </p:sp>
        <p:sp>
          <p:nvSpPr>
            <p:cNvPr id="6" name="MIO_AGENDA_ELEMENT_ELEMENTNUMBER_1">
              <a:hlinkClick r:id="rId17" action="ppaction://hlinksldjump"/>
              <a:extLst>
                <a:ext uri="{FF2B5EF4-FFF2-40B4-BE49-F238E27FC236}">
                  <a16:creationId xmlns:a16="http://schemas.microsoft.com/office/drawing/2014/main" id="{6A663FA8-A9F4-1A83-D22C-6AD82C5F19F5}"/>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7" action="ppaction://hlinksldjump"/>
              <a:extLst>
                <a:ext uri="{FF2B5EF4-FFF2-40B4-BE49-F238E27FC236}">
                  <a16:creationId xmlns:a16="http://schemas.microsoft.com/office/drawing/2014/main" id="{88098531-91B0-EF71-7DFF-59A3B024F0BA}"/>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8" action="ppaction://hlinksldjump"/>
              <a:extLst>
                <a:ext uri="{FF2B5EF4-FFF2-40B4-BE49-F238E27FC236}">
                  <a16:creationId xmlns:a16="http://schemas.microsoft.com/office/drawing/2014/main" id="{6C174188-85B4-1606-04BD-2B9D5C319FC1}"/>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Device life cycle stage (LCS)</a:t>
              </a:r>
              <a:endParaRPr lang="de-DE" sz="1800" dirty="0">
                <a:latin typeface="+mn-lt"/>
              </a:endParaRPr>
            </a:p>
          </p:txBody>
        </p:sp>
        <p:sp>
          <p:nvSpPr>
            <p:cNvPr id="9" name="MIO_AGENDA_ELEMENT_ELEMENTNUMBER_2">
              <a:hlinkClick r:id="rId18" action="ppaction://hlinksldjump"/>
              <a:extLst>
                <a:ext uri="{FF2B5EF4-FFF2-40B4-BE49-F238E27FC236}">
                  <a16:creationId xmlns:a16="http://schemas.microsoft.com/office/drawing/2014/main" id="{D903EF72-E4C9-2FA6-A332-2928C3BEBAB4}"/>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8" action="ppaction://hlinksldjump"/>
              <a:extLst>
                <a:ext uri="{FF2B5EF4-FFF2-40B4-BE49-F238E27FC236}">
                  <a16:creationId xmlns:a16="http://schemas.microsoft.com/office/drawing/2014/main" id="{8D5434D0-B6B7-B9D7-A40C-FDCED36E88D5}"/>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6</a:t>
              </a:r>
              <a:endParaRPr lang="de-DE" sz="1800" dirty="0">
                <a:latin typeface="+mn-lt"/>
              </a:endParaRPr>
            </a:p>
          </p:txBody>
        </p:sp>
        <p:sp>
          <p:nvSpPr>
            <p:cNvPr id="11" name="MIO_AGENDA_ELEMENT_TITEL_3">
              <a:hlinkClick r:id="rId19" action="ppaction://hlinksldjump"/>
              <a:extLst>
                <a:ext uri="{FF2B5EF4-FFF2-40B4-BE49-F238E27FC236}">
                  <a16:creationId xmlns:a16="http://schemas.microsoft.com/office/drawing/2014/main" id="{5AE072BC-F70F-225C-93BF-ABECE25BBCB6}"/>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Ownership transfer and provisioning</a:t>
              </a:r>
              <a:endParaRPr lang="de-DE" sz="1800" dirty="0">
                <a:latin typeface="+mn-lt"/>
              </a:endParaRPr>
            </a:p>
          </p:txBody>
        </p:sp>
        <p:sp>
          <p:nvSpPr>
            <p:cNvPr id="12" name="MIO_AGENDA_ELEMENT_ELEMENTNUMBER_3">
              <a:hlinkClick r:id="rId19" action="ppaction://hlinksldjump"/>
              <a:extLst>
                <a:ext uri="{FF2B5EF4-FFF2-40B4-BE49-F238E27FC236}">
                  <a16:creationId xmlns:a16="http://schemas.microsoft.com/office/drawing/2014/main" id="{025A08E4-8F1B-5C72-3605-521EA665FEB6}"/>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9" action="ppaction://hlinksldjump"/>
              <a:extLst>
                <a:ext uri="{FF2B5EF4-FFF2-40B4-BE49-F238E27FC236}">
                  <a16:creationId xmlns:a16="http://schemas.microsoft.com/office/drawing/2014/main" id="{3C3A0C33-8A81-451C-6ABB-0D80AC33D5DE}"/>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11</a:t>
              </a:r>
              <a:endParaRPr lang="de-DE" sz="1800" dirty="0">
                <a:latin typeface="+mn-lt"/>
              </a:endParaRPr>
            </a:p>
          </p:txBody>
        </p:sp>
        <p:sp>
          <p:nvSpPr>
            <p:cNvPr id="14" name="MIO_AGENDA_ELEMENT_TITEL_4">
              <a:hlinkClick r:id="rId20" action="ppaction://hlinksldjump"/>
              <a:extLst>
                <a:ext uri="{FF2B5EF4-FFF2-40B4-BE49-F238E27FC236}">
                  <a16:creationId xmlns:a16="http://schemas.microsoft.com/office/drawing/2014/main" id="{32C41830-2F16-53AF-1684-9A81596491D4}"/>
                </a:ext>
              </a:extLst>
            </p:cNvPr>
            <p:cNvSpPr>
              <a:spLocks/>
            </p:cNvSpPr>
            <p:nvPr>
              <p:custDataLst>
                <p:tags r:id="rId12"/>
              </p:custDataLst>
            </p:nvPr>
          </p:nvSpPr>
          <p:spPr>
            <a:xfrm>
              <a:off x="1235076" y="2996411"/>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Secure boot</a:t>
              </a:r>
              <a:endParaRPr lang="de-DE" sz="1800" dirty="0">
                <a:latin typeface="+mn-lt"/>
              </a:endParaRPr>
            </a:p>
          </p:txBody>
        </p:sp>
        <p:sp>
          <p:nvSpPr>
            <p:cNvPr id="15" name="MIO_AGENDA_ELEMENT_ELEMENTNUMBER_4">
              <a:hlinkClick r:id="rId20" action="ppaction://hlinksldjump"/>
              <a:extLst>
                <a:ext uri="{FF2B5EF4-FFF2-40B4-BE49-F238E27FC236}">
                  <a16:creationId xmlns:a16="http://schemas.microsoft.com/office/drawing/2014/main" id="{2B15DDC1-AD00-8345-2EE0-06759815A94C}"/>
                </a:ext>
              </a:extLst>
            </p:cNvPr>
            <p:cNvSpPr>
              <a:spLocks noChangeAspect="1"/>
            </p:cNvSpPr>
            <p:nvPr>
              <p:custDataLst>
                <p:tags r:id="rId13"/>
              </p:custDataLst>
            </p:nvPr>
          </p:nvSpPr>
          <p:spPr>
            <a:xfrm>
              <a:off x="334434" y="2996411"/>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4</a:t>
              </a:r>
              <a:endParaRPr lang="de-DE" b="1" dirty="0">
                <a:solidFill>
                  <a:schemeClr val="bg1"/>
                </a:solidFill>
                <a:latin typeface="+mn-lt"/>
                <a:cs typeface="Arial" panose="020B0604020202020204" pitchFamily="34" charset="0"/>
              </a:endParaRPr>
            </a:p>
          </p:txBody>
        </p:sp>
        <p:sp>
          <p:nvSpPr>
            <p:cNvPr id="16" name="MIO_AGENDA_ELEMENT_PAGENUMBER_4">
              <a:hlinkClick r:id="rId20" action="ppaction://hlinksldjump"/>
              <a:extLst>
                <a:ext uri="{FF2B5EF4-FFF2-40B4-BE49-F238E27FC236}">
                  <a16:creationId xmlns:a16="http://schemas.microsoft.com/office/drawing/2014/main" id="{6074846D-25D7-FC46-ACA0-C9AA905E4144}"/>
                </a:ext>
              </a:extLst>
            </p:cNvPr>
            <p:cNvSpPr txBox="1">
              <a:spLocks/>
            </p:cNvSpPr>
            <p:nvPr>
              <p:custDataLst>
                <p:tags r:id="rId14"/>
              </p:custDataLst>
            </p:nvPr>
          </p:nvSpPr>
          <p:spPr>
            <a:xfrm>
              <a:off x="11026666" y="2996411"/>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17</a:t>
              </a:r>
              <a:endParaRPr lang="de-DE" sz="1800" dirty="0">
                <a:latin typeface="+mn-lt"/>
              </a:endParaRPr>
            </a:p>
          </p:txBody>
        </p:sp>
      </p:grpSp>
      <p:sp>
        <p:nvSpPr>
          <p:cNvPr id="2" name="Title 1">
            <a:extLst>
              <a:ext uri="{FF2B5EF4-FFF2-40B4-BE49-F238E27FC236}">
                <a16:creationId xmlns:a16="http://schemas.microsoft.com/office/drawing/2014/main" id="{CB801DFB-99AB-C3BB-1F36-2D09E28D5484}"/>
              </a:ext>
            </a:extLst>
          </p:cNvPr>
          <p:cNvSpPr>
            <a:spLocks noGrp="1"/>
          </p:cNvSpPr>
          <p:nvPr>
            <p:ph type="title"/>
            <p:custDataLst>
              <p:tags r:id="rId2"/>
            </p:custDataLst>
          </p:nvPr>
        </p:nvSpPr>
        <p:spPr/>
        <p:txBody>
          <a:bodyPr/>
          <a:lstStyle/>
          <a:p>
            <a:r>
              <a:rPr lang="en-IN"/>
              <a:t>Table of contents</a:t>
            </a:r>
          </a:p>
        </p:txBody>
      </p:sp>
    </p:spTree>
    <p:extLst>
      <p:ext uri="{BB962C8B-B14F-4D97-AF65-F5344CB8AC3E}">
        <p14:creationId xmlns:p14="http://schemas.microsoft.com/office/powerpoint/2010/main" val="1179855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A39FF2E0-7F69-E6C3-6158-00EFD07D47C3}"/>
              </a:ext>
            </a:extLst>
          </p:cNvPr>
          <p:cNvGrpSpPr/>
          <p:nvPr>
            <p:custDataLst>
              <p:tags r:id="rId1"/>
            </p:custDataLst>
          </p:nvPr>
        </p:nvGrpSpPr>
        <p:grpSpPr>
          <a:xfrm>
            <a:off x="334434" y="1268413"/>
            <a:ext cx="11521017" cy="2231998"/>
            <a:chOff x="334434" y="1268413"/>
            <a:chExt cx="11521017" cy="2231998"/>
          </a:xfrm>
        </p:grpSpPr>
        <p:sp>
          <p:nvSpPr>
            <p:cNvPr id="5" name="MIO_AGENDA_ELEMENT_TITEL_1">
              <a:hlinkClick r:id="rId17" action="ppaction://hlinksldjump"/>
              <a:extLst>
                <a:ext uri="{FF2B5EF4-FFF2-40B4-BE49-F238E27FC236}">
                  <a16:creationId xmlns:a16="http://schemas.microsoft.com/office/drawing/2014/main" id="{3F7026B9-1F31-1AD7-7B53-BE8C80AAA044}"/>
                </a:ext>
              </a:extLst>
            </p:cNvPr>
            <p:cNvSpPr>
              <a:spLocks/>
            </p:cNvSpPr>
            <p:nvPr>
              <p:custDataLst>
                <p:tags r:id="rId3"/>
              </p:custDataLst>
            </p:nvPr>
          </p:nvSpPr>
          <p:spPr>
            <a:xfrm>
              <a:off x="1235075" y="1268413"/>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b="1">
                  <a:solidFill>
                    <a:schemeClr val="tx2"/>
                  </a:solidFill>
                  <a:latin typeface="+mn-lt"/>
                </a:rPr>
                <a:t>Security by design</a:t>
              </a:r>
              <a:endParaRPr lang="de-DE" sz="1800" b="1" dirty="0">
                <a:solidFill>
                  <a:schemeClr val="tx2"/>
                </a:solidFill>
                <a:latin typeface="+mn-lt"/>
              </a:endParaRPr>
            </a:p>
          </p:txBody>
        </p:sp>
        <p:sp>
          <p:nvSpPr>
            <p:cNvPr id="6" name="MIO_AGENDA_ELEMENT_ELEMENTNUMBER_1">
              <a:hlinkClick r:id="rId17" action="ppaction://hlinksldjump"/>
              <a:extLst>
                <a:ext uri="{FF2B5EF4-FFF2-40B4-BE49-F238E27FC236}">
                  <a16:creationId xmlns:a16="http://schemas.microsoft.com/office/drawing/2014/main" id="{ACD1D6A0-811C-9D40-3F66-6A9615283C5C}"/>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7" action="ppaction://hlinksldjump"/>
              <a:extLst>
                <a:ext uri="{FF2B5EF4-FFF2-40B4-BE49-F238E27FC236}">
                  <a16:creationId xmlns:a16="http://schemas.microsoft.com/office/drawing/2014/main" id="{69C304E5-845A-1C1F-7CD0-AC24DB96A7E5}"/>
                </a:ext>
              </a:extLst>
            </p:cNvPr>
            <p:cNvSpPr txBox="1">
              <a:spLocks/>
            </p:cNvSpPr>
            <p:nvPr>
              <p:custDataLst>
                <p:tags r:id="rId5"/>
              </p:custDataLst>
            </p:nvPr>
          </p:nvSpPr>
          <p:spPr>
            <a:xfrm>
              <a:off x="11026666" y="1268413"/>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3</a:t>
              </a:r>
              <a:endParaRPr lang="de-DE" sz="1800" b="1" dirty="0">
                <a:solidFill>
                  <a:schemeClr val="tx2"/>
                </a:solidFill>
                <a:latin typeface="+mn-lt"/>
                <a:cs typeface="Segoe UI Semibold" panose="020B0702040204020203" pitchFamily="34" charset="0"/>
              </a:endParaRPr>
            </a:p>
          </p:txBody>
        </p:sp>
        <p:sp>
          <p:nvSpPr>
            <p:cNvPr id="8" name="MIO_AGENDA_ELEMENT_TITEL_2">
              <a:hlinkClick r:id="rId18" action="ppaction://hlinksldjump"/>
              <a:extLst>
                <a:ext uri="{FF2B5EF4-FFF2-40B4-BE49-F238E27FC236}">
                  <a16:creationId xmlns:a16="http://schemas.microsoft.com/office/drawing/2014/main" id="{384FF961-7791-A8E7-591A-2DD964634F72}"/>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Device life cycle stage (LCS)</a:t>
              </a:r>
              <a:endParaRPr lang="de-DE" sz="1800" dirty="0">
                <a:latin typeface="+mn-lt"/>
              </a:endParaRPr>
            </a:p>
          </p:txBody>
        </p:sp>
        <p:sp>
          <p:nvSpPr>
            <p:cNvPr id="9" name="MIO_AGENDA_ELEMENT_ELEMENTNUMBER_2">
              <a:hlinkClick r:id="rId18" action="ppaction://hlinksldjump"/>
              <a:extLst>
                <a:ext uri="{FF2B5EF4-FFF2-40B4-BE49-F238E27FC236}">
                  <a16:creationId xmlns:a16="http://schemas.microsoft.com/office/drawing/2014/main" id="{F37EE228-7E8B-0E1E-37EF-EE6F0F4D0E46}"/>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8" action="ppaction://hlinksldjump"/>
              <a:extLst>
                <a:ext uri="{FF2B5EF4-FFF2-40B4-BE49-F238E27FC236}">
                  <a16:creationId xmlns:a16="http://schemas.microsoft.com/office/drawing/2014/main" id="{67BE1925-1344-27E4-3444-F2CC3B3474A7}"/>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6</a:t>
              </a:r>
              <a:endParaRPr lang="de-DE" sz="1800" dirty="0">
                <a:latin typeface="+mn-lt"/>
              </a:endParaRPr>
            </a:p>
          </p:txBody>
        </p:sp>
        <p:sp>
          <p:nvSpPr>
            <p:cNvPr id="11" name="MIO_AGENDA_ELEMENT_TITEL_3">
              <a:hlinkClick r:id="rId19" action="ppaction://hlinksldjump"/>
              <a:extLst>
                <a:ext uri="{FF2B5EF4-FFF2-40B4-BE49-F238E27FC236}">
                  <a16:creationId xmlns:a16="http://schemas.microsoft.com/office/drawing/2014/main" id="{53C65F34-A953-38FC-344C-91564F03D4DA}"/>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Ownership transfer and provisioning</a:t>
              </a:r>
              <a:endParaRPr lang="de-DE" sz="1800" dirty="0">
                <a:latin typeface="+mn-lt"/>
              </a:endParaRPr>
            </a:p>
          </p:txBody>
        </p:sp>
        <p:sp>
          <p:nvSpPr>
            <p:cNvPr id="12" name="MIO_AGENDA_ELEMENT_ELEMENTNUMBER_3">
              <a:hlinkClick r:id="rId19" action="ppaction://hlinksldjump"/>
              <a:extLst>
                <a:ext uri="{FF2B5EF4-FFF2-40B4-BE49-F238E27FC236}">
                  <a16:creationId xmlns:a16="http://schemas.microsoft.com/office/drawing/2014/main" id="{6D4E8121-A9D8-A5F9-3BF1-D81099DF6FFA}"/>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9" action="ppaction://hlinksldjump"/>
              <a:extLst>
                <a:ext uri="{FF2B5EF4-FFF2-40B4-BE49-F238E27FC236}">
                  <a16:creationId xmlns:a16="http://schemas.microsoft.com/office/drawing/2014/main" id="{3FC045C2-7DAB-45E4-835D-D32D54A7F889}"/>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11</a:t>
              </a:r>
              <a:endParaRPr lang="de-DE" sz="1800" dirty="0">
                <a:latin typeface="+mn-lt"/>
              </a:endParaRPr>
            </a:p>
          </p:txBody>
        </p:sp>
        <p:sp>
          <p:nvSpPr>
            <p:cNvPr id="14" name="MIO_AGENDA_ELEMENT_TITEL_4">
              <a:hlinkClick r:id="rId20" action="ppaction://hlinksldjump"/>
              <a:extLst>
                <a:ext uri="{FF2B5EF4-FFF2-40B4-BE49-F238E27FC236}">
                  <a16:creationId xmlns:a16="http://schemas.microsoft.com/office/drawing/2014/main" id="{CBF8D6B4-F6C6-416B-F619-2459A2BCD2ED}"/>
                </a:ext>
              </a:extLst>
            </p:cNvPr>
            <p:cNvSpPr>
              <a:spLocks/>
            </p:cNvSpPr>
            <p:nvPr>
              <p:custDataLst>
                <p:tags r:id="rId12"/>
              </p:custDataLst>
            </p:nvPr>
          </p:nvSpPr>
          <p:spPr>
            <a:xfrm>
              <a:off x="1235076" y="2996411"/>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Secure boot</a:t>
              </a:r>
              <a:endParaRPr lang="de-DE" sz="1800" dirty="0">
                <a:latin typeface="+mn-lt"/>
              </a:endParaRPr>
            </a:p>
          </p:txBody>
        </p:sp>
        <p:sp>
          <p:nvSpPr>
            <p:cNvPr id="15" name="MIO_AGENDA_ELEMENT_ELEMENTNUMBER_4">
              <a:hlinkClick r:id="rId20" action="ppaction://hlinksldjump"/>
              <a:extLst>
                <a:ext uri="{FF2B5EF4-FFF2-40B4-BE49-F238E27FC236}">
                  <a16:creationId xmlns:a16="http://schemas.microsoft.com/office/drawing/2014/main" id="{359D0F59-8F48-D4E6-CDD9-ABA611175382}"/>
                </a:ext>
              </a:extLst>
            </p:cNvPr>
            <p:cNvSpPr>
              <a:spLocks noChangeAspect="1"/>
            </p:cNvSpPr>
            <p:nvPr>
              <p:custDataLst>
                <p:tags r:id="rId13"/>
              </p:custDataLst>
            </p:nvPr>
          </p:nvSpPr>
          <p:spPr>
            <a:xfrm>
              <a:off x="334434" y="2996411"/>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4</a:t>
              </a:r>
              <a:endParaRPr lang="de-DE" b="1" dirty="0">
                <a:solidFill>
                  <a:schemeClr val="bg1"/>
                </a:solidFill>
                <a:latin typeface="+mn-lt"/>
                <a:cs typeface="Arial" panose="020B0604020202020204" pitchFamily="34" charset="0"/>
              </a:endParaRPr>
            </a:p>
          </p:txBody>
        </p:sp>
        <p:sp>
          <p:nvSpPr>
            <p:cNvPr id="16" name="MIO_AGENDA_ELEMENT_PAGENUMBER_4">
              <a:hlinkClick r:id="rId20" action="ppaction://hlinksldjump"/>
              <a:extLst>
                <a:ext uri="{FF2B5EF4-FFF2-40B4-BE49-F238E27FC236}">
                  <a16:creationId xmlns:a16="http://schemas.microsoft.com/office/drawing/2014/main" id="{2A67D536-7B22-784D-F85D-EA3FC830516A}"/>
                </a:ext>
              </a:extLst>
            </p:cNvPr>
            <p:cNvSpPr txBox="1">
              <a:spLocks/>
            </p:cNvSpPr>
            <p:nvPr>
              <p:custDataLst>
                <p:tags r:id="rId14"/>
              </p:custDataLst>
            </p:nvPr>
          </p:nvSpPr>
          <p:spPr>
            <a:xfrm>
              <a:off x="11026666" y="2996411"/>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17</a:t>
              </a:r>
              <a:endParaRPr lang="de-DE" sz="1800" dirty="0">
                <a:latin typeface="+mn-lt"/>
              </a:endParaRPr>
            </a:p>
          </p:txBody>
        </p:sp>
      </p:grpSp>
      <p:sp>
        <p:nvSpPr>
          <p:cNvPr id="2" name="Title 1">
            <a:extLst>
              <a:ext uri="{FF2B5EF4-FFF2-40B4-BE49-F238E27FC236}">
                <a16:creationId xmlns:a16="http://schemas.microsoft.com/office/drawing/2014/main" id="{CB801DFB-99AB-C3BB-1F36-2D09E28D5484}"/>
              </a:ext>
            </a:extLst>
          </p:cNvPr>
          <p:cNvSpPr>
            <a:spLocks noGrp="1"/>
          </p:cNvSpPr>
          <p:nvPr>
            <p:ph type="title"/>
            <p:custDataLst>
              <p:tags r:id="rId2"/>
            </p:custDataLst>
          </p:nvPr>
        </p:nvSpPr>
        <p:spPr/>
        <p:txBody>
          <a:bodyPr/>
          <a:lstStyle/>
          <a:p>
            <a:r>
              <a:rPr lang="en-IN"/>
              <a:t>Table of contents</a:t>
            </a:r>
          </a:p>
        </p:txBody>
      </p:sp>
    </p:spTree>
    <p:extLst>
      <p:ext uri="{BB962C8B-B14F-4D97-AF65-F5344CB8AC3E}">
        <p14:creationId xmlns:p14="http://schemas.microsoft.com/office/powerpoint/2010/main" val="119532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hasCustomPrompt="1"/>
          </p:nvPr>
        </p:nvSpPr>
        <p:spPr>
          <a:xfrm>
            <a:off x="334800" y="1268414"/>
            <a:ext cx="11520000" cy="5113337"/>
          </a:xfrm>
        </p:spPr>
        <p:txBody>
          <a:bodyPr wrap="square"/>
          <a:lstStyle/>
          <a:p>
            <a:r>
              <a:rPr lang="en-US" sz="1600" dirty="0"/>
              <a:t>The threat is real</a:t>
            </a:r>
          </a:p>
          <a:p>
            <a:pPr lvl="1"/>
            <a:r>
              <a:rPr lang="en-US" sz="1400" dirty="0"/>
              <a:t>Motor and power control systems directly affect physical infrastructure</a:t>
            </a:r>
          </a:p>
          <a:p>
            <a:pPr lvl="1"/>
            <a:r>
              <a:rPr lang="en-US" sz="1400" dirty="0"/>
              <a:t>A compromised device is not just a data breach — it is a safety risk</a:t>
            </a:r>
            <a:endParaRPr lang="en-US" sz="1600" dirty="0"/>
          </a:p>
          <a:p>
            <a:r>
              <a:rPr lang="en-US" sz="1600" dirty="0"/>
              <a:t>What attackers exploit</a:t>
            </a:r>
          </a:p>
          <a:p>
            <a:endParaRPr lang="en-US" sz="1600" dirty="0"/>
          </a:p>
          <a:p>
            <a:endParaRPr lang="en-US" sz="1600" dirty="0"/>
          </a:p>
          <a:p>
            <a:endParaRPr lang="en-US" sz="1600" dirty="0"/>
          </a:p>
          <a:p>
            <a:endParaRPr lang="en-US" sz="1600" dirty="0"/>
          </a:p>
          <a:p>
            <a:endParaRPr lang="en-US" sz="1600" dirty="0"/>
          </a:p>
          <a:p>
            <a:pPr marL="0" indent="0">
              <a:buNone/>
            </a:pPr>
            <a:endParaRPr lang="en-US" sz="1600" dirty="0"/>
          </a:p>
          <a:p>
            <a:r>
              <a:rPr lang="en-US" sz="1600" dirty="0"/>
              <a:t>Security must be built in – not bolted on</a:t>
            </a:r>
          </a:p>
        </p:txBody>
      </p:sp>
      <p:sp>
        <p:nvSpPr>
          <p:cNvPr id="3" name="Title 2"/>
          <p:cNvSpPr>
            <a:spLocks noGrp="1"/>
          </p:cNvSpPr>
          <p:nvPr>
            <p:ph type="title" hasCustomPrompt="1"/>
          </p:nvPr>
        </p:nvSpPr>
        <p:spPr/>
        <p:txBody>
          <a:bodyPr wrap="square"/>
          <a:lstStyle/>
          <a:p>
            <a:r>
              <a:rPr lang="en-US" dirty="0"/>
              <a:t>Why security on embedded MCUs?</a:t>
            </a:r>
            <a:endParaRPr dirty="0"/>
          </a:p>
        </p:txBody>
      </p:sp>
      <p:graphicFrame>
        <p:nvGraphicFramePr>
          <p:cNvPr id="4" name="01 Plain">
            <a:extLst>
              <a:ext uri="{FF2B5EF4-FFF2-40B4-BE49-F238E27FC236}">
                <a16:creationId xmlns:a16="http://schemas.microsoft.com/office/drawing/2014/main" id="{6B79E7AC-AB7F-40D7-A0E6-0BBBA7BBDC9A}"/>
              </a:ext>
            </a:extLst>
          </p:cNvPr>
          <p:cNvGraphicFramePr>
            <a:graphicFrameLocks/>
          </p:cNvGraphicFramePr>
          <p:nvPr>
            <p:custDataLst>
              <p:tags r:id="rId1"/>
            </p:custDataLst>
            <p:extLst>
              <p:ext uri="{D42A27DB-BD31-4B8C-83A1-F6EECF244321}">
                <p14:modId xmlns:p14="http://schemas.microsoft.com/office/powerpoint/2010/main" val="4226501626"/>
              </p:ext>
            </p:extLst>
          </p:nvPr>
        </p:nvGraphicFramePr>
        <p:xfrm>
          <a:off x="363562" y="2420888"/>
          <a:ext cx="11491238" cy="1634480"/>
        </p:xfrm>
        <a:graphic>
          <a:graphicData uri="http://schemas.openxmlformats.org/drawingml/2006/table">
            <a:tbl>
              <a:tblPr firstRow="1">
                <a:tableStyleId>{5C22544A-7EE6-4342-B048-85BDC9FD1C3A}</a:tableStyleId>
              </a:tblPr>
              <a:tblGrid>
                <a:gridCol w="2715121">
                  <a:extLst>
                    <a:ext uri="{9D8B030D-6E8A-4147-A177-3AD203B41FA5}">
                      <a16:colId xmlns:a16="http://schemas.microsoft.com/office/drawing/2014/main" val="3856644792"/>
                    </a:ext>
                  </a:extLst>
                </a:gridCol>
                <a:gridCol w="8776117">
                  <a:extLst>
                    <a:ext uri="{9D8B030D-6E8A-4147-A177-3AD203B41FA5}">
                      <a16:colId xmlns:a16="http://schemas.microsoft.com/office/drawing/2014/main" val="20003"/>
                    </a:ext>
                  </a:extLst>
                </a:gridCol>
              </a:tblGrid>
              <a:tr h="326896">
                <a:tc>
                  <a:txBody>
                    <a:bodyPr/>
                    <a:lstStyle/>
                    <a:p>
                      <a:r>
                        <a:rPr lang="en-US" sz="1400" dirty="0"/>
                        <a:t>A</a:t>
                      </a:r>
                      <a:r>
                        <a:rPr lang="en-IN" sz="1400" dirty="0" err="1"/>
                        <a:t>ttack</a:t>
                      </a:r>
                      <a:r>
                        <a:rPr lang="en-IN" sz="1400" dirty="0"/>
                        <a:t> vector</a:t>
                      </a:r>
                    </a:p>
                  </a:txBody>
                  <a:tcPr/>
                </a:tc>
                <a:tc>
                  <a:txBody>
                    <a:bodyPr/>
                    <a:lstStyle/>
                    <a:p>
                      <a:r>
                        <a:rPr lang="en-US" sz="1400" dirty="0"/>
                        <a:t>Example</a:t>
                      </a:r>
                      <a:endParaRPr lang="en-IN" sz="1400" dirty="0"/>
                    </a:p>
                  </a:txBody>
                  <a:tcPr/>
                </a:tc>
                <a:extLst>
                  <a:ext uri="{0D108BD9-81ED-4DB2-BD59-A6C34878D82A}">
                    <a16:rowId xmlns:a16="http://schemas.microsoft.com/office/drawing/2014/main" val="3233474513"/>
                  </a:ext>
                </a:extLst>
              </a:tr>
              <a:tr h="326896">
                <a:tc>
                  <a:txBody>
                    <a:bodyPr/>
                    <a:lstStyle/>
                    <a:p>
                      <a:r>
                        <a:rPr lang="en-IN" sz="1400" dirty="0"/>
                        <a:t>Software</a:t>
                      </a:r>
                    </a:p>
                  </a:txBody>
                  <a:tcPr/>
                </a:tc>
                <a:tc>
                  <a:txBody>
                    <a:bodyPr/>
                    <a:lstStyle/>
                    <a:p>
                      <a:r>
                        <a:rPr lang="en-US" sz="1400" dirty="0"/>
                        <a:t>Malicious firmware update, debug port abuse</a:t>
                      </a:r>
                    </a:p>
                  </a:txBody>
                  <a:tcPr/>
                </a:tc>
                <a:extLst>
                  <a:ext uri="{0D108BD9-81ED-4DB2-BD59-A6C34878D82A}">
                    <a16:rowId xmlns:a16="http://schemas.microsoft.com/office/drawing/2014/main" val="4087743117"/>
                  </a:ext>
                </a:extLst>
              </a:tr>
              <a:tr h="326896">
                <a:tc>
                  <a:txBody>
                    <a:bodyPr/>
                    <a:lstStyle/>
                    <a:p>
                      <a:r>
                        <a:rPr lang="en-US" sz="1400" dirty="0"/>
                        <a:t>Physical</a:t>
                      </a:r>
                      <a:endParaRPr lang="en-IN" sz="1400" dirty="0"/>
                    </a:p>
                  </a:txBody>
                  <a:tcPr/>
                </a:tc>
                <a:tc>
                  <a:txBody>
                    <a:bodyPr/>
                    <a:lstStyle/>
                    <a:p>
                      <a:r>
                        <a:rPr lang="en-US" sz="1400" dirty="0"/>
                        <a:t>Voltage glitch, clock manipulation, flash readout</a:t>
                      </a:r>
                    </a:p>
                  </a:txBody>
                  <a:tcPr/>
                </a:tc>
                <a:extLst>
                  <a:ext uri="{0D108BD9-81ED-4DB2-BD59-A6C34878D82A}">
                    <a16:rowId xmlns:a16="http://schemas.microsoft.com/office/drawing/2014/main" val="457912053"/>
                  </a:ext>
                </a:extLst>
              </a:tr>
              <a:tr h="326896">
                <a:tc>
                  <a:txBody>
                    <a:bodyPr/>
                    <a:lstStyle/>
                    <a:p>
                      <a:r>
                        <a:rPr lang="en-US" sz="1400" dirty="0"/>
                        <a:t>Supply chain</a:t>
                      </a:r>
                      <a:endParaRPr lang="en-IN" sz="1400" dirty="0"/>
                    </a:p>
                  </a:txBody>
                  <a:tcPr/>
                </a:tc>
                <a:tc>
                  <a:txBody>
                    <a:bodyPr/>
                    <a:lstStyle/>
                    <a:p>
                      <a:r>
                        <a:rPr lang="en-IN" sz="1400" dirty="0"/>
                        <a:t>Counterfeit devices, cloned firmware</a:t>
                      </a:r>
                    </a:p>
                  </a:txBody>
                  <a:tcPr/>
                </a:tc>
                <a:extLst>
                  <a:ext uri="{0D108BD9-81ED-4DB2-BD59-A6C34878D82A}">
                    <a16:rowId xmlns:a16="http://schemas.microsoft.com/office/drawing/2014/main" val="3409824617"/>
                  </a:ext>
                </a:extLst>
              </a:tr>
              <a:tr h="326896">
                <a:tc>
                  <a:txBody>
                    <a:bodyPr/>
                    <a:lstStyle/>
                    <a:p>
                      <a:r>
                        <a:rPr lang="en-US" sz="1400" dirty="0"/>
                        <a:t>Lifecycle</a:t>
                      </a:r>
                      <a:endParaRPr lang="en-IN" sz="1400" dirty="0"/>
                    </a:p>
                  </a:txBody>
                  <a:tcPr/>
                </a:tc>
                <a:tc>
                  <a:txBody>
                    <a:bodyPr/>
                    <a:lstStyle/>
                    <a:p>
                      <a:r>
                        <a:rPr lang="en-US" sz="1400" dirty="0"/>
                        <a:t>Devices in wrong hands at wrong stage</a:t>
                      </a:r>
                    </a:p>
                  </a:txBody>
                  <a:tcPr/>
                </a:tc>
                <a:extLst>
                  <a:ext uri="{0D108BD9-81ED-4DB2-BD59-A6C34878D82A}">
                    <a16:rowId xmlns:a16="http://schemas.microsoft.com/office/drawing/2014/main" val="1219682327"/>
                  </a:ext>
                </a:extLst>
              </a:tr>
            </a:tbl>
          </a:graphicData>
        </a:graphic>
      </p:graphicFrame>
    </p:spTree>
    <p:extLst>
      <p:ext uri="{BB962C8B-B14F-4D97-AF65-F5344CB8AC3E}">
        <p14:creationId xmlns:p14="http://schemas.microsoft.com/office/powerpoint/2010/main" val="324482593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hasCustomPrompt="1"/>
          </p:nvPr>
        </p:nvSpPr>
        <p:spPr/>
        <p:txBody>
          <a:bodyPr/>
          <a:lstStyle/>
          <a:p>
            <a:r>
              <a:rPr dirty="0"/>
              <a:t>PSOC™ C3 </a:t>
            </a:r>
            <a:r>
              <a:rPr lang="en-IN" dirty="0"/>
              <a:t>security architecture</a:t>
            </a:r>
            <a:endParaRPr dirty="0"/>
          </a:p>
        </p:txBody>
      </p:sp>
      <p:sp>
        <p:nvSpPr>
          <p:cNvPr id="5" name="Oval 36">
            <a:extLst>
              <a:ext uri="{FF2B5EF4-FFF2-40B4-BE49-F238E27FC236}">
                <a16:creationId xmlns:a16="http://schemas.microsoft.com/office/drawing/2014/main" id="{1501EF7D-0999-3E44-AC09-628424A12CA2}"/>
              </a:ext>
            </a:extLst>
          </p:cNvPr>
          <p:cNvSpPr/>
          <p:nvPr/>
        </p:nvSpPr>
        <p:spPr>
          <a:xfrm>
            <a:off x="5169238" y="2902901"/>
            <a:ext cx="1864354" cy="187344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6" name="Oval 37">
            <a:extLst>
              <a:ext uri="{FF2B5EF4-FFF2-40B4-BE49-F238E27FC236}">
                <a16:creationId xmlns:a16="http://schemas.microsoft.com/office/drawing/2014/main" id="{44B15514-CD0E-4DD0-5F9D-7F983D7C6713}"/>
              </a:ext>
            </a:extLst>
          </p:cNvPr>
          <p:cNvSpPr/>
          <p:nvPr/>
        </p:nvSpPr>
        <p:spPr>
          <a:xfrm>
            <a:off x="5342058" y="3076565"/>
            <a:ext cx="1518713" cy="15261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7" name="TextBox 38">
            <a:extLst>
              <a:ext uri="{FF2B5EF4-FFF2-40B4-BE49-F238E27FC236}">
                <a16:creationId xmlns:a16="http://schemas.microsoft.com/office/drawing/2014/main" id="{142E60CF-0C38-E2E4-B618-8803212AF466}"/>
              </a:ext>
            </a:extLst>
          </p:cNvPr>
          <p:cNvSpPr txBox="1"/>
          <p:nvPr/>
        </p:nvSpPr>
        <p:spPr>
          <a:xfrm>
            <a:off x="5421116" y="3683451"/>
            <a:ext cx="1349767" cy="338554"/>
          </a:xfrm>
          <a:prstGeom prst="rect">
            <a:avLst/>
          </a:prstGeom>
          <a:noFill/>
        </p:spPr>
        <p:txBody>
          <a:bodyPr wrap="squar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600" b="1" i="0" u="none" strike="noStrike" kern="1200" cap="none" spc="0" normalizeH="0" baseline="0" noProof="0" dirty="0">
                <a:ln>
                  <a:noFill/>
                </a:ln>
                <a:solidFill>
                  <a:srgbClr val="0A8276"/>
                </a:solidFill>
                <a:effectLst/>
                <a:uLnTx/>
                <a:uFillTx/>
                <a:latin typeface="Arial" panose="020B0604020202020204" pitchFamily="34" charset="0"/>
                <a:cs typeface="Arial" panose="020B0604020202020204" pitchFamily="34" charset="0"/>
              </a:rPr>
              <a:t>PSOC</a:t>
            </a:r>
            <a:r>
              <a:rPr kumimoji="0" lang="en-IN" sz="1600" b="1" i="0" u="none" strike="noStrike" kern="1200" cap="none" spc="0" normalizeH="0" baseline="0" noProof="0" dirty="0">
                <a:ln>
                  <a:noFill/>
                </a:ln>
                <a:solidFill>
                  <a:srgbClr val="0A8276"/>
                </a:solidFill>
                <a:effectLst/>
                <a:uLnTx/>
                <a:uFillTx/>
                <a:latin typeface="Arial" charset="0"/>
                <a:cs typeface="Arial"/>
              </a:rPr>
              <a:t>™</a:t>
            </a:r>
            <a:r>
              <a:rPr kumimoji="0" lang="de-DE" sz="1600" b="1" i="0" u="none" strike="noStrike" kern="1200" cap="none" spc="0" normalizeH="0" baseline="0" noProof="0" dirty="0">
                <a:ln>
                  <a:noFill/>
                </a:ln>
                <a:solidFill>
                  <a:srgbClr val="0A8276"/>
                </a:solidFill>
                <a:effectLst/>
                <a:uLnTx/>
                <a:uFillTx/>
                <a:latin typeface="Arial" panose="020B0604020202020204" pitchFamily="34" charset="0"/>
                <a:cs typeface="Arial" panose="020B0604020202020204" pitchFamily="34" charset="0"/>
              </a:rPr>
              <a:t> C3</a:t>
            </a:r>
          </a:p>
        </p:txBody>
      </p:sp>
      <p:cxnSp>
        <p:nvCxnSpPr>
          <p:cNvPr id="9" name="Gerade Verbindung 16">
            <a:extLst>
              <a:ext uri="{FF2B5EF4-FFF2-40B4-BE49-F238E27FC236}">
                <a16:creationId xmlns:a16="http://schemas.microsoft.com/office/drawing/2014/main" id="{90F92063-0DAF-08E4-8800-8856920031FA}"/>
              </a:ext>
            </a:extLst>
          </p:cNvPr>
          <p:cNvCxnSpPr>
            <a:cxnSpLocks/>
          </p:cNvCxnSpPr>
          <p:nvPr/>
        </p:nvCxnSpPr>
        <p:spPr>
          <a:xfrm flipV="1">
            <a:off x="7325468" y="3819458"/>
            <a:ext cx="1011444" cy="1754"/>
          </a:xfrm>
          <a:prstGeom prst="line">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10" name="Oval 11">
            <a:extLst>
              <a:ext uri="{FF2B5EF4-FFF2-40B4-BE49-F238E27FC236}">
                <a16:creationId xmlns:a16="http://schemas.microsoft.com/office/drawing/2014/main" id="{54FCD52C-9F0C-9B50-91B2-3F5B8277645E}"/>
              </a:ext>
            </a:extLst>
          </p:cNvPr>
          <p:cNvSpPr/>
          <p:nvPr/>
        </p:nvSpPr>
        <p:spPr>
          <a:xfrm>
            <a:off x="7200381" y="3757486"/>
            <a:ext cx="125087" cy="1257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4" name="Freihandform 21">
            <a:extLst>
              <a:ext uri="{FF2B5EF4-FFF2-40B4-BE49-F238E27FC236}">
                <a16:creationId xmlns:a16="http://schemas.microsoft.com/office/drawing/2014/main" id="{1DCF909E-8BAC-56CD-1196-599B6FD33BFF}"/>
              </a:ext>
            </a:extLst>
          </p:cNvPr>
          <p:cNvSpPr/>
          <p:nvPr/>
        </p:nvSpPr>
        <p:spPr bwMode="auto">
          <a:xfrm flipV="1">
            <a:off x="6521778" y="2009388"/>
            <a:ext cx="1815141" cy="654383"/>
          </a:xfrm>
          <a:custGeom>
            <a:avLst/>
            <a:gdLst>
              <a:gd name="connsiteX0" fmla="*/ 1450848 w 1450848"/>
              <a:gd name="connsiteY0" fmla="*/ 792480 h 792480"/>
              <a:gd name="connsiteX1" fmla="*/ 780288 w 1450848"/>
              <a:gd name="connsiteY1" fmla="*/ 792480 h 792480"/>
              <a:gd name="connsiteX2" fmla="*/ 0 w 1450848"/>
              <a:gd name="connsiteY2" fmla="*/ 0 h 792480"/>
            </a:gdLst>
            <a:ahLst/>
            <a:cxnLst>
              <a:cxn ang="0">
                <a:pos x="connsiteX0" y="connsiteY0"/>
              </a:cxn>
              <a:cxn ang="0">
                <a:pos x="connsiteX1" y="connsiteY1"/>
              </a:cxn>
              <a:cxn ang="0">
                <a:pos x="connsiteX2" y="connsiteY2"/>
              </a:cxn>
            </a:cxnLst>
            <a:rect l="l" t="t" r="r" b="b"/>
            <a:pathLst>
              <a:path w="1450848" h="792480">
                <a:moveTo>
                  <a:pt x="1450848" y="792480"/>
                </a:moveTo>
                <a:lnTo>
                  <a:pt x="780288" y="792480"/>
                </a:lnTo>
                <a:lnTo>
                  <a:pt x="0" y="0"/>
                </a:lnTo>
              </a:path>
            </a:pathLst>
          </a:custGeom>
          <a:noFill/>
          <a:ln w="6350">
            <a:solidFill>
              <a:schemeClr val="tx2"/>
            </a:solidFill>
            <a:miter lim="800000"/>
            <a:headEnd/>
            <a:tailEnd/>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1D1D1D"/>
              </a:solidFill>
              <a:effectLst/>
              <a:uLnTx/>
              <a:uFillTx/>
              <a:latin typeface="Arial" charset="0"/>
              <a:cs typeface="Arial"/>
            </a:endParaRPr>
          </a:p>
        </p:txBody>
      </p:sp>
      <p:sp>
        <p:nvSpPr>
          <p:cNvPr id="15" name="Oval 15">
            <a:extLst>
              <a:ext uri="{FF2B5EF4-FFF2-40B4-BE49-F238E27FC236}">
                <a16:creationId xmlns:a16="http://schemas.microsoft.com/office/drawing/2014/main" id="{2E8F2B0B-2FB4-A919-3444-5F8EE2690F80}"/>
              </a:ext>
            </a:extLst>
          </p:cNvPr>
          <p:cNvSpPr/>
          <p:nvPr/>
        </p:nvSpPr>
        <p:spPr>
          <a:xfrm>
            <a:off x="6425230" y="2652138"/>
            <a:ext cx="125087" cy="1257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7" name="Rechteck 16">
            <a:extLst>
              <a:ext uri="{FF2B5EF4-FFF2-40B4-BE49-F238E27FC236}">
                <a16:creationId xmlns:a16="http://schemas.microsoft.com/office/drawing/2014/main" id="{D7691AFF-2E4E-C203-E2A8-71B9B9E812B0}"/>
              </a:ext>
            </a:extLst>
          </p:cNvPr>
          <p:cNvSpPr/>
          <p:nvPr/>
        </p:nvSpPr>
        <p:spPr bwMode="auto">
          <a:xfrm>
            <a:off x="8336916" y="1186392"/>
            <a:ext cx="3735748" cy="1485914"/>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DCD5D7"/>
                </a:solidFill>
                <a:prstDash val="solid"/>
                <a:round/>
                <a:headEnd type="none" w="med" len="med"/>
                <a:tailEnd type="none" w="med" len="med"/>
              </a14:hiddenLine>
            </a:ext>
          </a:extLst>
        </p:spPr>
        <p:txBody>
          <a:bodyPr vert="horz" lIns="180000" tIns="72000" rIns="72000" bIns="72000" rtlCol="0" anchor="ctr">
            <a:noAutofit/>
          </a:bodyPr>
          <a:lstStyle/>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IN" sz="1400" b="1" i="0" u="none" strike="noStrike" kern="1200" cap="none" spc="0" normalizeH="0" baseline="0" noProof="0" dirty="0">
                <a:ln>
                  <a:noFill/>
                </a:ln>
                <a:solidFill>
                  <a:srgbClr val="0A8276"/>
                </a:solidFill>
                <a:effectLst/>
                <a:uLnTx/>
                <a:uFillTx/>
                <a:latin typeface="Arial" charset="0"/>
                <a:cs typeface="Arial"/>
              </a:rPr>
              <a:t>Lifecycle management</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OTP-locked LCS</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Device ownership</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Debug Access Port management</a:t>
            </a:r>
          </a:p>
          <a:p>
            <a:pPr marL="895335" marR="0" lvl="1"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Permanently lock DAP</a:t>
            </a:r>
          </a:p>
          <a:p>
            <a:pPr marL="895335" marR="0" lvl="1"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Authenticated Debug access</a:t>
            </a:r>
          </a:p>
        </p:txBody>
      </p:sp>
      <p:sp>
        <p:nvSpPr>
          <p:cNvPr id="19" name="Rechteck 18">
            <a:extLst>
              <a:ext uri="{FF2B5EF4-FFF2-40B4-BE49-F238E27FC236}">
                <a16:creationId xmlns:a16="http://schemas.microsoft.com/office/drawing/2014/main" id="{36B615A3-5A04-C633-C840-C534C1BF9143}"/>
              </a:ext>
            </a:extLst>
          </p:cNvPr>
          <p:cNvSpPr/>
          <p:nvPr/>
        </p:nvSpPr>
        <p:spPr bwMode="auto">
          <a:xfrm>
            <a:off x="8336916" y="3080031"/>
            <a:ext cx="3517883" cy="1473453"/>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DCD5D7"/>
                </a:solidFill>
                <a:prstDash val="solid"/>
                <a:round/>
                <a:headEnd type="none" w="med" len="med"/>
                <a:tailEnd type="none" w="med" len="med"/>
              </a14:hiddenLine>
            </a:ext>
          </a:extLst>
        </p:spPr>
        <p:txBody>
          <a:bodyPr vert="horz" lIns="180000" tIns="72000" rIns="72000" bIns="72000" rtlCol="0" anchor="ctr">
            <a:noAutofit/>
          </a:bodyPr>
          <a:lstStyle/>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IN" sz="1400" b="1" i="0" u="none" strike="noStrike" kern="1200" cap="none" spc="0" normalizeH="0" baseline="0" noProof="0" dirty="0">
                <a:ln>
                  <a:noFill/>
                </a:ln>
                <a:solidFill>
                  <a:srgbClr val="0A8276"/>
                </a:solidFill>
                <a:effectLst/>
                <a:uLnTx/>
                <a:uFillTx/>
                <a:latin typeface="Arial" charset="0"/>
                <a:cs typeface="Arial"/>
              </a:rPr>
              <a:t>Secure Firmware update</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Authenticated updates</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DFU serial interface</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Live Firmware Update support (LFU)</a:t>
            </a:r>
          </a:p>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endParaRPr kumimoji="0" lang="en-IN" sz="1400" b="0" i="0" u="none" strike="noStrike" kern="1200" cap="none" spc="0" normalizeH="0" baseline="0" noProof="0" dirty="0">
              <a:ln>
                <a:noFill/>
              </a:ln>
              <a:solidFill>
                <a:srgbClr val="1D1D1D"/>
              </a:solidFill>
              <a:effectLst/>
              <a:uLnTx/>
              <a:uFillTx/>
              <a:latin typeface="Arial" charset="0"/>
              <a:cs typeface="Arial"/>
            </a:endParaRPr>
          </a:p>
        </p:txBody>
      </p:sp>
      <p:sp>
        <p:nvSpPr>
          <p:cNvPr id="21" name="Rechteck 20">
            <a:extLst>
              <a:ext uri="{FF2B5EF4-FFF2-40B4-BE49-F238E27FC236}">
                <a16:creationId xmlns:a16="http://schemas.microsoft.com/office/drawing/2014/main" id="{588E2F5D-B11B-AE2D-BFCB-14BB574927A7}"/>
              </a:ext>
            </a:extLst>
          </p:cNvPr>
          <p:cNvSpPr/>
          <p:nvPr/>
        </p:nvSpPr>
        <p:spPr bwMode="auto">
          <a:xfrm>
            <a:off x="8336916" y="4906544"/>
            <a:ext cx="3517883" cy="1480795"/>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DCD5D7"/>
                </a:solidFill>
                <a:prstDash val="solid"/>
                <a:round/>
                <a:headEnd type="none" w="med" len="med"/>
                <a:tailEnd type="none" w="med" len="med"/>
              </a14:hiddenLine>
            </a:ext>
          </a:extLst>
        </p:spPr>
        <p:txBody>
          <a:bodyPr vert="horz" lIns="180000" tIns="72000" rIns="72000" bIns="72000" rtlCol="0" anchor="ctr">
            <a:noAutofit/>
          </a:bodyPr>
          <a:lstStyle/>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US" sz="1400" b="1" i="0" u="none" strike="noStrike" kern="1200" cap="none" spc="0" normalizeH="0" baseline="0" noProof="0" dirty="0">
                <a:ln>
                  <a:noFill/>
                </a:ln>
                <a:solidFill>
                  <a:srgbClr val="0A8276"/>
                </a:solidFill>
                <a:effectLst/>
                <a:uLnTx/>
                <a:uFillTx/>
                <a:latin typeface="Arial" charset="0"/>
                <a:cs typeface="Arial"/>
              </a:rPr>
              <a:t>PSA L3 certified</a:t>
            </a:r>
          </a:p>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US" sz="1400" b="1" i="0" u="none" strike="noStrike" kern="1200" cap="none" spc="0" normalizeH="0" baseline="0" noProof="0" dirty="0">
                <a:ln>
                  <a:noFill/>
                </a:ln>
                <a:solidFill>
                  <a:srgbClr val="0A8276"/>
                </a:solidFill>
                <a:effectLst/>
                <a:uLnTx/>
                <a:uFillTx/>
                <a:latin typeface="Arial" charset="0"/>
                <a:cs typeface="Arial"/>
              </a:rPr>
              <a:t>CNSA 2.0 compliance</a:t>
            </a:r>
          </a:p>
        </p:txBody>
      </p:sp>
      <p:cxnSp>
        <p:nvCxnSpPr>
          <p:cNvPr id="55" name="Gerade Verbindung 16">
            <a:extLst>
              <a:ext uri="{FF2B5EF4-FFF2-40B4-BE49-F238E27FC236}">
                <a16:creationId xmlns:a16="http://schemas.microsoft.com/office/drawing/2014/main" id="{4FCFC1A5-F28C-944F-55D4-0337F5BCE9BE}"/>
              </a:ext>
            </a:extLst>
          </p:cNvPr>
          <p:cNvCxnSpPr>
            <a:cxnSpLocks/>
          </p:cNvCxnSpPr>
          <p:nvPr/>
        </p:nvCxnSpPr>
        <p:spPr>
          <a:xfrm flipH="1" flipV="1">
            <a:off x="3858538" y="3819458"/>
            <a:ext cx="1011444" cy="1754"/>
          </a:xfrm>
          <a:prstGeom prst="line">
            <a:avLst/>
          </a:prstGeom>
          <a:ln w="6350" cap="flat" cmpd="sng" algn="ctr">
            <a:solidFill>
              <a:schemeClr val="tx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Oval 11">
            <a:extLst>
              <a:ext uri="{FF2B5EF4-FFF2-40B4-BE49-F238E27FC236}">
                <a16:creationId xmlns:a16="http://schemas.microsoft.com/office/drawing/2014/main" id="{A44E0EC7-7B42-DDA8-0FC8-C6AF0EA276EC}"/>
              </a:ext>
            </a:extLst>
          </p:cNvPr>
          <p:cNvSpPr/>
          <p:nvPr/>
        </p:nvSpPr>
        <p:spPr>
          <a:xfrm flipH="1">
            <a:off x="4869983" y="3757486"/>
            <a:ext cx="125087" cy="1257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57" name="Freihandform 21">
            <a:extLst>
              <a:ext uri="{FF2B5EF4-FFF2-40B4-BE49-F238E27FC236}">
                <a16:creationId xmlns:a16="http://schemas.microsoft.com/office/drawing/2014/main" id="{B872271E-20BF-5B98-ECAC-0911721207DA}"/>
              </a:ext>
            </a:extLst>
          </p:cNvPr>
          <p:cNvSpPr/>
          <p:nvPr/>
        </p:nvSpPr>
        <p:spPr bwMode="auto">
          <a:xfrm flipH="1" flipV="1">
            <a:off x="3858533" y="1967768"/>
            <a:ext cx="1815141" cy="696001"/>
          </a:xfrm>
          <a:custGeom>
            <a:avLst/>
            <a:gdLst>
              <a:gd name="connsiteX0" fmla="*/ 1450848 w 1450848"/>
              <a:gd name="connsiteY0" fmla="*/ 792480 h 792480"/>
              <a:gd name="connsiteX1" fmla="*/ 780288 w 1450848"/>
              <a:gd name="connsiteY1" fmla="*/ 792480 h 792480"/>
              <a:gd name="connsiteX2" fmla="*/ 0 w 1450848"/>
              <a:gd name="connsiteY2" fmla="*/ 0 h 792480"/>
            </a:gdLst>
            <a:ahLst/>
            <a:cxnLst>
              <a:cxn ang="0">
                <a:pos x="connsiteX0" y="connsiteY0"/>
              </a:cxn>
              <a:cxn ang="0">
                <a:pos x="connsiteX1" y="connsiteY1"/>
              </a:cxn>
              <a:cxn ang="0">
                <a:pos x="connsiteX2" y="connsiteY2"/>
              </a:cxn>
            </a:cxnLst>
            <a:rect l="l" t="t" r="r" b="b"/>
            <a:pathLst>
              <a:path w="1450848" h="792480">
                <a:moveTo>
                  <a:pt x="1450848" y="792480"/>
                </a:moveTo>
                <a:lnTo>
                  <a:pt x="780288" y="792480"/>
                </a:lnTo>
                <a:lnTo>
                  <a:pt x="0" y="0"/>
                </a:lnTo>
              </a:path>
            </a:pathLst>
          </a:custGeom>
          <a:noFill/>
          <a:ln w="6350">
            <a:solidFill>
              <a:schemeClr val="tx2"/>
            </a:solidFill>
            <a:miter lim="800000"/>
            <a:headEnd/>
            <a:tailEnd/>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1D1D1D"/>
              </a:solidFill>
              <a:effectLst/>
              <a:uLnTx/>
              <a:uFillTx/>
              <a:latin typeface="Arial" charset="0"/>
              <a:cs typeface="Arial"/>
            </a:endParaRPr>
          </a:p>
        </p:txBody>
      </p:sp>
      <p:sp>
        <p:nvSpPr>
          <p:cNvPr id="58" name="Oval 15">
            <a:extLst>
              <a:ext uri="{FF2B5EF4-FFF2-40B4-BE49-F238E27FC236}">
                <a16:creationId xmlns:a16="http://schemas.microsoft.com/office/drawing/2014/main" id="{F38A6C12-C21E-22D3-6FA0-E121B03DD04C}"/>
              </a:ext>
            </a:extLst>
          </p:cNvPr>
          <p:cNvSpPr/>
          <p:nvPr/>
        </p:nvSpPr>
        <p:spPr>
          <a:xfrm flipH="1">
            <a:off x="5645133" y="2652138"/>
            <a:ext cx="125087" cy="1257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70" name="Rechteck 16">
            <a:extLst>
              <a:ext uri="{FF2B5EF4-FFF2-40B4-BE49-F238E27FC236}">
                <a16:creationId xmlns:a16="http://schemas.microsoft.com/office/drawing/2014/main" id="{7502AE86-872B-09B9-AB10-C22B85A38A6D}"/>
              </a:ext>
            </a:extLst>
          </p:cNvPr>
          <p:cNvSpPr/>
          <p:nvPr/>
        </p:nvSpPr>
        <p:spPr bwMode="auto">
          <a:xfrm>
            <a:off x="314887" y="1392676"/>
            <a:ext cx="3667535" cy="1485914"/>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DCD5D7"/>
                </a:solidFill>
                <a:prstDash val="solid"/>
                <a:round/>
                <a:headEnd type="none" w="med" len="med"/>
                <a:tailEnd type="none" w="med" len="med"/>
              </a14:hiddenLine>
            </a:ext>
          </a:extLst>
        </p:spPr>
        <p:txBody>
          <a:bodyPr vert="horz" lIns="72000" tIns="72000" rIns="180000" bIns="72000" rtlCol="0" anchor="ctr">
            <a:noAutofit/>
          </a:bodyPr>
          <a:lstStyle/>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IN" sz="1400" b="1" i="0" u="none" strike="noStrike" kern="1200" cap="none" spc="0" normalizeH="0" baseline="0" noProof="0" dirty="0">
                <a:ln>
                  <a:noFill/>
                </a:ln>
                <a:solidFill>
                  <a:srgbClr val="0A8276"/>
                </a:solidFill>
                <a:effectLst/>
                <a:uLnTx/>
                <a:uFillTx/>
                <a:latin typeface="Arial" charset="0"/>
                <a:cs typeface="Arial"/>
              </a:rPr>
              <a:t>Hardware primitives</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IN" sz="1400" b="0" i="0" u="none" strike="noStrike" kern="1200" cap="none" spc="0" normalizeH="0" baseline="0" noProof="0" dirty="0" err="1">
                <a:ln>
                  <a:noFill/>
                </a:ln>
                <a:solidFill>
                  <a:srgbClr val="1D1D1D"/>
                </a:solidFill>
                <a:effectLst/>
                <a:uLnTx/>
                <a:uFillTx/>
                <a:latin typeface="Arial" charset="0"/>
                <a:cs typeface="Arial"/>
              </a:rPr>
              <a:t>TrustZone</a:t>
            </a:r>
            <a:r>
              <a:rPr kumimoji="0" lang="en-IN" sz="1400" b="0" i="0" u="none" strike="noStrike" kern="1200" cap="none" spc="0" normalizeH="0" baseline="30000" noProof="0" dirty="0">
                <a:ln>
                  <a:noFill/>
                </a:ln>
                <a:solidFill>
                  <a:srgbClr val="1D1D1D"/>
                </a:solidFill>
                <a:effectLst/>
                <a:uLnTx/>
                <a:uFillTx/>
                <a:latin typeface="Arial" charset="0"/>
                <a:cs typeface="Arial"/>
              </a:rPr>
              <a:t>®</a:t>
            </a:r>
            <a:r>
              <a:rPr kumimoji="0" lang="en-IN" sz="1400" b="0" i="0" u="none" strike="noStrike" kern="1200" cap="none" spc="0" normalizeH="0" baseline="0" noProof="0" dirty="0">
                <a:ln>
                  <a:noFill/>
                </a:ln>
                <a:solidFill>
                  <a:srgbClr val="1D1D1D"/>
                </a:solidFill>
                <a:effectLst/>
                <a:uLnTx/>
                <a:uFillTx/>
                <a:latin typeface="Arial" charset="0"/>
                <a:cs typeface="Arial"/>
              </a:rPr>
              <a:t> (SAU/IDAU)</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IN" sz="1400" b="0" i="0" u="none" strike="noStrike" kern="1200" cap="none" spc="0" normalizeH="0" baseline="0" noProof="0" dirty="0">
                <a:ln>
                  <a:noFill/>
                </a:ln>
                <a:solidFill>
                  <a:srgbClr val="1D1D1D"/>
                </a:solidFill>
                <a:effectLst/>
                <a:uLnTx/>
                <a:uFillTx/>
                <a:latin typeface="Arial" charset="0"/>
                <a:cs typeface="Arial"/>
              </a:rPr>
              <a:t>Crypto accelerators (AES, SHA2, ECC) </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IN" sz="1400" b="0" i="0" u="none" strike="noStrike" kern="1200" cap="none" spc="0" normalizeH="0" baseline="0" noProof="0" dirty="0">
                <a:ln>
                  <a:noFill/>
                </a:ln>
                <a:solidFill>
                  <a:srgbClr val="1D1D1D"/>
                </a:solidFill>
                <a:effectLst/>
                <a:uLnTx/>
                <a:uFillTx/>
                <a:latin typeface="Arial" charset="0"/>
                <a:cs typeface="Arial"/>
              </a:rPr>
              <a:t>TRNG</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IN" sz="1400" b="0" i="0" u="none" strike="noStrike" kern="1200" cap="none" spc="0" normalizeH="0" baseline="0" noProof="0" dirty="0">
                <a:ln>
                  <a:noFill/>
                </a:ln>
                <a:solidFill>
                  <a:srgbClr val="1D1D1D"/>
                </a:solidFill>
                <a:effectLst/>
                <a:uLnTx/>
                <a:uFillTx/>
                <a:latin typeface="Arial" charset="0"/>
                <a:cs typeface="Arial"/>
              </a:rPr>
              <a:t>Supply Voltage Glitch Sensor</a:t>
            </a:r>
          </a:p>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endParaRPr kumimoji="0" lang="en-IN" sz="1400" b="0" i="0" u="none" strike="noStrike" kern="1200" cap="none" spc="0" normalizeH="0" baseline="0" noProof="0" dirty="0">
              <a:ln>
                <a:noFill/>
              </a:ln>
              <a:solidFill>
                <a:srgbClr val="1D1D1D"/>
              </a:solidFill>
              <a:effectLst/>
              <a:uLnTx/>
              <a:uFillTx/>
              <a:latin typeface="Arial" charset="0"/>
              <a:cs typeface="Arial"/>
            </a:endParaRPr>
          </a:p>
        </p:txBody>
      </p:sp>
      <p:sp>
        <p:nvSpPr>
          <p:cNvPr id="71" name="Rechteck 18">
            <a:extLst>
              <a:ext uri="{FF2B5EF4-FFF2-40B4-BE49-F238E27FC236}">
                <a16:creationId xmlns:a16="http://schemas.microsoft.com/office/drawing/2014/main" id="{9DF6DCA2-3BBC-5033-6AD5-5AD3E7FDFE26}"/>
              </a:ext>
            </a:extLst>
          </p:cNvPr>
          <p:cNvSpPr/>
          <p:nvPr/>
        </p:nvSpPr>
        <p:spPr bwMode="auto">
          <a:xfrm>
            <a:off x="305772" y="3146021"/>
            <a:ext cx="3667535" cy="1482223"/>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DCD5D7"/>
                </a:solidFill>
                <a:prstDash val="solid"/>
                <a:round/>
                <a:headEnd type="none" w="med" len="med"/>
                <a:tailEnd type="none" w="med" len="med"/>
              </a14:hiddenLine>
            </a:ext>
          </a:extLst>
        </p:spPr>
        <p:txBody>
          <a:bodyPr vert="horz" lIns="72000" tIns="72000" rIns="180000" bIns="72000" rtlCol="0" anchor="ctr">
            <a:noAutofit/>
          </a:bodyPr>
          <a:lstStyle/>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IN" sz="1400" b="1" i="0" u="none" strike="noStrike" kern="1200" cap="none" spc="0" normalizeH="0" baseline="0" noProof="0" dirty="0">
                <a:ln>
                  <a:noFill/>
                </a:ln>
                <a:solidFill>
                  <a:srgbClr val="0A8276"/>
                </a:solidFill>
                <a:effectLst/>
                <a:uLnTx/>
                <a:uFillTx/>
                <a:latin typeface="Arial" charset="0"/>
                <a:cs typeface="Arial"/>
              </a:rPr>
              <a:t>Memory and Peripheral Isolation</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IN" sz="1400" b="0" i="0" u="none" strike="noStrike" kern="1200" cap="none" spc="0" normalizeH="0" baseline="0" noProof="0" dirty="0">
                <a:ln>
                  <a:noFill/>
                </a:ln>
                <a:solidFill>
                  <a:srgbClr val="1D1D1D"/>
                </a:solidFill>
                <a:effectLst/>
                <a:uLnTx/>
                <a:uFillTx/>
                <a:latin typeface="Arial" charset="0"/>
                <a:cs typeface="Arial"/>
              </a:rPr>
              <a:t>Infineon proprietary </a:t>
            </a:r>
            <a:r>
              <a:rPr kumimoji="0" lang="fr-FR" sz="1400" b="0" i="0" u="none" strike="noStrike" kern="1200" cap="none" spc="0" normalizeH="0" baseline="0" noProof="0" dirty="0">
                <a:ln>
                  <a:noFill/>
                </a:ln>
                <a:solidFill>
                  <a:srgbClr val="1D1D1D"/>
                </a:solidFill>
                <a:effectLst/>
                <a:uLnTx/>
                <a:uFillTx/>
                <a:latin typeface="Arial" charset="0"/>
                <a:cs typeface="Arial"/>
              </a:rPr>
              <a:t>MPC, PPC, and Protection </a:t>
            </a:r>
            <a:r>
              <a:rPr kumimoji="0" lang="fr-FR" sz="1400" b="0" i="0" u="none" strike="noStrike" kern="1200" cap="none" spc="0" normalizeH="0" baseline="0" noProof="0" dirty="0" err="1">
                <a:ln>
                  <a:noFill/>
                </a:ln>
                <a:solidFill>
                  <a:srgbClr val="1D1D1D"/>
                </a:solidFill>
                <a:effectLst/>
                <a:uLnTx/>
                <a:uFillTx/>
                <a:latin typeface="Arial" charset="0"/>
                <a:cs typeface="Arial"/>
              </a:rPr>
              <a:t>Context</a:t>
            </a:r>
            <a:r>
              <a:rPr kumimoji="0" lang="fr-FR" sz="1400" b="0" i="0" u="none" strike="noStrike" kern="1200" cap="none" spc="0" normalizeH="0" baseline="0" noProof="0" dirty="0">
                <a:ln>
                  <a:noFill/>
                </a:ln>
                <a:solidFill>
                  <a:srgbClr val="1D1D1D"/>
                </a:solidFill>
                <a:effectLst/>
                <a:uLnTx/>
                <a:uFillTx/>
                <a:latin typeface="Arial" charset="0"/>
                <a:cs typeface="Arial"/>
              </a:rPr>
              <a:t> (PC) </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fr-FR" sz="1400" b="0" i="0" u="none" strike="noStrike" kern="1200" cap="none" spc="0" normalizeH="0" baseline="0" noProof="0" dirty="0">
                <a:ln>
                  <a:noFill/>
                </a:ln>
                <a:solidFill>
                  <a:srgbClr val="1D1D1D"/>
                </a:solidFill>
                <a:effectLst/>
                <a:uLnTx/>
                <a:uFillTx/>
                <a:latin typeface="Arial" charset="0"/>
                <a:cs typeface="Arial"/>
              </a:rPr>
              <a:t>Memory Protection Unit (MPU)</a:t>
            </a:r>
          </a:p>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endParaRPr kumimoji="0" lang="en-IN" sz="1400" b="0" i="0" u="none" strike="noStrike" kern="1200" cap="none" spc="0" normalizeH="0" baseline="0" noProof="0" dirty="0">
              <a:ln>
                <a:noFill/>
              </a:ln>
              <a:solidFill>
                <a:srgbClr val="1D1D1D"/>
              </a:solidFill>
              <a:effectLst/>
              <a:uLnTx/>
              <a:uFillTx/>
              <a:latin typeface="Arial" charset="0"/>
              <a:cs typeface="Arial"/>
            </a:endParaRPr>
          </a:p>
        </p:txBody>
      </p:sp>
      <p:sp>
        <p:nvSpPr>
          <p:cNvPr id="80" name="Rectangle 116">
            <a:extLst>
              <a:ext uri="{FF2B5EF4-FFF2-40B4-BE49-F238E27FC236}">
                <a16:creationId xmlns:a16="http://schemas.microsoft.com/office/drawing/2014/main" id="{022220F6-3CAF-4E94-B9CF-5DC7434B4F41}"/>
              </a:ext>
            </a:extLst>
          </p:cNvPr>
          <p:cNvSpPr/>
          <p:nvPr/>
        </p:nvSpPr>
        <p:spPr>
          <a:xfrm>
            <a:off x="3804920" y="3080031"/>
            <a:ext cx="53613" cy="1478714"/>
          </a:xfrm>
          <a:prstGeom prst="rect">
            <a:avLst/>
          </a:prstGeom>
          <a:solidFill>
            <a:schemeClr val="tx2"/>
          </a:solidFill>
          <a:ln w="635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81" name="Rectangle 116">
            <a:extLst>
              <a:ext uri="{FF2B5EF4-FFF2-40B4-BE49-F238E27FC236}">
                <a16:creationId xmlns:a16="http://schemas.microsoft.com/office/drawing/2014/main" id="{2A2E569C-9A4B-4C91-55DB-2C2418916013}"/>
              </a:ext>
            </a:extLst>
          </p:cNvPr>
          <p:cNvSpPr/>
          <p:nvPr/>
        </p:nvSpPr>
        <p:spPr>
          <a:xfrm>
            <a:off x="3804920" y="1262610"/>
            <a:ext cx="53613" cy="1478714"/>
          </a:xfrm>
          <a:prstGeom prst="rect">
            <a:avLst/>
          </a:prstGeom>
          <a:solidFill>
            <a:schemeClr val="tx2"/>
          </a:solidFill>
          <a:ln w="635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82" name="Rectangle 116">
            <a:extLst>
              <a:ext uri="{FF2B5EF4-FFF2-40B4-BE49-F238E27FC236}">
                <a16:creationId xmlns:a16="http://schemas.microsoft.com/office/drawing/2014/main" id="{3FF70D76-2776-6159-9353-7C4E8AEC0B2C}"/>
              </a:ext>
            </a:extLst>
          </p:cNvPr>
          <p:cNvSpPr/>
          <p:nvPr/>
        </p:nvSpPr>
        <p:spPr>
          <a:xfrm>
            <a:off x="8336570" y="1262610"/>
            <a:ext cx="54955" cy="1478714"/>
          </a:xfrm>
          <a:prstGeom prst="rect">
            <a:avLst/>
          </a:prstGeom>
          <a:solidFill>
            <a:schemeClr val="tx2"/>
          </a:solidFill>
          <a:ln w="635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83" name="Rectangle 116">
            <a:extLst>
              <a:ext uri="{FF2B5EF4-FFF2-40B4-BE49-F238E27FC236}">
                <a16:creationId xmlns:a16="http://schemas.microsoft.com/office/drawing/2014/main" id="{2114EDBD-AEA4-4DBC-6099-9410C15F6A4C}"/>
              </a:ext>
            </a:extLst>
          </p:cNvPr>
          <p:cNvSpPr/>
          <p:nvPr/>
        </p:nvSpPr>
        <p:spPr>
          <a:xfrm>
            <a:off x="8336570" y="3080031"/>
            <a:ext cx="54955" cy="1478714"/>
          </a:xfrm>
          <a:prstGeom prst="rect">
            <a:avLst/>
          </a:prstGeom>
          <a:solidFill>
            <a:schemeClr val="tx2"/>
          </a:solidFill>
          <a:ln w="635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525FC2EE-AA2B-5D7F-8413-14CDB6BCB84F}"/>
              </a:ext>
            </a:extLst>
          </p:cNvPr>
          <p:cNvGrpSpPr/>
          <p:nvPr/>
        </p:nvGrpSpPr>
        <p:grpSpPr>
          <a:xfrm>
            <a:off x="6425230" y="4866222"/>
            <a:ext cx="1911689" cy="774683"/>
            <a:chOff x="6425229" y="4866221"/>
            <a:chExt cx="1911689" cy="774684"/>
          </a:xfrm>
        </p:grpSpPr>
        <p:sp>
          <p:nvSpPr>
            <p:cNvPr id="2" name="Freihandform 5">
              <a:extLst>
                <a:ext uri="{FF2B5EF4-FFF2-40B4-BE49-F238E27FC236}">
                  <a16:creationId xmlns:a16="http://schemas.microsoft.com/office/drawing/2014/main" id="{A2ECAD72-830E-F65F-C29E-14E01CC9187E}"/>
                </a:ext>
              </a:extLst>
            </p:cNvPr>
            <p:cNvSpPr/>
            <p:nvPr/>
          </p:nvSpPr>
          <p:spPr bwMode="auto">
            <a:xfrm>
              <a:off x="6521777" y="4958075"/>
              <a:ext cx="1815141" cy="682830"/>
            </a:xfrm>
            <a:custGeom>
              <a:avLst/>
              <a:gdLst>
                <a:gd name="connsiteX0" fmla="*/ 1450848 w 1450848"/>
                <a:gd name="connsiteY0" fmla="*/ 792480 h 792480"/>
                <a:gd name="connsiteX1" fmla="*/ 780288 w 1450848"/>
                <a:gd name="connsiteY1" fmla="*/ 792480 h 792480"/>
                <a:gd name="connsiteX2" fmla="*/ 0 w 1450848"/>
                <a:gd name="connsiteY2" fmla="*/ 0 h 792480"/>
              </a:gdLst>
              <a:ahLst/>
              <a:cxnLst>
                <a:cxn ang="0">
                  <a:pos x="connsiteX0" y="connsiteY0"/>
                </a:cxn>
                <a:cxn ang="0">
                  <a:pos x="connsiteX1" y="connsiteY1"/>
                </a:cxn>
                <a:cxn ang="0">
                  <a:pos x="connsiteX2" y="connsiteY2"/>
                </a:cxn>
              </a:cxnLst>
              <a:rect l="l" t="t" r="r" b="b"/>
              <a:pathLst>
                <a:path w="1450848" h="792480">
                  <a:moveTo>
                    <a:pt x="1450848" y="792480"/>
                  </a:moveTo>
                  <a:lnTo>
                    <a:pt x="780288" y="792480"/>
                  </a:lnTo>
                  <a:lnTo>
                    <a:pt x="0" y="0"/>
                  </a:lnTo>
                </a:path>
              </a:pathLst>
            </a:custGeom>
            <a:noFill/>
            <a:ln w="6350">
              <a:solidFill>
                <a:schemeClr val="tx2"/>
              </a:solidFill>
              <a:miter lim="800000"/>
              <a:headEnd/>
              <a:tailEnd/>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1D1D1D"/>
                </a:solidFill>
                <a:effectLst/>
                <a:uLnTx/>
                <a:uFillTx/>
                <a:latin typeface="Arial" charset="0"/>
                <a:cs typeface="Arial"/>
              </a:endParaRPr>
            </a:p>
          </p:txBody>
        </p:sp>
        <p:sp>
          <p:nvSpPr>
            <p:cNvPr id="16" name="Oval 15">
              <a:extLst>
                <a:ext uri="{FF2B5EF4-FFF2-40B4-BE49-F238E27FC236}">
                  <a16:creationId xmlns:a16="http://schemas.microsoft.com/office/drawing/2014/main" id="{C7C9775A-FCA4-510E-4B04-48929E87B454}"/>
                </a:ext>
              </a:extLst>
            </p:cNvPr>
            <p:cNvSpPr/>
            <p:nvPr/>
          </p:nvSpPr>
          <p:spPr>
            <a:xfrm>
              <a:off x="6425229" y="4866221"/>
              <a:ext cx="125087" cy="1256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grpSp>
      <p:sp>
        <p:nvSpPr>
          <p:cNvPr id="84" name="Rectangle 116">
            <a:extLst>
              <a:ext uri="{FF2B5EF4-FFF2-40B4-BE49-F238E27FC236}">
                <a16:creationId xmlns:a16="http://schemas.microsoft.com/office/drawing/2014/main" id="{2C379228-1CD3-5F14-31BF-B75A07606F5F}"/>
              </a:ext>
            </a:extLst>
          </p:cNvPr>
          <p:cNvSpPr/>
          <p:nvPr/>
        </p:nvSpPr>
        <p:spPr>
          <a:xfrm>
            <a:off x="8336570" y="4903036"/>
            <a:ext cx="54955" cy="1478714"/>
          </a:xfrm>
          <a:prstGeom prst="rect">
            <a:avLst/>
          </a:prstGeom>
          <a:solidFill>
            <a:schemeClr val="tx2"/>
          </a:solidFill>
          <a:ln w="635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2" name="Rechteck 16">
            <a:extLst>
              <a:ext uri="{FF2B5EF4-FFF2-40B4-BE49-F238E27FC236}">
                <a16:creationId xmlns:a16="http://schemas.microsoft.com/office/drawing/2014/main" id="{2DCCF5BB-1E41-6B60-8F88-C9633443C747}"/>
              </a:ext>
            </a:extLst>
          </p:cNvPr>
          <p:cNvSpPr/>
          <p:nvPr/>
        </p:nvSpPr>
        <p:spPr bwMode="auto">
          <a:xfrm>
            <a:off x="314887" y="4908067"/>
            <a:ext cx="3489387" cy="1329245"/>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DCD5D7"/>
                </a:solidFill>
                <a:prstDash val="solid"/>
                <a:round/>
                <a:headEnd type="none" w="med" len="med"/>
                <a:tailEnd type="none" w="med" len="med"/>
              </a14:hiddenLine>
            </a:ext>
          </a:extLst>
        </p:spPr>
        <p:txBody>
          <a:bodyPr vert="horz" lIns="72000" tIns="72000" rIns="180000" bIns="72000" rtlCol="0" anchor="ctr">
            <a:noAutofit/>
          </a:bodyPr>
          <a:lstStyle/>
          <a:p>
            <a:pPr marL="0" marR="0" lvl="0" indent="0" algn="l" defTabSz="576000" rtl="0" eaLnBrk="1" fontAlgn="base" latinLnBrk="0" hangingPunct="1">
              <a:lnSpc>
                <a:spcPct val="120000"/>
              </a:lnSpc>
              <a:spcBef>
                <a:spcPts val="0"/>
              </a:spcBef>
              <a:spcAft>
                <a:spcPts val="0"/>
              </a:spcAft>
              <a:buClr>
                <a:srgbClr val="0A8276"/>
              </a:buClr>
              <a:buSzPct val="100000"/>
              <a:buFontTx/>
              <a:buNone/>
              <a:tabLst/>
              <a:defRPr/>
            </a:pPr>
            <a:r>
              <a:rPr kumimoji="0" lang="en-IN" sz="1400" b="1" i="0" u="none" strike="noStrike" kern="1200" cap="none" spc="0" normalizeH="0" baseline="0" noProof="0" dirty="0">
                <a:ln>
                  <a:noFill/>
                </a:ln>
                <a:solidFill>
                  <a:srgbClr val="0A8276"/>
                </a:solidFill>
                <a:effectLst/>
                <a:uLnTx/>
                <a:uFillTx/>
                <a:latin typeface="Arial" charset="0"/>
                <a:cs typeface="Arial"/>
              </a:rPr>
              <a:t>Boot and code integrity</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Immutable </a:t>
            </a:r>
            <a:r>
              <a:rPr kumimoji="0" lang="en-US" sz="1400" b="0" i="0" u="none" strike="noStrike" kern="1200" cap="none" spc="0" normalizeH="0" baseline="0" noProof="0" dirty="0" err="1">
                <a:ln>
                  <a:noFill/>
                </a:ln>
                <a:solidFill>
                  <a:srgbClr val="1D1D1D"/>
                </a:solidFill>
                <a:effectLst/>
                <a:uLnTx/>
                <a:uFillTx/>
                <a:latin typeface="Arial" charset="0"/>
                <a:cs typeface="Arial"/>
              </a:rPr>
              <a:t>BootROM</a:t>
            </a:r>
            <a:endParaRPr kumimoji="0" lang="en-US" sz="1400" b="0" i="0" u="none" strike="noStrike" kern="1200" cap="none" spc="0" normalizeH="0" baseline="0" noProof="0" dirty="0">
              <a:ln>
                <a:noFill/>
              </a:ln>
              <a:solidFill>
                <a:srgbClr val="1D1D1D"/>
              </a:solidFill>
              <a:effectLst/>
              <a:uLnTx/>
              <a:uFillTx/>
              <a:latin typeface="Arial" charset="0"/>
              <a:cs typeface="Arial"/>
            </a:endParaRP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Anti-rollback</a:t>
            </a: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D1D1D"/>
                </a:solidFill>
                <a:effectLst/>
                <a:uLnTx/>
                <a:uFillTx/>
                <a:latin typeface="Arial" charset="0"/>
                <a:cs typeface="Arial"/>
              </a:rPr>
              <a:t>Image authentication</a:t>
            </a:r>
          </a:p>
          <a:p>
            <a:pPr marL="895335" marR="0" lvl="1"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900" b="0" i="0" u="none" strike="noStrike" kern="1200" cap="none" spc="0" normalizeH="0" baseline="0" noProof="0" dirty="0">
                <a:ln>
                  <a:noFill/>
                </a:ln>
                <a:solidFill>
                  <a:srgbClr val="1D1D1D"/>
                </a:solidFill>
                <a:effectLst/>
                <a:uLnTx/>
                <a:uFillTx/>
                <a:latin typeface="Arial" charset="0"/>
                <a:cs typeface="Arial"/>
              </a:rPr>
              <a:t>ECDSA P256, 384 and 521</a:t>
            </a:r>
          </a:p>
          <a:p>
            <a:pPr marL="895335" marR="0" lvl="1"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900" b="0" i="0" u="none" strike="noStrike" kern="1200" cap="none" spc="0" normalizeH="0" baseline="0" noProof="0" dirty="0">
                <a:ln>
                  <a:noFill/>
                </a:ln>
                <a:solidFill>
                  <a:srgbClr val="1D1D1D"/>
                </a:solidFill>
                <a:effectLst/>
                <a:uLnTx/>
                <a:uFillTx/>
                <a:latin typeface="Arial" charset="0"/>
                <a:cs typeface="Arial"/>
              </a:rPr>
              <a:t>SHA 256, 384 and 512</a:t>
            </a:r>
          </a:p>
          <a:p>
            <a:pPr marL="895335" marR="0" lvl="1"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900" b="0" i="0" u="none" strike="noStrike" kern="1200" cap="none" spc="0" normalizeH="0" baseline="0" noProof="0" dirty="0">
                <a:ln>
                  <a:noFill/>
                </a:ln>
                <a:solidFill>
                  <a:srgbClr val="1D1D1D"/>
                </a:solidFill>
                <a:effectLst/>
                <a:uLnTx/>
                <a:uFillTx/>
                <a:latin typeface="Arial" charset="0"/>
                <a:cs typeface="Arial"/>
              </a:rPr>
              <a:t>Post-quantum crypto security with EdgeProtect Bootloader using </a:t>
            </a:r>
            <a:r>
              <a:rPr kumimoji="0" lang="en-US" sz="900" b="0" i="0" u="none" strike="noStrike" kern="1200" cap="none" spc="0" normalizeH="0" baseline="0" noProof="0" dirty="0" err="1">
                <a:ln>
                  <a:noFill/>
                </a:ln>
                <a:solidFill>
                  <a:srgbClr val="1D1D1D"/>
                </a:solidFill>
                <a:effectLst/>
                <a:uLnTx/>
                <a:uFillTx/>
                <a:latin typeface="Arial" charset="0"/>
                <a:cs typeface="Arial"/>
              </a:rPr>
              <a:t>wolfSSL</a:t>
            </a:r>
            <a:endParaRPr kumimoji="0" lang="en-US" sz="900" b="0" i="0" u="none" strike="noStrike" kern="1200" cap="none" spc="0" normalizeH="0" baseline="0" noProof="0" dirty="0">
              <a:ln>
                <a:noFill/>
              </a:ln>
              <a:solidFill>
                <a:srgbClr val="1D1D1D"/>
              </a:solidFill>
              <a:effectLst/>
              <a:uLnTx/>
              <a:uFillTx/>
              <a:latin typeface="Arial" charset="0"/>
              <a:cs typeface="Arial"/>
            </a:endParaRPr>
          </a:p>
          <a:p>
            <a:pPr marL="285750" marR="0" lvl="0" indent="-28575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900" b="0" i="0" u="none" strike="noStrike" kern="1200" cap="none" spc="0" normalizeH="0" baseline="0" noProof="0" dirty="0">
                <a:ln>
                  <a:noFill/>
                </a:ln>
                <a:solidFill>
                  <a:srgbClr val="1D1D1D"/>
                </a:solidFill>
                <a:effectLst/>
                <a:uLnTx/>
                <a:uFillTx/>
                <a:latin typeface="Arial" charset="0"/>
                <a:cs typeface="Arial"/>
              </a:rPr>
              <a:t>DICE Ready </a:t>
            </a:r>
            <a:endParaRPr kumimoji="0" lang="en-IN" sz="900" b="0" i="0" u="none" strike="noStrike" kern="1200" cap="none" spc="0" normalizeH="0" baseline="0" noProof="0" dirty="0">
              <a:ln>
                <a:noFill/>
              </a:ln>
              <a:solidFill>
                <a:srgbClr val="1D1D1D"/>
              </a:solidFill>
              <a:effectLst/>
              <a:uLnTx/>
              <a:uFillTx/>
              <a:latin typeface="Arial" charset="0"/>
              <a:cs typeface="Arial"/>
            </a:endParaRPr>
          </a:p>
        </p:txBody>
      </p:sp>
      <p:sp>
        <p:nvSpPr>
          <p:cNvPr id="13" name="Rectangle 116">
            <a:extLst>
              <a:ext uri="{FF2B5EF4-FFF2-40B4-BE49-F238E27FC236}">
                <a16:creationId xmlns:a16="http://schemas.microsoft.com/office/drawing/2014/main" id="{5BA77D23-28DE-2A86-CD91-BB1505F3AECA}"/>
              </a:ext>
            </a:extLst>
          </p:cNvPr>
          <p:cNvSpPr/>
          <p:nvPr/>
        </p:nvSpPr>
        <p:spPr>
          <a:xfrm>
            <a:off x="3804920" y="4903036"/>
            <a:ext cx="53613" cy="1478714"/>
          </a:xfrm>
          <a:prstGeom prst="rect">
            <a:avLst/>
          </a:prstGeom>
          <a:solidFill>
            <a:schemeClr val="tx2"/>
          </a:solidFill>
          <a:ln w="635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grpSp>
        <p:nvGrpSpPr>
          <p:cNvPr id="23" name="Group 22">
            <a:extLst>
              <a:ext uri="{FF2B5EF4-FFF2-40B4-BE49-F238E27FC236}">
                <a16:creationId xmlns:a16="http://schemas.microsoft.com/office/drawing/2014/main" id="{C4A01EA3-F2B4-C38F-50ED-79E6AD671A27}"/>
              </a:ext>
            </a:extLst>
          </p:cNvPr>
          <p:cNvGrpSpPr/>
          <p:nvPr/>
        </p:nvGrpSpPr>
        <p:grpSpPr>
          <a:xfrm flipH="1">
            <a:off x="3858880" y="4866222"/>
            <a:ext cx="1911689" cy="774683"/>
            <a:chOff x="6425229" y="4866221"/>
            <a:chExt cx="1911689" cy="774684"/>
          </a:xfrm>
        </p:grpSpPr>
        <p:sp>
          <p:nvSpPr>
            <p:cNvPr id="24" name="Freihandform 5">
              <a:extLst>
                <a:ext uri="{FF2B5EF4-FFF2-40B4-BE49-F238E27FC236}">
                  <a16:creationId xmlns:a16="http://schemas.microsoft.com/office/drawing/2014/main" id="{D5376F1C-B6ED-FC93-CB12-8BB0DAB319E1}"/>
                </a:ext>
              </a:extLst>
            </p:cNvPr>
            <p:cNvSpPr/>
            <p:nvPr/>
          </p:nvSpPr>
          <p:spPr bwMode="auto">
            <a:xfrm>
              <a:off x="6521777" y="4958075"/>
              <a:ext cx="1815141" cy="682830"/>
            </a:xfrm>
            <a:custGeom>
              <a:avLst/>
              <a:gdLst>
                <a:gd name="connsiteX0" fmla="*/ 1450848 w 1450848"/>
                <a:gd name="connsiteY0" fmla="*/ 792480 h 792480"/>
                <a:gd name="connsiteX1" fmla="*/ 780288 w 1450848"/>
                <a:gd name="connsiteY1" fmla="*/ 792480 h 792480"/>
                <a:gd name="connsiteX2" fmla="*/ 0 w 1450848"/>
                <a:gd name="connsiteY2" fmla="*/ 0 h 792480"/>
              </a:gdLst>
              <a:ahLst/>
              <a:cxnLst>
                <a:cxn ang="0">
                  <a:pos x="connsiteX0" y="connsiteY0"/>
                </a:cxn>
                <a:cxn ang="0">
                  <a:pos x="connsiteX1" y="connsiteY1"/>
                </a:cxn>
                <a:cxn ang="0">
                  <a:pos x="connsiteX2" y="connsiteY2"/>
                </a:cxn>
              </a:cxnLst>
              <a:rect l="l" t="t" r="r" b="b"/>
              <a:pathLst>
                <a:path w="1450848" h="792480">
                  <a:moveTo>
                    <a:pt x="1450848" y="792480"/>
                  </a:moveTo>
                  <a:lnTo>
                    <a:pt x="780288" y="792480"/>
                  </a:lnTo>
                  <a:lnTo>
                    <a:pt x="0" y="0"/>
                  </a:lnTo>
                </a:path>
              </a:pathLst>
            </a:custGeom>
            <a:noFill/>
            <a:ln w="6350">
              <a:solidFill>
                <a:schemeClr val="tx2"/>
              </a:solidFill>
              <a:miter lim="800000"/>
              <a:headEnd/>
              <a:tailEnd/>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4267" b="0" i="0" u="none" strike="noStrike" kern="1200" cap="none" spc="0" normalizeH="0" baseline="0" noProof="0" dirty="0">
                <a:ln>
                  <a:noFill/>
                </a:ln>
                <a:solidFill>
                  <a:srgbClr val="1D1D1D"/>
                </a:solidFill>
                <a:effectLst/>
                <a:uLnTx/>
                <a:uFillTx/>
                <a:latin typeface="Arial" charset="0"/>
                <a:cs typeface="Arial"/>
              </a:endParaRPr>
            </a:p>
          </p:txBody>
        </p:sp>
        <p:sp>
          <p:nvSpPr>
            <p:cNvPr id="25" name="Oval 24">
              <a:extLst>
                <a:ext uri="{FF2B5EF4-FFF2-40B4-BE49-F238E27FC236}">
                  <a16:creationId xmlns:a16="http://schemas.microsoft.com/office/drawing/2014/main" id="{63C8F123-B2BE-367A-582F-5BFF4C2FB605}"/>
                </a:ext>
              </a:extLst>
            </p:cNvPr>
            <p:cNvSpPr/>
            <p:nvPr/>
          </p:nvSpPr>
          <p:spPr>
            <a:xfrm>
              <a:off x="6425229" y="4866221"/>
              <a:ext cx="125087" cy="1256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grpSp>
      <p:pic>
        <p:nvPicPr>
          <p:cNvPr id="3" name="Picture 2" descr="PSA Certified Level 3">
            <a:extLst>
              <a:ext uri="{FF2B5EF4-FFF2-40B4-BE49-F238E27FC236}">
                <a16:creationId xmlns:a16="http://schemas.microsoft.com/office/drawing/2014/main" id="{11289AB8-CD08-2C39-8A91-5BA3C746EA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63896" y="4739843"/>
            <a:ext cx="1471144" cy="164148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77034429"/>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A71EAC6-1793-6067-160A-20C59DA45689}"/>
              </a:ext>
            </a:extLst>
          </p:cNvPr>
          <p:cNvGrpSpPr/>
          <p:nvPr>
            <p:custDataLst>
              <p:tags r:id="rId1"/>
            </p:custDataLst>
          </p:nvPr>
        </p:nvGrpSpPr>
        <p:grpSpPr>
          <a:xfrm>
            <a:off x="334434" y="1268413"/>
            <a:ext cx="11521017" cy="2231998"/>
            <a:chOff x="334434" y="1268413"/>
            <a:chExt cx="11521017" cy="2231998"/>
          </a:xfrm>
        </p:grpSpPr>
        <p:sp>
          <p:nvSpPr>
            <p:cNvPr id="5" name="MIO_AGENDA_ELEMENT_TITEL_1">
              <a:hlinkClick r:id="rId17" action="ppaction://hlinksldjump"/>
              <a:extLst>
                <a:ext uri="{FF2B5EF4-FFF2-40B4-BE49-F238E27FC236}">
                  <a16:creationId xmlns:a16="http://schemas.microsoft.com/office/drawing/2014/main" id="{D0AFABD6-B07D-7FD4-3B2D-8AB552BD783A}"/>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Security by design</a:t>
              </a:r>
              <a:endParaRPr lang="de-DE" sz="1800" dirty="0">
                <a:latin typeface="+mn-lt"/>
              </a:endParaRPr>
            </a:p>
          </p:txBody>
        </p:sp>
        <p:sp>
          <p:nvSpPr>
            <p:cNvPr id="6" name="MIO_AGENDA_ELEMENT_ELEMENTNUMBER_1">
              <a:hlinkClick r:id="rId17" action="ppaction://hlinksldjump"/>
              <a:extLst>
                <a:ext uri="{FF2B5EF4-FFF2-40B4-BE49-F238E27FC236}">
                  <a16:creationId xmlns:a16="http://schemas.microsoft.com/office/drawing/2014/main" id="{A80B97D0-D4FC-6974-3BBD-DD3B31F26231}"/>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7" action="ppaction://hlinksldjump"/>
              <a:extLst>
                <a:ext uri="{FF2B5EF4-FFF2-40B4-BE49-F238E27FC236}">
                  <a16:creationId xmlns:a16="http://schemas.microsoft.com/office/drawing/2014/main" id="{B391529C-552C-50DE-8870-8C2F57DB1D8C}"/>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8" action="ppaction://hlinksldjump"/>
              <a:extLst>
                <a:ext uri="{FF2B5EF4-FFF2-40B4-BE49-F238E27FC236}">
                  <a16:creationId xmlns:a16="http://schemas.microsoft.com/office/drawing/2014/main" id="{AFA86E0D-8D9D-26BE-A6F8-BEB29594B71E}"/>
                </a:ext>
              </a:extLst>
            </p:cNvPr>
            <p:cNvSpPr>
              <a:spLocks/>
            </p:cNvSpPr>
            <p:nvPr>
              <p:custDataLst>
                <p:tags r:id="rId6"/>
              </p:custDataLst>
            </p:nvPr>
          </p:nvSpPr>
          <p:spPr>
            <a:xfrm>
              <a:off x="1235075" y="1844412"/>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a:solidFill>
                    <a:schemeClr val="tx2"/>
                  </a:solidFill>
                  <a:latin typeface="+mn-lt"/>
                </a:rPr>
                <a:t>Device life cycle stage (LCS)</a:t>
              </a:r>
              <a:endParaRPr lang="de-DE" sz="1800" b="1" dirty="0">
                <a:solidFill>
                  <a:schemeClr val="tx2"/>
                </a:solidFill>
                <a:latin typeface="+mn-lt"/>
              </a:endParaRPr>
            </a:p>
          </p:txBody>
        </p:sp>
        <p:sp>
          <p:nvSpPr>
            <p:cNvPr id="9" name="MIO_AGENDA_ELEMENT_ELEMENTNUMBER_2">
              <a:hlinkClick r:id="rId18" action="ppaction://hlinksldjump"/>
              <a:extLst>
                <a:ext uri="{FF2B5EF4-FFF2-40B4-BE49-F238E27FC236}">
                  <a16:creationId xmlns:a16="http://schemas.microsoft.com/office/drawing/2014/main" id="{E4B32708-DA4C-7C29-155A-114E11B2E455}"/>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8" action="ppaction://hlinksldjump"/>
              <a:extLst>
                <a:ext uri="{FF2B5EF4-FFF2-40B4-BE49-F238E27FC236}">
                  <a16:creationId xmlns:a16="http://schemas.microsoft.com/office/drawing/2014/main" id="{C627200D-D5BE-FA13-54F8-0739E4C3E15F}"/>
                </a:ext>
              </a:extLst>
            </p:cNvPr>
            <p:cNvSpPr txBox="1">
              <a:spLocks/>
            </p:cNvSpPr>
            <p:nvPr>
              <p:custDataLst>
                <p:tags r:id="rId8"/>
              </p:custDataLst>
            </p:nvPr>
          </p:nvSpPr>
          <p:spPr>
            <a:xfrm>
              <a:off x="11026666" y="1844412"/>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6</a:t>
              </a:r>
              <a:endParaRPr lang="de-DE" sz="1800" b="1" dirty="0">
                <a:solidFill>
                  <a:schemeClr val="tx2"/>
                </a:solidFill>
                <a:latin typeface="+mn-lt"/>
                <a:cs typeface="Segoe UI Semibold" panose="020B0702040204020203" pitchFamily="34" charset="0"/>
              </a:endParaRPr>
            </a:p>
          </p:txBody>
        </p:sp>
        <p:sp>
          <p:nvSpPr>
            <p:cNvPr id="11" name="MIO_AGENDA_ELEMENT_TITEL_3">
              <a:hlinkClick r:id="rId19" action="ppaction://hlinksldjump"/>
              <a:extLst>
                <a:ext uri="{FF2B5EF4-FFF2-40B4-BE49-F238E27FC236}">
                  <a16:creationId xmlns:a16="http://schemas.microsoft.com/office/drawing/2014/main" id="{3591B8D0-398A-E96F-1A6E-9BFA2AC5B00C}"/>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Ownership transfer and provisioning</a:t>
              </a:r>
              <a:endParaRPr lang="de-DE" sz="1800" dirty="0">
                <a:latin typeface="+mn-lt"/>
              </a:endParaRPr>
            </a:p>
          </p:txBody>
        </p:sp>
        <p:sp>
          <p:nvSpPr>
            <p:cNvPr id="12" name="MIO_AGENDA_ELEMENT_ELEMENTNUMBER_3">
              <a:hlinkClick r:id="rId19" action="ppaction://hlinksldjump"/>
              <a:extLst>
                <a:ext uri="{FF2B5EF4-FFF2-40B4-BE49-F238E27FC236}">
                  <a16:creationId xmlns:a16="http://schemas.microsoft.com/office/drawing/2014/main" id="{DD4C901C-57C3-E2D7-CF4C-5A03C625F414}"/>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9" action="ppaction://hlinksldjump"/>
              <a:extLst>
                <a:ext uri="{FF2B5EF4-FFF2-40B4-BE49-F238E27FC236}">
                  <a16:creationId xmlns:a16="http://schemas.microsoft.com/office/drawing/2014/main" id="{FE115827-6CC0-97E6-A202-1EC7D2A25DFC}"/>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11</a:t>
              </a:r>
              <a:endParaRPr lang="de-DE" sz="1800" dirty="0">
                <a:latin typeface="+mn-lt"/>
              </a:endParaRPr>
            </a:p>
          </p:txBody>
        </p:sp>
        <p:sp>
          <p:nvSpPr>
            <p:cNvPr id="14" name="MIO_AGENDA_ELEMENT_TITEL_4">
              <a:hlinkClick r:id="rId20" action="ppaction://hlinksldjump"/>
              <a:extLst>
                <a:ext uri="{FF2B5EF4-FFF2-40B4-BE49-F238E27FC236}">
                  <a16:creationId xmlns:a16="http://schemas.microsoft.com/office/drawing/2014/main" id="{5D5548C2-5400-6EE4-5702-091263FAE1CC}"/>
                </a:ext>
              </a:extLst>
            </p:cNvPr>
            <p:cNvSpPr>
              <a:spLocks/>
            </p:cNvSpPr>
            <p:nvPr>
              <p:custDataLst>
                <p:tags r:id="rId12"/>
              </p:custDataLst>
            </p:nvPr>
          </p:nvSpPr>
          <p:spPr>
            <a:xfrm>
              <a:off x="1235076" y="2996411"/>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Secure boot</a:t>
              </a:r>
              <a:endParaRPr lang="de-DE" sz="1800" dirty="0">
                <a:latin typeface="+mn-lt"/>
              </a:endParaRPr>
            </a:p>
          </p:txBody>
        </p:sp>
        <p:sp>
          <p:nvSpPr>
            <p:cNvPr id="15" name="MIO_AGENDA_ELEMENT_ELEMENTNUMBER_4">
              <a:hlinkClick r:id="rId20" action="ppaction://hlinksldjump"/>
              <a:extLst>
                <a:ext uri="{FF2B5EF4-FFF2-40B4-BE49-F238E27FC236}">
                  <a16:creationId xmlns:a16="http://schemas.microsoft.com/office/drawing/2014/main" id="{AE7D795F-D13A-6D7B-CCA7-C97A6CA020BF}"/>
                </a:ext>
              </a:extLst>
            </p:cNvPr>
            <p:cNvSpPr>
              <a:spLocks noChangeAspect="1"/>
            </p:cNvSpPr>
            <p:nvPr>
              <p:custDataLst>
                <p:tags r:id="rId13"/>
              </p:custDataLst>
            </p:nvPr>
          </p:nvSpPr>
          <p:spPr>
            <a:xfrm>
              <a:off x="334434" y="2996411"/>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4</a:t>
              </a:r>
              <a:endParaRPr lang="de-DE" b="1" dirty="0">
                <a:solidFill>
                  <a:schemeClr val="bg1"/>
                </a:solidFill>
                <a:latin typeface="+mn-lt"/>
                <a:cs typeface="Arial" panose="020B0604020202020204" pitchFamily="34" charset="0"/>
              </a:endParaRPr>
            </a:p>
          </p:txBody>
        </p:sp>
        <p:sp>
          <p:nvSpPr>
            <p:cNvPr id="16" name="MIO_AGENDA_ELEMENT_PAGENUMBER_4">
              <a:hlinkClick r:id="rId20" action="ppaction://hlinksldjump"/>
              <a:extLst>
                <a:ext uri="{FF2B5EF4-FFF2-40B4-BE49-F238E27FC236}">
                  <a16:creationId xmlns:a16="http://schemas.microsoft.com/office/drawing/2014/main" id="{22B6BF63-B00A-87D5-E9E6-DF6522DD0B13}"/>
                </a:ext>
              </a:extLst>
            </p:cNvPr>
            <p:cNvSpPr txBox="1">
              <a:spLocks/>
            </p:cNvSpPr>
            <p:nvPr>
              <p:custDataLst>
                <p:tags r:id="rId14"/>
              </p:custDataLst>
            </p:nvPr>
          </p:nvSpPr>
          <p:spPr>
            <a:xfrm>
              <a:off x="11026666" y="2996411"/>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17</a:t>
              </a:r>
              <a:endParaRPr lang="de-DE" sz="1800" dirty="0">
                <a:latin typeface="+mn-lt"/>
              </a:endParaRPr>
            </a:p>
          </p:txBody>
        </p:sp>
      </p:grpSp>
      <p:sp>
        <p:nvSpPr>
          <p:cNvPr id="2" name="Title 1">
            <a:extLst>
              <a:ext uri="{FF2B5EF4-FFF2-40B4-BE49-F238E27FC236}">
                <a16:creationId xmlns:a16="http://schemas.microsoft.com/office/drawing/2014/main" id="{CB801DFB-99AB-C3BB-1F36-2D09E28D5484}"/>
              </a:ext>
            </a:extLst>
          </p:cNvPr>
          <p:cNvSpPr>
            <a:spLocks noGrp="1"/>
          </p:cNvSpPr>
          <p:nvPr>
            <p:ph type="title"/>
            <p:custDataLst>
              <p:tags r:id="rId2"/>
            </p:custDataLst>
          </p:nvPr>
        </p:nvSpPr>
        <p:spPr/>
        <p:txBody>
          <a:bodyPr/>
          <a:lstStyle/>
          <a:p>
            <a:r>
              <a:rPr lang="en-IN"/>
              <a:t>Table of contents</a:t>
            </a:r>
          </a:p>
        </p:txBody>
      </p:sp>
    </p:spTree>
    <p:extLst>
      <p:ext uri="{BB962C8B-B14F-4D97-AF65-F5344CB8AC3E}">
        <p14:creationId xmlns:p14="http://schemas.microsoft.com/office/powerpoint/2010/main" val="3621445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2A6A560-AFE6-CCE4-BD05-1BB2C48240C7}"/>
              </a:ext>
            </a:extLst>
          </p:cNvPr>
          <p:cNvSpPr/>
          <p:nvPr/>
        </p:nvSpPr>
        <p:spPr bwMode="auto">
          <a:xfrm>
            <a:off x="6600056" y="1268414"/>
            <a:ext cx="4752527"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a:extLst>
              <a:ext uri="{FF2B5EF4-FFF2-40B4-BE49-F238E27FC236}">
                <a16:creationId xmlns:a16="http://schemas.microsoft.com/office/drawing/2014/main" id="{6A44018C-D903-C241-455F-1DA58623D832}"/>
              </a:ext>
            </a:extLst>
          </p:cNvPr>
          <p:cNvSpPr>
            <a:spLocks noGrp="1"/>
          </p:cNvSpPr>
          <p:nvPr>
            <p:ph sz="quarter" idx="13"/>
          </p:nvPr>
        </p:nvSpPr>
        <p:spPr>
          <a:xfrm>
            <a:off x="334800" y="1268414"/>
            <a:ext cx="6121240" cy="5113337"/>
          </a:xfrm>
        </p:spPr>
        <p:txBody>
          <a:bodyPr/>
          <a:lstStyle/>
          <a:p>
            <a:r>
              <a:rPr lang="en-US" sz="1600" dirty="0"/>
              <a:t>Every PSOC™ C3 device has following three life cycle stages</a:t>
            </a:r>
          </a:p>
          <a:p>
            <a:pPr lvl="1"/>
            <a:r>
              <a:rPr lang="en-US" sz="1400" dirty="0"/>
              <a:t>Development LCS</a:t>
            </a:r>
          </a:p>
          <a:p>
            <a:pPr lvl="1"/>
            <a:r>
              <a:rPr lang="en-US" sz="1400" dirty="0"/>
              <a:t>Production LCS</a:t>
            </a:r>
          </a:p>
          <a:p>
            <a:pPr lvl="1"/>
            <a:r>
              <a:rPr lang="en-US" sz="1400" dirty="0"/>
              <a:t>RMA LCS</a:t>
            </a:r>
          </a:p>
          <a:p>
            <a:r>
              <a:rPr lang="en-US" sz="1600" dirty="0"/>
              <a:t>LCS transitions are irreversible - you cannot go backwards</a:t>
            </a:r>
          </a:p>
          <a:p>
            <a:endParaRPr lang="en-US" sz="2000" dirty="0"/>
          </a:p>
          <a:p>
            <a:endParaRPr lang="en-IN" dirty="0"/>
          </a:p>
        </p:txBody>
      </p:sp>
      <p:pic>
        <p:nvPicPr>
          <p:cNvPr id="10" name="Content Placeholder 9">
            <a:extLst>
              <a:ext uri="{FF2B5EF4-FFF2-40B4-BE49-F238E27FC236}">
                <a16:creationId xmlns:a16="http://schemas.microsoft.com/office/drawing/2014/main" id="{9F624C88-5369-F815-06C2-6D277FE73A84}"/>
              </a:ext>
            </a:extLst>
          </p:cNvPr>
          <p:cNvPicPr>
            <a:picLocks noGrp="1" noChangeAspect="1"/>
          </p:cNvPicPr>
          <p:nvPr>
            <p:ph sz="quarter" idx="14"/>
          </p:nvPr>
        </p:nvPicPr>
        <p:blipFill>
          <a:blip r:embed="rId2"/>
          <a:stretch>
            <a:fillRect/>
          </a:stretch>
        </p:blipFill>
        <p:spPr>
          <a:xfrm>
            <a:off x="6842430" y="1449851"/>
            <a:ext cx="4267778" cy="4731890"/>
          </a:xfrm>
          <a:prstGeom prst="rect">
            <a:avLst/>
          </a:prstGeom>
        </p:spPr>
      </p:pic>
      <p:sp>
        <p:nvSpPr>
          <p:cNvPr id="4" name="Title 3">
            <a:extLst>
              <a:ext uri="{FF2B5EF4-FFF2-40B4-BE49-F238E27FC236}">
                <a16:creationId xmlns:a16="http://schemas.microsoft.com/office/drawing/2014/main" id="{066FA833-CC07-5276-7DD3-46CE5A85234C}"/>
              </a:ext>
            </a:extLst>
          </p:cNvPr>
          <p:cNvSpPr>
            <a:spLocks noGrp="1"/>
          </p:cNvSpPr>
          <p:nvPr>
            <p:ph type="title"/>
          </p:nvPr>
        </p:nvSpPr>
        <p:spPr/>
        <p:txBody>
          <a:bodyPr/>
          <a:lstStyle/>
          <a:p>
            <a:r>
              <a:rPr lang="en-IN" dirty="0"/>
              <a:t>Device lifecycle stages - overview</a:t>
            </a:r>
          </a:p>
        </p:txBody>
      </p:sp>
    </p:spTree>
    <p:extLst>
      <p:ext uri="{BB962C8B-B14F-4D97-AF65-F5344CB8AC3E}">
        <p14:creationId xmlns:p14="http://schemas.microsoft.com/office/powerpoint/2010/main" val="547707373"/>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68A94F-4CAF-AA86-F8C6-868B0EB3BD36}"/>
              </a:ext>
            </a:extLst>
          </p:cNvPr>
          <p:cNvSpPr/>
          <p:nvPr/>
        </p:nvSpPr>
        <p:spPr bwMode="auto">
          <a:xfrm>
            <a:off x="6384032" y="1268414"/>
            <a:ext cx="4968551"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p:cNvSpPr>
            <a:spLocks noGrp="1"/>
          </p:cNvSpPr>
          <p:nvPr>
            <p:ph sz="quarter" idx="13" hasCustomPrompt="1"/>
          </p:nvPr>
        </p:nvSpPr>
        <p:spPr>
          <a:xfrm>
            <a:off x="334800" y="1268414"/>
            <a:ext cx="5833208" cy="5113337"/>
          </a:xfrm>
        </p:spPr>
        <p:txBody>
          <a:bodyPr wrap="square"/>
          <a:lstStyle/>
          <a:p>
            <a:r>
              <a:rPr sz="1600" dirty="0"/>
              <a:t>Out of the box</a:t>
            </a:r>
          </a:p>
          <a:p>
            <a:pPr lvl="1"/>
            <a:r>
              <a:rPr sz="1400" dirty="0"/>
              <a:t>Factory default policy: </a:t>
            </a:r>
            <a:r>
              <a:rPr lang="en-US" sz="1400" dirty="0"/>
              <a:t>DAP is </a:t>
            </a:r>
            <a:r>
              <a:rPr sz="1400" dirty="0"/>
              <a:t>open</a:t>
            </a:r>
          </a:p>
          <a:p>
            <a:pPr lvl="1"/>
            <a:r>
              <a:rPr sz="1400" dirty="0"/>
              <a:t>No signature verification </a:t>
            </a:r>
            <a:r>
              <a:rPr lang="en-IN" sz="1400" dirty="0"/>
              <a:t>-</a:t>
            </a:r>
            <a:r>
              <a:rPr sz="1400" dirty="0"/>
              <a:t> program and debug freely</a:t>
            </a:r>
            <a:endParaRPr lang="en-US" sz="1400" dirty="0"/>
          </a:p>
          <a:p>
            <a:r>
              <a:rPr sz="1600" dirty="0"/>
              <a:t>OEM ownership</a:t>
            </a:r>
          </a:p>
          <a:p>
            <a:pPr lvl="1"/>
            <a:r>
              <a:rPr sz="1400" dirty="0"/>
              <a:t>Install your keys and custom policy via development certificate</a:t>
            </a:r>
          </a:p>
          <a:p>
            <a:pPr lvl="1"/>
            <a:r>
              <a:rPr lang="en-US" sz="1400" dirty="0"/>
              <a:t>Re-provision as many times as needed - LCS does not change</a:t>
            </a:r>
          </a:p>
          <a:p>
            <a:pPr lvl="1"/>
            <a:r>
              <a:rPr lang="en-US" sz="1400" dirty="0"/>
              <a:t>No fear of loosing keys, can install new keys (Temporary ownership)</a:t>
            </a:r>
          </a:p>
          <a:p>
            <a:r>
              <a:rPr sz="1600" dirty="0"/>
              <a:t>Test production readiness </a:t>
            </a:r>
            <a:r>
              <a:rPr lang="en-IN" sz="1600" dirty="0"/>
              <a:t>-</a:t>
            </a:r>
            <a:r>
              <a:rPr sz="1600" dirty="0"/>
              <a:t> without leaving </a:t>
            </a:r>
            <a:r>
              <a:rPr lang="en-IN" sz="1600" dirty="0"/>
              <a:t>d</a:t>
            </a:r>
            <a:r>
              <a:rPr sz="1600" dirty="0" err="1"/>
              <a:t>ev</a:t>
            </a:r>
            <a:r>
              <a:rPr lang="en-IN" sz="1600" dirty="0" err="1"/>
              <a:t>elopment</a:t>
            </a:r>
            <a:r>
              <a:rPr sz="1600" dirty="0"/>
              <a:t> LCS</a:t>
            </a:r>
          </a:p>
          <a:p>
            <a:pPr lvl="1"/>
            <a:r>
              <a:rPr sz="1400" dirty="0"/>
              <a:t>Enable Secure boot, sign your image, validate authenticated boot</a:t>
            </a:r>
          </a:p>
          <a:p>
            <a:pPr lvl="1"/>
            <a:r>
              <a:rPr sz="1400" dirty="0"/>
              <a:t>Confirm your policy, keys, and signing flow are correct first</a:t>
            </a:r>
            <a:endParaRPr lang="en-US" dirty="0"/>
          </a:p>
          <a:p>
            <a:r>
              <a:rPr sz="1600" dirty="0"/>
              <a:t>Recommended workflow</a:t>
            </a:r>
          </a:p>
          <a:p>
            <a:pPr lvl="1"/>
            <a:r>
              <a:rPr sz="1400" dirty="0"/>
              <a:t>Develop → Test → Validate</a:t>
            </a:r>
            <a:r>
              <a:rPr lang="en-US" sz="1400" dirty="0"/>
              <a:t> </a:t>
            </a:r>
            <a:r>
              <a:rPr lang="en-IN" sz="1400" dirty="0"/>
              <a:t>→ </a:t>
            </a:r>
            <a:r>
              <a:rPr lang="en-US" sz="1400" dirty="0"/>
              <a:t>Finalize</a:t>
            </a:r>
            <a:r>
              <a:rPr sz="1400" dirty="0"/>
              <a:t> → then transition</a:t>
            </a:r>
          </a:p>
        </p:txBody>
      </p:sp>
      <p:sp>
        <p:nvSpPr>
          <p:cNvPr id="4" name="Title 3"/>
          <p:cNvSpPr>
            <a:spLocks noGrp="1"/>
          </p:cNvSpPr>
          <p:nvPr>
            <p:ph type="title" hasCustomPrompt="1"/>
          </p:nvPr>
        </p:nvSpPr>
        <p:spPr/>
        <p:txBody>
          <a:bodyPr wrap="square"/>
          <a:lstStyle/>
          <a:p>
            <a:r>
              <a:rPr dirty="0"/>
              <a:t>Development LCS </a:t>
            </a:r>
            <a:r>
              <a:rPr lang="en-IN" dirty="0"/>
              <a:t>- b</a:t>
            </a:r>
            <a:r>
              <a:rPr dirty="0"/>
              <a:t>ring-</a:t>
            </a:r>
            <a:r>
              <a:rPr lang="en-IN" dirty="0"/>
              <a:t>u</a:t>
            </a:r>
            <a:r>
              <a:rPr dirty="0"/>
              <a:t>p</a:t>
            </a:r>
          </a:p>
        </p:txBody>
      </p:sp>
      <p:pic>
        <p:nvPicPr>
          <p:cNvPr id="6" name="Picture 5">
            <a:extLst>
              <a:ext uri="{FF2B5EF4-FFF2-40B4-BE49-F238E27FC236}">
                <a16:creationId xmlns:a16="http://schemas.microsoft.com/office/drawing/2014/main" id="{6DDFA1CF-B226-4D41-9678-8284CD6475A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37061" y="1823623"/>
            <a:ext cx="4262492" cy="4002917"/>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06C2880-DAEC-98E4-5795-2FB38F6E8BD0}"/>
              </a:ext>
            </a:extLst>
          </p:cNvPr>
          <p:cNvSpPr/>
          <p:nvPr/>
        </p:nvSpPr>
        <p:spPr bwMode="auto">
          <a:xfrm>
            <a:off x="6600056" y="1268414"/>
            <a:ext cx="5257144"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p:cNvSpPr>
            <a:spLocks noGrp="1"/>
          </p:cNvSpPr>
          <p:nvPr>
            <p:ph sz="quarter" idx="13" hasCustomPrompt="1"/>
          </p:nvPr>
        </p:nvSpPr>
        <p:spPr>
          <a:xfrm>
            <a:off x="334800" y="1268414"/>
            <a:ext cx="5761200" cy="5113337"/>
          </a:xfrm>
        </p:spPr>
        <p:txBody>
          <a:bodyPr wrap="square"/>
          <a:lstStyle/>
          <a:p>
            <a:r>
              <a:rPr lang="en-US" sz="1600" dirty="0"/>
              <a:t>Transiting to Production LCS</a:t>
            </a:r>
            <a:endParaRPr sz="1600" dirty="0"/>
          </a:p>
          <a:p>
            <a:pPr lvl="1"/>
            <a:r>
              <a:rPr sz="1400" dirty="0"/>
              <a:t>Provision with a production certificate from Infineon EPSS</a:t>
            </a:r>
          </a:p>
          <a:p>
            <a:pPr lvl="1"/>
            <a:r>
              <a:rPr sz="1400" dirty="0"/>
              <a:t>Irreversible </a:t>
            </a:r>
            <a:r>
              <a:rPr lang="en-IN" sz="1400" dirty="0"/>
              <a:t>-</a:t>
            </a:r>
            <a:r>
              <a:rPr sz="1400" dirty="0"/>
              <a:t> no return to </a:t>
            </a:r>
            <a:r>
              <a:rPr lang="en-IN" sz="1400" dirty="0"/>
              <a:t>d</a:t>
            </a:r>
            <a:r>
              <a:rPr sz="1400" dirty="0" err="1"/>
              <a:t>evelopment</a:t>
            </a:r>
            <a:r>
              <a:rPr sz="1400" dirty="0"/>
              <a:t> LCS</a:t>
            </a:r>
            <a:r>
              <a:rPr lang="en-US" sz="1400" dirty="0"/>
              <a:t>. One device, one chance</a:t>
            </a:r>
            <a:endParaRPr lang="en-US" sz="1600" dirty="0"/>
          </a:p>
          <a:p>
            <a:r>
              <a:rPr lang="en-US" sz="1600" dirty="0"/>
              <a:t>Asset locking</a:t>
            </a:r>
          </a:p>
          <a:p>
            <a:pPr lvl="1"/>
            <a:r>
              <a:rPr sz="1400" dirty="0"/>
              <a:t>OEM ROT keys in </a:t>
            </a:r>
            <a:r>
              <a:rPr sz="1400" dirty="0" err="1"/>
              <a:t>SFlash</a:t>
            </a:r>
            <a:r>
              <a:rPr sz="1400" dirty="0"/>
              <a:t> finalized</a:t>
            </a:r>
            <a:r>
              <a:rPr lang="en-US" sz="1400" dirty="0"/>
              <a:t> (Ownership is permanent)</a:t>
            </a:r>
            <a:endParaRPr sz="1400" dirty="0"/>
          </a:p>
          <a:p>
            <a:pPr lvl="1"/>
            <a:r>
              <a:rPr sz="1400" dirty="0" err="1"/>
              <a:t>prov_oem_complete</a:t>
            </a:r>
            <a:r>
              <a:rPr sz="1400" dirty="0"/>
              <a:t> = true locks all </a:t>
            </a:r>
            <a:r>
              <a:rPr sz="1400" dirty="0" err="1"/>
              <a:t>SFlash</a:t>
            </a:r>
            <a:r>
              <a:rPr sz="1400" dirty="0"/>
              <a:t> assets permanently</a:t>
            </a:r>
            <a:endParaRPr lang="en-US" sz="1600" dirty="0"/>
          </a:p>
          <a:p>
            <a:r>
              <a:rPr sz="1600" dirty="0"/>
              <a:t>Key rotation</a:t>
            </a:r>
            <a:endParaRPr lang="en-US" sz="1600" dirty="0"/>
          </a:p>
          <a:p>
            <a:pPr lvl="1"/>
            <a:r>
              <a:rPr sz="1400" dirty="0"/>
              <a:t>OEM_ROT_KEY_0 → OEM_ROT_KEY_1 (once</a:t>
            </a:r>
            <a:r>
              <a:rPr lang="en-IN" sz="1400" dirty="0"/>
              <a:t> </a:t>
            </a:r>
            <a:r>
              <a:rPr sz="1400" dirty="0"/>
              <a:t>irreversible)</a:t>
            </a:r>
            <a:endParaRPr lang="en-US" sz="2000" dirty="0"/>
          </a:p>
          <a:p>
            <a:pPr marL="0" indent="0"/>
            <a:r>
              <a:rPr lang="en-IN" sz="1600" dirty="0"/>
              <a:t>  </a:t>
            </a:r>
            <a:r>
              <a:rPr sz="1600" dirty="0"/>
              <a:t>Authenticated debug via signed debug token (if configured)</a:t>
            </a:r>
            <a:br>
              <a:rPr lang="en-IN" sz="1600" dirty="0"/>
            </a:br>
            <a:r>
              <a:rPr lang="en-IN" sz="1600" b="1" dirty="0"/>
              <a:t>Note: </a:t>
            </a:r>
            <a:r>
              <a:rPr lang="en-IN" sz="1600" dirty="0"/>
              <a:t>Infineon recommends to deploy the devices in production LCS</a:t>
            </a:r>
          </a:p>
          <a:p>
            <a:pPr marL="0" indent="0">
              <a:buNone/>
            </a:pPr>
            <a:endParaRPr lang="en-IN" sz="1600" b="1" dirty="0"/>
          </a:p>
          <a:p>
            <a:pPr marL="0" indent="0">
              <a:buNone/>
            </a:pPr>
            <a:endParaRPr lang="en-IN" sz="1600" dirty="0"/>
          </a:p>
          <a:p>
            <a:endParaRPr lang="en-US" sz="1600" dirty="0"/>
          </a:p>
          <a:p>
            <a:endParaRPr lang="en-US" sz="1600" dirty="0"/>
          </a:p>
          <a:p>
            <a:endParaRPr lang="en-US" sz="1700" dirty="0"/>
          </a:p>
        </p:txBody>
      </p:sp>
      <p:sp>
        <p:nvSpPr>
          <p:cNvPr id="4" name="Title 3"/>
          <p:cNvSpPr>
            <a:spLocks noGrp="1"/>
          </p:cNvSpPr>
          <p:nvPr>
            <p:ph type="title" hasCustomPrompt="1"/>
          </p:nvPr>
        </p:nvSpPr>
        <p:spPr/>
        <p:txBody>
          <a:bodyPr wrap="square"/>
          <a:lstStyle/>
          <a:p>
            <a:r>
              <a:rPr dirty="0"/>
              <a:t>Production LCS </a:t>
            </a:r>
            <a:r>
              <a:rPr lang="en-IN" dirty="0"/>
              <a:t>- f</a:t>
            </a:r>
            <a:r>
              <a:rPr dirty="0" err="1"/>
              <a:t>ield</a:t>
            </a:r>
            <a:r>
              <a:rPr dirty="0"/>
              <a:t> </a:t>
            </a:r>
            <a:r>
              <a:rPr lang="en-IN" dirty="0"/>
              <a:t>d</a:t>
            </a:r>
            <a:r>
              <a:rPr dirty="0" err="1"/>
              <a:t>eployment</a:t>
            </a:r>
            <a:endParaRPr dirty="0"/>
          </a:p>
        </p:txBody>
      </p:sp>
      <p:pic>
        <p:nvPicPr>
          <p:cNvPr id="6" name="Picture 5">
            <a:extLst>
              <a:ext uri="{FF2B5EF4-FFF2-40B4-BE49-F238E27FC236}">
                <a16:creationId xmlns:a16="http://schemas.microsoft.com/office/drawing/2014/main" id="{BD86FEC9-585F-4EEB-A634-AB436DA381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6120" y="2204864"/>
            <a:ext cx="4421383" cy="2880320"/>
          </a:xfrm>
          <a:prstGeom prst="rect">
            <a:avLst/>
          </a:prstGeom>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EA7C18-BEC7-9807-774C-9D33FF60220D}"/>
              </a:ext>
            </a:extLst>
          </p:cNvPr>
          <p:cNvSpPr/>
          <p:nvPr/>
        </p:nvSpPr>
        <p:spPr bwMode="auto">
          <a:xfrm>
            <a:off x="7088919" y="1273716"/>
            <a:ext cx="4752527"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p:cNvSpPr>
            <a:spLocks noGrp="1"/>
          </p:cNvSpPr>
          <p:nvPr>
            <p:ph sz="quarter" idx="13" hasCustomPrompt="1"/>
          </p:nvPr>
        </p:nvSpPr>
        <p:spPr>
          <a:xfrm>
            <a:off x="334800" y="1268414"/>
            <a:ext cx="6769312" cy="5113337"/>
          </a:xfrm>
        </p:spPr>
        <p:txBody>
          <a:bodyPr wrap="square"/>
          <a:lstStyle/>
          <a:p>
            <a:r>
              <a:rPr lang="en-IN" sz="1600" dirty="0"/>
              <a:t>RMA LCS purpose is to allow Infineon to perform device Failure Analysis (FA)</a:t>
            </a:r>
          </a:p>
          <a:p>
            <a:r>
              <a:rPr lang="en-IN" sz="1600" dirty="0"/>
              <a:t>Potential device issues that can be analysed in RMA</a:t>
            </a:r>
          </a:p>
          <a:p>
            <a:pPr lvl="1"/>
            <a:r>
              <a:rPr lang="en-IN" sz="1400" dirty="0"/>
              <a:t>Improper behaviour of Infineon BOOT Firmware code</a:t>
            </a:r>
          </a:p>
          <a:p>
            <a:pPr lvl="1"/>
            <a:r>
              <a:rPr lang="en-IN" sz="1400" dirty="0"/>
              <a:t>Issues caused by HW configuration (e.g. wounding, specific trim values)</a:t>
            </a:r>
          </a:p>
          <a:p>
            <a:pPr lvl="1"/>
            <a:r>
              <a:rPr lang="en-IN" sz="1400" dirty="0"/>
              <a:t>Hardware issues</a:t>
            </a:r>
          </a:p>
          <a:p>
            <a:r>
              <a:rPr lang="en-US" sz="1600" dirty="0"/>
              <a:t>OEM/Customer transitions the device LCS to RMA</a:t>
            </a:r>
          </a:p>
          <a:p>
            <a:r>
              <a:rPr lang="en-US" sz="1600" dirty="0"/>
              <a:t>During transition, all OEM secrets are erased</a:t>
            </a:r>
          </a:p>
          <a:p>
            <a:r>
              <a:rPr lang="en-US" sz="1600" dirty="0"/>
              <a:t>OEM ships the device to Infineon in RMA LCS</a:t>
            </a:r>
          </a:p>
          <a:p>
            <a:r>
              <a:rPr lang="en-US" sz="1600" dirty="0"/>
              <a:t>Only Infineon can unlock and perform analysis</a:t>
            </a:r>
          </a:p>
          <a:p>
            <a:endParaRPr sz="1600" dirty="0"/>
          </a:p>
          <a:p>
            <a:endParaRPr sz="1700" dirty="0"/>
          </a:p>
        </p:txBody>
      </p:sp>
      <p:sp>
        <p:nvSpPr>
          <p:cNvPr id="3" name="Title 2"/>
          <p:cNvSpPr>
            <a:spLocks noGrp="1"/>
          </p:cNvSpPr>
          <p:nvPr>
            <p:ph type="title" hasCustomPrompt="1"/>
          </p:nvPr>
        </p:nvSpPr>
        <p:spPr/>
        <p:txBody>
          <a:bodyPr wrap="square"/>
          <a:lstStyle/>
          <a:p>
            <a:r>
              <a:rPr dirty="0"/>
              <a:t>RMA LCS </a:t>
            </a:r>
            <a:r>
              <a:rPr lang="en-IN" dirty="0"/>
              <a:t>- f</a:t>
            </a:r>
            <a:r>
              <a:rPr dirty="0" err="1"/>
              <a:t>ailure</a:t>
            </a:r>
            <a:r>
              <a:rPr dirty="0"/>
              <a:t> </a:t>
            </a:r>
            <a:r>
              <a:rPr lang="en-IN" dirty="0"/>
              <a:t>a</a:t>
            </a:r>
            <a:r>
              <a:rPr dirty="0" err="1"/>
              <a:t>nalysis</a:t>
            </a:r>
            <a:endParaRPr dirty="0"/>
          </a:p>
        </p:txBody>
      </p:sp>
      <p:pic>
        <p:nvPicPr>
          <p:cNvPr id="6" name="Picture 5">
            <a:extLst>
              <a:ext uri="{FF2B5EF4-FFF2-40B4-BE49-F238E27FC236}">
                <a16:creationId xmlns:a16="http://schemas.microsoft.com/office/drawing/2014/main" id="{ECB153A0-38DC-49C0-8DFD-9E55EA5D4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8168" y="1951524"/>
            <a:ext cx="4126879" cy="3600746"/>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4367F78-FB32-0FA1-0883-2C877D9B9A6F}"/>
              </a:ext>
            </a:extLst>
          </p:cNvPr>
          <p:cNvGrpSpPr/>
          <p:nvPr>
            <p:custDataLst>
              <p:tags r:id="rId1"/>
            </p:custDataLst>
          </p:nvPr>
        </p:nvGrpSpPr>
        <p:grpSpPr>
          <a:xfrm>
            <a:off x="334434" y="1268413"/>
            <a:ext cx="11521017" cy="2231998"/>
            <a:chOff x="334434" y="1268413"/>
            <a:chExt cx="11521017" cy="2231998"/>
          </a:xfrm>
        </p:grpSpPr>
        <p:sp>
          <p:nvSpPr>
            <p:cNvPr id="5" name="MIO_AGENDA_ELEMENT_TITEL_1">
              <a:hlinkClick r:id="rId17" action="ppaction://hlinksldjump"/>
              <a:extLst>
                <a:ext uri="{FF2B5EF4-FFF2-40B4-BE49-F238E27FC236}">
                  <a16:creationId xmlns:a16="http://schemas.microsoft.com/office/drawing/2014/main" id="{9B76C3ED-E5CD-2DC2-8434-D74BDAD8F149}"/>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Security by design</a:t>
              </a:r>
              <a:endParaRPr lang="de-DE" sz="1800" dirty="0">
                <a:latin typeface="+mn-lt"/>
              </a:endParaRPr>
            </a:p>
          </p:txBody>
        </p:sp>
        <p:sp>
          <p:nvSpPr>
            <p:cNvPr id="6" name="MIO_AGENDA_ELEMENT_ELEMENTNUMBER_1">
              <a:hlinkClick r:id="rId17" action="ppaction://hlinksldjump"/>
              <a:extLst>
                <a:ext uri="{FF2B5EF4-FFF2-40B4-BE49-F238E27FC236}">
                  <a16:creationId xmlns:a16="http://schemas.microsoft.com/office/drawing/2014/main" id="{CFFF6D2A-72A2-1F70-F0FD-F4B4ACD4D0E9}"/>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7" action="ppaction://hlinksldjump"/>
              <a:extLst>
                <a:ext uri="{FF2B5EF4-FFF2-40B4-BE49-F238E27FC236}">
                  <a16:creationId xmlns:a16="http://schemas.microsoft.com/office/drawing/2014/main" id="{AECFC03E-08FE-42A8-BA5C-B275386081FB}"/>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8" action="ppaction://hlinksldjump"/>
              <a:extLst>
                <a:ext uri="{FF2B5EF4-FFF2-40B4-BE49-F238E27FC236}">
                  <a16:creationId xmlns:a16="http://schemas.microsoft.com/office/drawing/2014/main" id="{FD8E77B7-5109-2B3D-EA51-1B8326400114}"/>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Device life cycle stage (LCS)</a:t>
              </a:r>
              <a:endParaRPr lang="de-DE" sz="1800" dirty="0">
                <a:latin typeface="+mn-lt"/>
              </a:endParaRPr>
            </a:p>
          </p:txBody>
        </p:sp>
        <p:sp>
          <p:nvSpPr>
            <p:cNvPr id="9" name="MIO_AGENDA_ELEMENT_ELEMENTNUMBER_2">
              <a:hlinkClick r:id="rId18" action="ppaction://hlinksldjump"/>
              <a:extLst>
                <a:ext uri="{FF2B5EF4-FFF2-40B4-BE49-F238E27FC236}">
                  <a16:creationId xmlns:a16="http://schemas.microsoft.com/office/drawing/2014/main" id="{4DDC6B02-A461-BC58-574E-A4F8A737AF04}"/>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8" action="ppaction://hlinksldjump"/>
              <a:extLst>
                <a:ext uri="{FF2B5EF4-FFF2-40B4-BE49-F238E27FC236}">
                  <a16:creationId xmlns:a16="http://schemas.microsoft.com/office/drawing/2014/main" id="{85B6EBA4-C11A-541A-A970-5E057C3AFAD4}"/>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6</a:t>
              </a:r>
              <a:endParaRPr lang="de-DE" sz="1800" dirty="0">
                <a:latin typeface="+mn-lt"/>
              </a:endParaRPr>
            </a:p>
          </p:txBody>
        </p:sp>
        <p:sp>
          <p:nvSpPr>
            <p:cNvPr id="11" name="MIO_AGENDA_ELEMENT_TITEL_3">
              <a:hlinkClick r:id="rId19" action="ppaction://hlinksldjump"/>
              <a:extLst>
                <a:ext uri="{FF2B5EF4-FFF2-40B4-BE49-F238E27FC236}">
                  <a16:creationId xmlns:a16="http://schemas.microsoft.com/office/drawing/2014/main" id="{7E363D64-AF36-F554-531F-32AAAADC8CAF}"/>
                </a:ext>
              </a:extLst>
            </p:cNvPr>
            <p:cNvSpPr>
              <a:spLocks/>
            </p:cNvSpPr>
            <p:nvPr>
              <p:custDataLst>
                <p:tags r:id="rId9"/>
              </p:custDataLst>
            </p:nvPr>
          </p:nvSpPr>
          <p:spPr>
            <a:xfrm>
              <a:off x="1235075" y="2420412"/>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b="1">
                  <a:solidFill>
                    <a:schemeClr val="tx2"/>
                  </a:solidFill>
                  <a:latin typeface="+mn-lt"/>
                </a:rPr>
                <a:t>Ownership transfer and provisioning</a:t>
              </a:r>
              <a:endParaRPr lang="de-DE" sz="1800" b="1" dirty="0">
                <a:solidFill>
                  <a:schemeClr val="tx2"/>
                </a:solidFill>
                <a:latin typeface="+mn-lt"/>
              </a:endParaRPr>
            </a:p>
          </p:txBody>
        </p:sp>
        <p:sp>
          <p:nvSpPr>
            <p:cNvPr id="12" name="MIO_AGENDA_ELEMENT_ELEMENTNUMBER_3">
              <a:hlinkClick r:id="rId19" action="ppaction://hlinksldjump"/>
              <a:extLst>
                <a:ext uri="{FF2B5EF4-FFF2-40B4-BE49-F238E27FC236}">
                  <a16:creationId xmlns:a16="http://schemas.microsoft.com/office/drawing/2014/main" id="{8FA8929E-71AE-367A-24F5-91C5DB0CCA8F}"/>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9" action="ppaction://hlinksldjump"/>
              <a:extLst>
                <a:ext uri="{FF2B5EF4-FFF2-40B4-BE49-F238E27FC236}">
                  <a16:creationId xmlns:a16="http://schemas.microsoft.com/office/drawing/2014/main" id="{FE9921D9-C2F7-B2FE-5C58-695E22211D4B}"/>
                </a:ext>
              </a:extLst>
            </p:cNvPr>
            <p:cNvSpPr txBox="1">
              <a:spLocks/>
            </p:cNvSpPr>
            <p:nvPr>
              <p:custDataLst>
                <p:tags r:id="rId11"/>
              </p:custDataLst>
            </p:nvPr>
          </p:nvSpPr>
          <p:spPr>
            <a:xfrm>
              <a:off x="11026666" y="2420412"/>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11</a:t>
              </a:r>
              <a:endParaRPr lang="de-DE" sz="1800" b="1" dirty="0">
                <a:solidFill>
                  <a:schemeClr val="tx2"/>
                </a:solidFill>
                <a:latin typeface="+mn-lt"/>
                <a:cs typeface="Segoe UI Semibold" panose="020B0702040204020203" pitchFamily="34" charset="0"/>
              </a:endParaRPr>
            </a:p>
          </p:txBody>
        </p:sp>
        <p:sp>
          <p:nvSpPr>
            <p:cNvPr id="14" name="MIO_AGENDA_ELEMENT_TITEL_4">
              <a:hlinkClick r:id="rId20" action="ppaction://hlinksldjump"/>
              <a:extLst>
                <a:ext uri="{FF2B5EF4-FFF2-40B4-BE49-F238E27FC236}">
                  <a16:creationId xmlns:a16="http://schemas.microsoft.com/office/drawing/2014/main" id="{35BB1909-C7B7-7F94-D6C9-3E04857CE61E}"/>
                </a:ext>
              </a:extLst>
            </p:cNvPr>
            <p:cNvSpPr>
              <a:spLocks/>
            </p:cNvSpPr>
            <p:nvPr>
              <p:custDataLst>
                <p:tags r:id="rId12"/>
              </p:custDataLst>
            </p:nvPr>
          </p:nvSpPr>
          <p:spPr>
            <a:xfrm>
              <a:off x="1235076" y="2996411"/>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Secure boot</a:t>
              </a:r>
              <a:endParaRPr lang="de-DE" sz="1800" dirty="0">
                <a:latin typeface="+mn-lt"/>
              </a:endParaRPr>
            </a:p>
          </p:txBody>
        </p:sp>
        <p:sp>
          <p:nvSpPr>
            <p:cNvPr id="15" name="MIO_AGENDA_ELEMENT_ELEMENTNUMBER_4">
              <a:hlinkClick r:id="rId20" action="ppaction://hlinksldjump"/>
              <a:extLst>
                <a:ext uri="{FF2B5EF4-FFF2-40B4-BE49-F238E27FC236}">
                  <a16:creationId xmlns:a16="http://schemas.microsoft.com/office/drawing/2014/main" id="{155AC098-1945-31D0-70D6-56FAA903EC91}"/>
                </a:ext>
              </a:extLst>
            </p:cNvPr>
            <p:cNvSpPr>
              <a:spLocks noChangeAspect="1"/>
            </p:cNvSpPr>
            <p:nvPr>
              <p:custDataLst>
                <p:tags r:id="rId13"/>
              </p:custDataLst>
            </p:nvPr>
          </p:nvSpPr>
          <p:spPr>
            <a:xfrm>
              <a:off x="334434" y="2996411"/>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4</a:t>
              </a:r>
              <a:endParaRPr lang="de-DE" b="1" dirty="0">
                <a:solidFill>
                  <a:schemeClr val="bg1"/>
                </a:solidFill>
                <a:latin typeface="+mn-lt"/>
                <a:cs typeface="Arial" panose="020B0604020202020204" pitchFamily="34" charset="0"/>
              </a:endParaRPr>
            </a:p>
          </p:txBody>
        </p:sp>
        <p:sp>
          <p:nvSpPr>
            <p:cNvPr id="16" name="MIO_AGENDA_ELEMENT_PAGENUMBER_4">
              <a:hlinkClick r:id="rId20" action="ppaction://hlinksldjump"/>
              <a:extLst>
                <a:ext uri="{FF2B5EF4-FFF2-40B4-BE49-F238E27FC236}">
                  <a16:creationId xmlns:a16="http://schemas.microsoft.com/office/drawing/2014/main" id="{84F6A9F9-CDB3-65A2-0AE0-A70E6FD810C8}"/>
                </a:ext>
              </a:extLst>
            </p:cNvPr>
            <p:cNvSpPr txBox="1">
              <a:spLocks/>
            </p:cNvSpPr>
            <p:nvPr>
              <p:custDataLst>
                <p:tags r:id="rId14"/>
              </p:custDataLst>
            </p:nvPr>
          </p:nvSpPr>
          <p:spPr>
            <a:xfrm>
              <a:off x="11026666" y="2996411"/>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17</a:t>
              </a:r>
              <a:endParaRPr lang="de-DE" sz="1800" dirty="0">
                <a:latin typeface="+mn-lt"/>
              </a:endParaRPr>
            </a:p>
          </p:txBody>
        </p:sp>
      </p:grpSp>
      <p:sp>
        <p:nvSpPr>
          <p:cNvPr id="2" name="Title 1">
            <a:extLst>
              <a:ext uri="{FF2B5EF4-FFF2-40B4-BE49-F238E27FC236}">
                <a16:creationId xmlns:a16="http://schemas.microsoft.com/office/drawing/2014/main" id="{CB801DFB-99AB-C3BB-1F36-2D09E28D5484}"/>
              </a:ext>
            </a:extLst>
          </p:cNvPr>
          <p:cNvSpPr>
            <a:spLocks noGrp="1"/>
          </p:cNvSpPr>
          <p:nvPr>
            <p:ph type="title"/>
            <p:custDataLst>
              <p:tags r:id="rId2"/>
            </p:custDataLst>
          </p:nvPr>
        </p:nvSpPr>
        <p:spPr/>
        <p:txBody>
          <a:bodyPr/>
          <a:lstStyle/>
          <a:p>
            <a:r>
              <a:rPr lang="en-IN"/>
              <a:t>Table of contents</a:t>
            </a:r>
          </a:p>
        </p:txBody>
      </p:sp>
    </p:spTree>
    <p:extLst>
      <p:ext uri="{BB962C8B-B14F-4D97-AF65-F5344CB8AC3E}">
        <p14:creationId xmlns:p14="http://schemas.microsoft.com/office/powerpoint/2010/main" val="4030953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6EBD7E-9DE8-33B6-965D-05772DCD5E41}"/>
              </a:ext>
            </a:extLst>
          </p:cNvPr>
          <p:cNvSpPr/>
          <p:nvPr/>
        </p:nvSpPr>
        <p:spPr bwMode="auto">
          <a:xfrm>
            <a:off x="6096001" y="1273716"/>
            <a:ext cx="5745446"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p:cNvSpPr>
            <a:spLocks noGrp="1"/>
          </p:cNvSpPr>
          <p:nvPr>
            <p:ph sz="quarter" idx="13" hasCustomPrompt="1"/>
          </p:nvPr>
        </p:nvSpPr>
        <p:spPr>
          <a:xfrm>
            <a:off x="334800" y="1268414"/>
            <a:ext cx="5761200" cy="5113337"/>
          </a:xfrm>
        </p:spPr>
        <p:txBody>
          <a:bodyPr wrap="square"/>
          <a:lstStyle/>
          <a:p>
            <a:r>
              <a:rPr sz="1600" dirty="0"/>
              <a:t>EPT is the </a:t>
            </a:r>
            <a:r>
              <a:rPr lang="en-US" sz="1600" dirty="0"/>
              <a:t>command line tools that enables security configuration and processing essential for </a:t>
            </a:r>
            <a:r>
              <a:rPr sz="1600" dirty="0"/>
              <a:t>PSOC™ C3</a:t>
            </a:r>
          </a:p>
          <a:p>
            <a:r>
              <a:rPr lang="en-IN" sz="1600" dirty="0"/>
              <a:t>Capabilities</a:t>
            </a:r>
          </a:p>
          <a:p>
            <a:pPr lvl="1"/>
            <a:r>
              <a:rPr sz="1400" dirty="0"/>
              <a:t>Key generation</a:t>
            </a:r>
            <a:r>
              <a:rPr lang="en-US" sz="1400" dirty="0"/>
              <a:t>.</a:t>
            </a:r>
          </a:p>
          <a:p>
            <a:pPr lvl="1"/>
            <a:r>
              <a:rPr sz="1400" dirty="0"/>
              <a:t>Provisioning</a:t>
            </a:r>
            <a:endParaRPr lang="en-IN" sz="1400" dirty="0"/>
          </a:p>
          <a:p>
            <a:pPr lvl="1"/>
            <a:r>
              <a:rPr lang="en-IN" sz="1400" dirty="0"/>
              <a:t>Debug and RMA token generation</a:t>
            </a:r>
          </a:p>
          <a:p>
            <a:pPr lvl="1"/>
            <a:r>
              <a:rPr lang="en-IN" sz="1400" dirty="0"/>
              <a:t>I</a:t>
            </a:r>
            <a:r>
              <a:rPr sz="1400" dirty="0"/>
              <a:t>mage signing</a:t>
            </a:r>
            <a:endParaRPr lang="en-US" sz="1400" dirty="0"/>
          </a:p>
          <a:p>
            <a:r>
              <a:rPr lang="en-IN" sz="1600" dirty="0"/>
              <a:t>Device to host communication</a:t>
            </a:r>
            <a:endParaRPr sz="1600" dirty="0"/>
          </a:p>
          <a:p>
            <a:pPr lvl="1"/>
            <a:r>
              <a:rPr sz="1400" dirty="0"/>
              <a:t>SWD interface using </a:t>
            </a:r>
            <a:r>
              <a:rPr sz="1400" dirty="0" err="1"/>
              <a:t>OpenOCD</a:t>
            </a:r>
            <a:endParaRPr lang="en-US" sz="1400" dirty="0"/>
          </a:p>
          <a:p>
            <a:pPr lvl="1"/>
            <a:r>
              <a:rPr sz="1400" dirty="0"/>
              <a:t>Serial interface using DFU </a:t>
            </a:r>
            <a:r>
              <a:rPr sz="1400" dirty="0" err="1"/>
              <a:t>HostTool</a:t>
            </a:r>
            <a:endParaRPr lang="en-US" sz="1400" dirty="0"/>
          </a:p>
          <a:p>
            <a:r>
              <a:rPr sz="1600" dirty="0"/>
              <a:t>Recommended shell: Modus-</a:t>
            </a:r>
            <a:r>
              <a:rPr lang="en-IN" sz="1600" dirty="0"/>
              <a:t>s</a:t>
            </a:r>
            <a:r>
              <a:rPr sz="1600" dirty="0"/>
              <a:t>hell (bundled with </a:t>
            </a:r>
            <a:r>
              <a:rPr lang="en-IN" sz="1600" dirty="0"/>
              <a:t>ModusToolbox™) </a:t>
            </a:r>
            <a:endParaRPr sz="1600" dirty="0"/>
          </a:p>
          <a:p>
            <a:endParaRPr sz="1600" dirty="0"/>
          </a:p>
        </p:txBody>
      </p:sp>
      <p:sp>
        <p:nvSpPr>
          <p:cNvPr id="3" name="Title 2"/>
          <p:cNvSpPr>
            <a:spLocks noGrp="1"/>
          </p:cNvSpPr>
          <p:nvPr>
            <p:ph type="title" hasCustomPrompt="1"/>
          </p:nvPr>
        </p:nvSpPr>
        <p:spPr/>
        <p:txBody>
          <a:bodyPr wrap="square"/>
          <a:lstStyle/>
          <a:p>
            <a:r>
              <a:rPr dirty="0"/>
              <a:t>Edge </a:t>
            </a:r>
            <a:r>
              <a:rPr lang="en-IN" dirty="0"/>
              <a:t>protect tools </a:t>
            </a:r>
            <a:r>
              <a:rPr dirty="0"/>
              <a:t>(EPT) </a:t>
            </a:r>
            <a:r>
              <a:rPr lang="en-IN" dirty="0"/>
              <a:t>- o</a:t>
            </a:r>
            <a:r>
              <a:rPr dirty="0" err="1"/>
              <a:t>verview</a:t>
            </a:r>
            <a:endParaRPr dirty="0"/>
          </a:p>
        </p:txBody>
      </p:sp>
      <p:pic>
        <p:nvPicPr>
          <p:cNvPr id="5" name="Picture 4">
            <a:extLst>
              <a:ext uri="{FF2B5EF4-FFF2-40B4-BE49-F238E27FC236}">
                <a16:creationId xmlns:a16="http://schemas.microsoft.com/office/drawing/2014/main" id="{633944FE-C797-4A1F-9B6B-1B739C5FAB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4152" y="1700808"/>
            <a:ext cx="3889486" cy="4450804"/>
          </a:xfrm>
          <a:prstGeom prst="rect">
            <a:avLst/>
          </a:prstGeom>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9E6BA-6AD6-0F42-F7A9-D5600F7D46C5}"/>
            </a:ext>
          </a:extLst>
        </p:cNvPr>
        <p:cNvGrpSpPr/>
        <p:nvPr/>
      </p:nvGrpSpPr>
      <p:grpSpPr>
        <a:xfrm>
          <a:off x="0" y="0"/>
          <a:ext cx="0" cy="0"/>
          <a:chOff x="0" y="0"/>
          <a:chExt cx="0" cy="0"/>
        </a:xfrm>
      </p:grpSpPr>
      <p:sp>
        <p:nvSpPr>
          <p:cNvPr id="12" name="Rounded Rectangle 10">
            <a:extLst>
              <a:ext uri="{FF2B5EF4-FFF2-40B4-BE49-F238E27FC236}">
                <a16:creationId xmlns:a16="http://schemas.microsoft.com/office/drawing/2014/main" id="{6E352148-9F28-595E-3AB2-1E3F39B48B1D}"/>
              </a:ext>
            </a:extLst>
          </p:cNvPr>
          <p:cNvSpPr/>
          <p:nvPr/>
        </p:nvSpPr>
        <p:spPr>
          <a:xfrm>
            <a:off x="6126038" y="1268414"/>
            <a:ext cx="5724000" cy="4680866"/>
          </a:xfrm>
          <a:prstGeom prst="rect">
            <a:avLst/>
          </a:prstGeom>
          <a:solidFill>
            <a:schemeClr val="bg1"/>
          </a:solidFill>
          <a:ln w="127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p>
        </p:txBody>
      </p:sp>
      <p:sp>
        <p:nvSpPr>
          <p:cNvPr id="4" name="Rounded Rectangle 10">
            <a:extLst>
              <a:ext uri="{FF2B5EF4-FFF2-40B4-BE49-F238E27FC236}">
                <a16:creationId xmlns:a16="http://schemas.microsoft.com/office/drawing/2014/main" id="{10AFE340-EF90-B1A4-ED77-58279097C1A5}"/>
              </a:ext>
            </a:extLst>
          </p:cNvPr>
          <p:cNvSpPr/>
          <p:nvPr/>
        </p:nvSpPr>
        <p:spPr>
          <a:xfrm>
            <a:off x="323189" y="1263336"/>
            <a:ext cx="5724000" cy="4680866"/>
          </a:xfrm>
          <a:prstGeom prst="rect">
            <a:avLst/>
          </a:prstGeom>
          <a:solidFill>
            <a:schemeClr val="bg1"/>
          </a:solidFill>
          <a:ln w="12700" cap="flat"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0" rtlCol="0" anchor="ctr"/>
          <a:lstStyle/>
          <a:p>
            <a:pPr algn="ctr"/>
            <a:endParaRPr lang="en-IN" sz="3200" dirty="0">
              <a:solidFill>
                <a:schemeClr val="tx1"/>
              </a:solidFill>
            </a:endParaRPr>
          </a:p>
        </p:txBody>
      </p:sp>
      <p:sp>
        <p:nvSpPr>
          <p:cNvPr id="3" name="Titel 2">
            <a:extLst>
              <a:ext uri="{FF2B5EF4-FFF2-40B4-BE49-F238E27FC236}">
                <a16:creationId xmlns:a16="http://schemas.microsoft.com/office/drawing/2014/main" id="{A132AC5A-1A4C-B79C-DBA4-536934C7C698}"/>
              </a:ext>
            </a:extLst>
          </p:cNvPr>
          <p:cNvSpPr>
            <a:spLocks noGrp="1"/>
          </p:cNvSpPr>
          <p:nvPr>
            <p:ph type="title" hasCustomPrompt="1"/>
          </p:nvPr>
        </p:nvSpPr>
        <p:spPr/>
        <p:txBody>
          <a:bodyPr/>
          <a:lstStyle/>
          <a:p>
            <a:r>
              <a:rPr dirty="0"/>
              <a:t>Two </a:t>
            </a:r>
            <a:r>
              <a:rPr lang="en-IN" dirty="0"/>
              <a:t>certificate types - d</a:t>
            </a:r>
            <a:r>
              <a:rPr dirty="0" err="1"/>
              <a:t>evelopment</a:t>
            </a:r>
            <a:r>
              <a:rPr dirty="0"/>
              <a:t> vs </a:t>
            </a:r>
            <a:r>
              <a:rPr lang="en-IN" dirty="0"/>
              <a:t>p</a:t>
            </a:r>
            <a:r>
              <a:rPr dirty="0" err="1"/>
              <a:t>roduction</a:t>
            </a:r>
            <a:endParaRPr lang="en-IN" dirty="0"/>
          </a:p>
        </p:txBody>
      </p:sp>
      <p:sp>
        <p:nvSpPr>
          <p:cNvPr id="10" name="Rechteck 42">
            <a:extLst>
              <a:ext uri="{FF2B5EF4-FFF2-40B4-BE49-F238E27FC236}">
                <a16:creationId xmlns:a16="http://schemas.microsoft.com/office/drawing/2014/main" id="{A1865F31-F241-ABAE-FC11-BFC97669DF11}"/>
              </a:ext>
            </a:extLst>
          </p:cNvPr>
          <p:cNvSpPr/>
          <p:nvPr/>
        </p:nvSpPr>
        <p:spPr bwMode="auto">
          <a:xfrm>
            <a:off x="5194942" y="2708847"/>
            <a:ext cx="1800000" cy="1800000"/>
          </a:xfrm>
          <a:prstGeom prst="rect">
            <a:avLst/>
          </a:prstGeom>
          <a:solidFill>
            <a:schemeClr val="bg1"/>
          </a:solidFill>
          <a:ln w="12700" cap="flat" cmpd="sng" algn="ctr">
            <a:solidFill>
              <a:schemeClr val="accent1"/>
            </a:solidFill>
            <a:prstDash val="solid"/>
            <a:miter lim="800000"/>
            <a:headEnd type="none" w="med" len="med"/>
            <a:tailEnd type="none" w="med" len="med"/>
          </a:ln>
        </p:spPr>
        <p:txBody>
          <a:bodyPr wrap="square" lIns="96000" tIns="96000" rIns="96000" bIns="96000" rtlCol="0" anchor="ctr"/>
          <a:lstStyle/>
          <a:p>
            <a:pPr algn="ctr" eaLnBrk="0" hangingPunct="0"/>
            <a:r>
              <a:rPr lang="en-IN" sz="1800" b="1">
                <a:solidFill>
                  <a:schemeClr val="bg1"/>
                </a:solidFill>
                <a:latin typeface="+mn-lt"/>
                <a:ea typeface="Verdana" pitchFamily="34" charset="0"/>
                <a:cs typeface="Verdana" pitchFamily="34" charset="0"/>
              </a:rPr>
              <a:t>Text</a:t>
            </a:r>
            <a:endParaRPr lang="en-IN" sz="1800" b="1" dirty="0">
              <a:solidFill>
                <a:schemeClr val="bg1"/>
              </a:solidFill>
              <a:latin typeface="+mn-lt"/>
              <a:ea typeface="Verdana" pitchFamily="34" charset="0"/>
              <a:cs typeface="Verdana" pitchFamily="34" charset="0"/>
            </a:endParaRPr>
          </a:p>
        </p:txBody>
      </p:sp>
      <p:sp>
        <p:nvSpPr>
          <p:cNvPr id="7" name="Content Placeholder 2">
            <a:extLst>
              <a:ext uri="{FF2B5EF4-FFF2-40B4-BE49-F238E27FC236}">
                <a16:creationId xmlns:a16="http://schemas.microsoft.com/office/drawing/2014/main" id="{1409816E-8E5E-5F12-EAF2-0EEEF284D184}"/>
              </a:ext>
            </a:extLst>
          </p:cNvPr>
          <p:cNvSpPr txBox="1">
            <a:spLocks/>
          </p:cNvSpPr>
          <p:nvPr/>
        </p:nvSpPr>
        <p:spPr>
          <a:xfrm>
            <a:off x="518854" y="1623031"/>
            <a:ext cx="4499195" cy="3971633"/>
          </a:xfrm>
          <a:prstGeom prst="rect">
            <a:avLst/>
          </a:prstGeom>
          <a:solidFill>
            <a:schemeClr val="bg1"/>
          </a:solidFill>
        </p:spPr>
        <p:txBody>
          <a:bodyPr vert="horz" lIns="0" tIns="0" rIns="0" bIns="0" rtlCol="0">
            <a:noAutofit/>
          </a:bodyPr>
          <a:lstStyle>
            <a:lvl1pPr marL="252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504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756000" indent="-252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pPr marL="0" indent="0">
              <a:buClr>
                <a:schemeClr val="bg1"/>
              </a:buClr>
              <a:buNone/>
            </a:pPr>
            <a:r>
              <a:rPr lang="en-US" sz="1400" b="1" dirty="0"/>
              <a:t>Development certificate</a:t>
            </a:r>
          </a:p>
          <a:p>
            <a:pPr>
              <a:buClr>
                <a:schemeClr val="bg1"/>
              </a:buClr>
              <a:buFont typeface="Arial" panose="020B0604020202020204" pitchFamily="34" charset="0"/>
              <a:buChar char="‒"/>
            </a:pPr>
            <a:endParaRPr lang="en-US" sz="1400" dirty="0"/>
          </a:p>
          <a:p>
            <a:pPr>
              <a:buClr>
                <a:srgbClr val="0A8276"/>
              </a:buClr>
            </a:pPr>
            <a:r>
              <a:rPr lang="en-US" sz="1400" dirty="0"/>
              <a:t>Device stays in development LCS after provisioning</a:t>
            </a:r>
          </a:p>
          <a:p>
            <a:pPr>
              <a:buClr>
                <a:srgbClr val="0A8276"/>
              </a:buClr>
            </a:pPr>
            <a:r>
              <a:rPr lang="en-US" sz="1400" dirty="0"/>
              <a:t>OEM ROT Keys can be changed (Ownership is temporary)</a:t>
            </a:r>
          </a:p>
          <a:p>
            <a:pPr>
              <a:buClr>
                <a:srgbClr val="0A8276"/>
              </a:buClr>
            </a:pPr>
            <a:r>
              <a:rPr lang="en-US" sz="1400" dirty="0"/>
              <a:t>Use case: bring-up, development, and validation work</a:t>
            </a:r>
          </a:p>
          <a:p>
            <a:pPr>
              <a:buClr>
                <a:srgbClr val="0A8276"/>
              </a:buClr>
              <a:buFont typeface="Arial" panose="020B0604020202020204" pitchFamily="34" charset="0"/>
              <a:buChar char="–"/>
            </a:pPr>
            <a:r>
              <a:rPr lang="en-US" sz="1400" dirty="0"/>
              <a:t>Security features can be fully tested with a development certificate — no need to transition to Production LCS</a:t>
            </a:r>
          </a:p>
          <a:p>
            <a:pPr>
              <a:buClr>
                <a:srgbClr val="0A8276"/>
              </a:buClr>
              <a:buFont typeface="Arial" panose="020B0604020202020204" pitchFamily="34" charset="0"/>
              <a:buChar char="‒"/>
            </a:pPr>
            <a:r>
              <a:rPr lang="en-US" sz="1400" dirty="0"/>
              <a:t>Use cert-type as development while generating the        CSR to obtain the certificate</a:t>
            </a:r>
          </a:p>
        </p:txBody>
      </p:sp>
      <p:sp>
        <p:nvSpPr>
          <p:cNvPr id="13" name="Content Placeholder 2">
            <a:extLst>
              <a:ext uri="{FF2B5EF4-FFF2-40B4-BE49-F238E27FC236}">
                <a16:creationId xmlns:a16="http://schemas.microsoft.com/office/drawing/2014/main" id="{779F0524-C2D1-B076-28A6-E3C5D6AFB235}"/>
              </a:ext>
            </a:extLst>
          </p:cNvPr>
          <p:cNvSpPr txBox="1">
            <a:spLocks/>
          </p:cNvSpPr>
          <p:nvPr/>
        </p:nvSpPr>
        <p:spPr>
          <a:xfrm>
            <a:off x="6882547" y="1623030"/>
            <a:ext cx="4790598" cy="3971634"/>
          </a:xfrm>
          <a:prstGeom prst="rect">
            <a:avLst/>
          </a:prstGeom>
        </p:spPr>
        <p:txBody>
          <a:bodyPr vert="horz" lIns="180000" tIns="0" rIns="0" bIns="0" rtlCol="0">
            <a:noAutofit/>
          </a:bodyPr>
          <a:lstStyle>
            <a:lvl1pPr marL="252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504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756000" indent="-252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pPr marL="0" indent="0">
              <a:buNone/>
            </a:pPr>
            <a:r>
              <a:rPr lang="en-US" sz="1400" b="1" dirty="0"/>
              <a:t>Production certificate</a:t>
            </a:r>
          </a:p>
          <a:p>
            <a:endParaRPr lang="en-US" sz="1400" dirty="0"/>
          </a:p>
          <a:p>
            <a:r>
              <a:rPr lang="en-US" sz="1400" dirty="0"/>
              <a:t>Triggers irreversible LCS transition to production LCS</a:t>
            </a:r>
          </a:p>
          <a:p>
            <a:r>
              <a:rPr lang="en-US" sz="1400" dirty="0"/>
              <a:t>OEM ROT Keys are fixed (Ownership is permanent)</a:t>
            </a:r>
          </a:p>
          <a:p>
            <a:r>
              <a:rPr lang="en-US" sz="1400" dirty="0"/>
              <a:t>Use case: final factory provisioning for field deployment</a:t>
            </a:r>
          </a:p>
          <a:p>
            <a:r>
              <a:rPr lang="en-US" sz="1400" dirty="0"/>
              <a:t>Only use when you are completely ready</a:t>
            </a:r>
          </a:p>
          <a:p>
            <a:r>
              <a:rPr lang="en-US" sz="1400" dirty="0"/>
              <a:t>All policy settings verified</a:t>
            </a:r>
          </a:p>
          <a:p>
            <a:r>
              <a:rPr lang="en-US" sz="1400" dirty="0"/>
              <a:t>Ensure private key security is in place</a:t>
            </a:r>
          </a:p>
          <a:p>
            <a:r>
              <a:rPr lang="en-US" sz="1400" dirty="0"/>
              <a:t>Use cert-type as production while generating the CSR to obtain the certificate</a:t>
            </a:r>
          </a:p>
        </p:txBody>
      </p:sp>
      <p:sp>
        <p:nvSpPr>
          <p:cNvPr id="2" name="Rectangle 1">
            <a:extLst>
              <a:ext uri="{FF2B5EF4-FFF2-40B4-BE49-F238E27FC236}">
                <a16:creationId xmlns:a16="http://schemas.microsoft.com/office/drawing/2014/main" id="{DB68D726-9867-3C34-0EDE-0C815B569DA4}"/>
              </a:ext>
            </a:extLst>
          </p:cNvPr>
          <p:cNvSpPr/>
          <p:nvPr/>
        </p:nvSpPr>
        <p:spPr bwMode="auto">
          <a:xfrm>
            <a:off x="6058434" y="2568798"/>
            <a:ext cx="61379" cy="1998440"/>
          </a:xfrm>
          <a:prstGeom prst="rect">
            <a:avLst/>
          </a:prstGeom>
          <a:solidFill>
            <a:schemeClr val="bg1"/>
          </a:solidFill>
          <a:ln w="9525">
            <a:no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14" name="Rechteck 42">
            <a:extLst>
              <a:ext uri="{FF2B5EF4-FFF2-40B4-BE49-F238E27FC236}">
                <a16:creationId xmlns:a16="http://schemas.microsoft.com/office/drawing/2014/main" id="{FB07970F-DDD4-D3F1-3C97-BDD78ED6BB7F}"/>
              </a:ext>
            </a:extLst>
          </p:cNvPr>
          <p:cNvSpPr/>
          <p:nvPr/>
        </p:nvSpPr>
        <p:spPr bwMode="auto">
          <a:xfrm>
            <a:off x="5374942" y="2888847"/>
            <a:ext cx="1440000" cy="1440000"/>
          </a:xfrm>
          <a:prstGeom prst="rect">
            <a:avLst/>
          </a:prstGeom>
          <a:solidFill>
            <a:schemeClr val="tx2"/>
          </a:solidFill>
          <a:ln w="12700" cap="flat" cmpd="sng" algn="ctr">
            <a:solidFill>
              <a:schemeClr val="tx2"/>
            </a:solidFill>
            <a:prstDash val="solid"/>
            <a:miter lim="800000"/>
            <a:headEnd type="none" w="med" len="med"/>
            <a:tailEnd type="none" w="med" len="med"/>
          </a:ln>
        </p:spPr>
        <p:txBody>
          <a:bodyPr wrap="square" lIns="96000" tIns="96000" rIns="96000" bIns="96000" rtlCol="0" anchor="ctr"/>
          <a:lstStyle/>
          <a:p>
            <a:pPr algn="ctr" eaLnBrk="0" hangingPunct="0"/>
            <a:r>
              <a:rPr lang="en-IN" sz="2400" b="1">
                <a:solidFill>
                  <a:schemeClr val="bg1"/>
                </a:solidFill>
                <a:latin typeface="+mn-lt"/>
                <a:ea typeface="Verdana" pitchFamily="34" charset="0"/>
                <a:cs typeface="Verdana" pitchFamily="34" charset="0"/>
              </a:rPr>
              <a:t>VS</a:t>
            </a:r>
            <a:endParaRPr lang="en-IN" sz="2400" b="1" dirty="0">
              <a:solidFill>
                <a:schemeClr val="bg1"/>
              </a:solidFill>
              <a:latin typeface="+mn-lt"/>
              <a:ea typeface="Verdana" pitchFamily="34" charset="0"/>
              <a:cs typeface="Verdana" pitchFamily="34" charset="0"/>
            </a:endParaRPr>
          </a:p>
        </p:txBody>
      </p:sp>
    </p:spTree>
    <p:custDataLst>
      <p:tags r:id="rId1"/>
    </p:custDataLst>
    <p:extLst>
      <p:ext uri="{BB962C8B-B14F-4D97-AF65-F5344CB8AC3E}">
        <p14:creationId xmlns:p14="http://schemas.microsoft.com/office/powerpoint/2010/main" val="230186196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CBD18D9-3DF6-8C85-9185-7036D3F35B21}"/>
              </a:ext>
            </a:extLst>
          </p:cNvPr>
          <p:cNvPicPr>
            <a:picLocks noChangeAspect="1"/>
          </p:cNvPicPr>
          <p:nvPr/>
        </p:nvPicPr>
        <p:blipFill>
          <a:blip r:embed="rId10"/>
          <a:stretch>
            <a:fillRect/>
          </a:stretch>
        </p:blipFill>
        <p:spPr>
          <a:xfrm>
            <a:off x="8335210" y="1691577"/>
            <a:ext cx="2995114" cy="3543686"/>
          </a:xfrm>
          <a:prstGeom prst="rect">
            <a:avLst/>
          </a:prstGeom>
        </p:spPr>
      </p:pic>
      <p:sp>
        <p:nvSpPr>
          <p:cNvPr id="6" name="Titel 5">
            <a:extLst>
              <a:ext uri="{FF2B5EF4-FFF2-40B4-BE49-F238E27FC236}">
                <a16:creationId xmlns:a16="http://schemas.microsoft.com/office/drawing/2014/main" id="{D50800C6-5AE9-FBA0-B0A4-57247CF4E06A}"/>
              </a:ext>
            </a:extLst>
          </p:cNvPr>
          <p:cNvSpPr>
            <a:spLocks noGrp="1"/>
          </p:cNvSpPr>
          <p:nvPr>
            <p:ph type="title" hasCustomPrompt="1"/>
          </p:nvPr>
        </p:nvSpPr>
        <p:spPr/>
        <p:txBody>
          <a:bodyPr/>
          <a:lstStyle/>
          <a:p>
            <a:r>
              <a:rPr dirty="0"/>
              <a:t>Ownership </a:t>
            </a:r>
            <a:r>
              <a:rPr lang="en-IN" dirty="0"/>
              <a:t>t</a:t>
            </a:r>
            <a:r>
              <a:rPr dirty="0" err="1"/>
              <a:t>ransfer</a:t>
            </a:r>
            <a:r>
              <a:rPr dirty="0"/>
              <a:t> </a:t>
            </a:r>
            <a:r>
              <a:rPr lang="en-IN" dirty="0"/>
              <a:t>- c</a:t>
            </a:r>
            <a:r>
              <a:rPr dirty="0" err="1"/>
              <a:t>reate</a:t>
            </a:r>
            <a:r>
              <a:rPr dirty="0"/>
              <a:t> </a:t>
            </a:r>
            <a:r>
              <a:rPr lang="en-IN" dirty="0"/>
              <a:t>c</a:t>
            </a:r>
            <a:r>
              <a:rPr dirty="0" err="1"/>
              <a:t>ertificate</a:t>
            </a:r>
            <a:endParaRPr dirty="0"/>
          </a:p>
        </p:txBody>
      </p:sp>
      <p:sp>
        <p:nvSpPr>
          <p:cNvPr id="7" name="Chevron 6">
            <a:extLst>
              <a:ext uri="{FF2B5EF4-FFF2-40B4-BE49-F238E27FC236}">
                <a16:creationId xmlns:a16="http://schemas.microsoft.com/office/drawing/2014/main" id="{08AF3F57-F3FB-1B01-DBF4-1FAE412F3822}"/>
              </a:ext>
            </a:extLst>
          </p:cNvPr>
          <p:cNvSpPr/>
          <p:nvPr/>
        </p:nvSpPr>
        <p:spPr>
          <a:xfrm rot="5400000">
            <a:off x="4921664" y="4311033"/>
            <a:ext cx="1626475" cy="2513623"/>
          </a:xfrm>
          <a:prstGeom prst="chevron">
            <a:avLst>
              <a:gd name="adj" fmla="val 20758"/>
            </a:avLst>
          </a:prstGeom>
          <a:solidFill>
            <a:schemeClr val="tx2"/>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t" anchorCtr="0"/>
          <a:lstStyle/>
          <a:p>
            <a:pPr algn="ctr"/>
            <a:r>
              <a:rPr lang="en-IN" sz="1800" b="1" dirty="0">
                <a:solidFill>
                  <a:srgbClr val="FFFFFF"/>
                </a:solidFill>
              </a:rPr>
              <a:t>Step 04</a:t>
            </a:r>
          </a:p>
          <a:p>
            <a:pPr algn="ctr"/>
            <a:r>
              <a:rPr lang="en-IN" sz="1200" dirty="0">
                <a:solidFill>
                  <a:srgbClr val="FFFFFF"/>
                </a:solidFill>
              </a:rPr>
              <a:t>Get Infineon-signed certificate</a:t>
            </a:r>
          </a:p>
        </p:txBody>
      </p:sp>
      <p:sp>
        <p:nvSpPr>
          <p:cNvPr id="8" name="Chevron 20">
            <a:extLst>
              <a:ext uri="{FF2B5EF4-FFF2-40B4-BE49-F238E27FC236}">
                <a16:creationId xmlns:a16="http://schemas.microsoft.com/office/drawing/2014/main" id="{66B06299-F78C-462F-99B0-9396F176D004}"/>
              </a:ext>
            </a:extLst>
          </p:cNvPr>
          <p:cNvSpPr/>
          <p:nvPr/>
        </p:nvSpPr>
        <p:spPr>
          <a:xfrm rot="5400000">
            <a:off x="4921664" y="3051999"/>
            <a:ext cx="1626475" cy="2513623"/>
          </a:xfrm>
          <a:prstGeom prst="chevron">
            <a:avLst>
              <a:gd name="adj" fmla="val 20758"/>
            </a:avLst>
          </a:prstGeom>
          <a:solidFill>
            <a:srgbClr val="3B9B9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t" anchorCtr="0"/>
          <a:lstStyle/>
          <a:p>
            <a:pPr algn="ctr"/>
            <a:r>
              <a:rPr lang="en-IN" sz="1800" b="1" dirty="0">
                <a:solidFill>
                  <a:srgbClr val="FFFFFF"/>
                </a:solidFill>
              </a:rPr>
              <a:t>Step 03</a:t>
            </a:r>
          </a:p>
          <a:p>
            <a:pPr algn="ctr"/>
            <a:r>
              <a:rPr lang="en-US" sz="1200" dirty="0">
                <a:solidFill>
                  <a:srgbClr val="FFFFFF"/>
                </a:solidFill>
              </a:rPr>
              <a:t>Create OEM Certificate Signing Request (CSR) </a:t>
            </a:r>
            <a:endParaRPr lang="en-IN" sz="1200" dirty="0">
              <a:solidFill>
                <a:srgbClr val="FFFFFF"/>
              </a:solidFill>
            </a:endParaRPr>
          </a:p>
        </p:txBody>
      </p:sp>
      <p:sp>
        <p:nvSpPr>
          <p:cNvPr id="9" name="Chevron 21">
            <a:extLst>
              <a:ext uri="{FF2B5EF4-FFF2-40B4-BE49-F238E27FC236}">
                <a16:creationId xmlns:a16="http://schemas.microsoft.com/office/drawing/2014/main" id="{F5FA16DA-303A-1E2B-5BD5-11025D05B027}"/>
              </a:ext>
            </a:extLst>
          </p:cNvPr>
          <p:cNvSpPr/>
          <p:nvPr/>
        </p:nvSpPr>
        <p:spPr>
          <a:xfrm rot="5400000">
            <a:off x="4921663" y="1787966"/>
            <a:ext cx="1626476" cy="2513623"/>
          </a:xfrm>
          <a:prstGeom prst="chevron">
            <a:avLst>
              <a:gd name="adj" fmla="val 20758"/>
            </a:avLst>
          </a:prstGeom>
          <a:solidFill>
            <a:srgbClr val="6CB4AD"/>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t" anchorCtr="0"/>
          <a:lstStyle/>
          <a:p>
            <a:pPr algn="ctr"/>
            <a:r>
              <a:rPr lang="en-IN" sz="1800" b="1" dirty="0">
                <a:solidFill>
                  <a:srgbClr val="FFFFFF"/>
                </a:solidFill>
              </a:rPr>
              <a:t>Step 02</a:t>
            </a:r>
          </a:p>
          <a:p>
            <a:pPr algn="ctr"/>
            <a:r>
              <a:rPr lang="en-IN" sz="1200" dirty="0">
                <a:solidFill>
                  <a:srgbClr val="FFFFFF"/>
                </a:solidFill>
              </a:rPr>
              <a:t>Create OEM ROT keys </a:t>
            </a:r>
          </a:p>
        </p:txBody>
      </p:sp>
      <p:sp>
        <p:nvSpPr>
          <p:cNvPr id="10" name="Pentagon 3">
            <a:extLst>
              <a:ext uri="{FF2B5EF4-FFF2-40B4-BE49-F238E27FC236}">
                <a16:creationId xmlns:a16="http://schemas.microsoft.com/office/drawing/2014/main" id="{60523A9E-0BEE-292D-3F6F-CFDF9F186134}"/>
              </a:ext>
            </a:extLst>
          </p:cNvPr>
          <p:cNvSpPr/>
          <p:nvPr/>
        </p:nvSpPr>
        <p:spPr>
          <a:xfrm rot="5400000">
            <a:off x="5051456" y="695717"/>
            <a:ext cx="1366890" cy="2513623"/>
          </a:xfrm>
          <a:prstGeom prst="homePlate">
            <a:avLst>
              <a:gd name="adj" fmla="val 22102"/>
            </a:avLst>
          </a:prstGeom>
          <a:solidFill>
            <a:srgbClr val="B8DEDA"/>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ctr" anchorCtr="0"/>
          <a:lstStyle/>
          <a:p>
            <a:pPr algn="ctr"/>
            <a:r>
              <a:rPr lang="en-IN" sz="1800" b="1" dirty="0">
                <a:solidFill>
                  <a:schemeClr val="bg1"/>
                </a:solidFill>
              </a:rPr>
              <a:t>Step 01</a:t>
            </a:r>
          </a:p>
          <a:p>
            <a:pPr algn="ctr">
              <a:lnSpc>
                <a:spcPct val="90000"/>
              </a:lnSpc>
            </a:pPr>
            <a:r>
              <a:rPr lang="en-IN" sz="1200" dirty="0">
                <a:solidFill>
                  <a:schemeClr val="bg1"/>
                </a:solidFill>
              </a:rPr>
              <a:t>Initialize the EPT</a:t>
            </a:r>
          </a:p>
        </p:txBody>
      </p:sp>
      <p:sp>
        <p:nvSpPr>
          <p:cNvPr id="32" name="TextBox">
            <a:extLst>
              <a:ext uri="{FF2B5EF4-FFF2-40B4-BE49-F238E27FC236}">
                <a16:creationId xmlns:a16="http://schemas.microsoft.com/office/drawing/2014/main" id="{E14F5E71-71CB-2F2E-757F-85B551B04AFB}"/>
              </a:ext>
            </a:extLst>
          </p:cNvPr>
          <p:cNvSpPr txBox="1"/>
          <p:nvPr>
            <p:custDataLst>
              <p:tags r:id="rId2"/>
            </p:custDataLst>
          </p:nvPr>
        </p:nvSpPr>
        <p:spPr bwMode="auto">
          <a:xfrm>
            <a:off x="360042" y="2693055"/>
            <a:ext cx="3869870" cy="751809"/>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IN" sz="1400" dirty="0"/>
              <a:t>Generate ECC key pairs</a:t>
            </a:r>
          </a:p>
          <a:p>
            <a:r>
              <a:rPr lang="en-IN" sz="1400" dirty="0"/>
              <a:t>Private Key should be protected</a:t>
            </a:r>
          </a:p>
        </p:txBody>
      </p:sp>
      <p:sp>
        <p:nvSpPr>
          <p:cNvPr id="33" name="TextBox">
            <a:extLst>
              <a:ext uri="{FF2B5EF4-FFF2-40B4-BE49-F238E27FC236}">
                <a16:creationId xmlns:a16="http://schemas.microsoft.com/office/drawing/2014/main" id="{0E728898-06A3-C9EE-C7F5-E625E5E435CE}"/>
              </a:ext>
            </a:extLst>
          </p:cNvPr>
          <p:cNvSpPr txBox="1"/>
          <p:nvPr>
            <p:custDataLst>
              <p:tags r:id="rId3"/>
            </p:custDataLst>
          </p:nvPr>
        </p:nvSpPr>
        <p:spPr bwMode="auto">
          <a:xfrm>
            <a:off x="7833577" y="5081894"/>
            <a:ext cx="3998381" cy="1443450"/>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Upload CSR to Infineon Edge Protect Signing Service</a:t>
            </a:r>
          </a:p>
          <a:p>
            <a:r>
              <a:rPr lang="en-US" sz="1400" dirty="0"/>
              <a:t>Enter certificate name and silicon revision (PSOCC3X8)</a:t>
            </a:r>
          </a:p>
          <a:p>
            <a:r>
              <a:rPr lang="en-US" sz="1400" dirty="0"/>
              <a:t>Download signed certificate (.bin)</a:t>
            </a:r>
          </a:p>
        </p:txBody>
      </p:sp>
      <p:sp>
        <p:nvSpPr>
          <p:cNvPr id="34" name="TextBox">
            <a:extLst>
              <a:ext uri="{FF2B5EF4-FFF2-40B4-BE49-F238E27FC236}">
                <a16:creationId xmlns:a16="http://schemas.microsoft.com/office/drawing/2014/main" id="{54528C9C-9226-5B1D-A1DF-1536BDADE672}"/>
              </a:ext>
            </a:extLst>
          </p:cNvPr>
          <p:cNvSpPr txBox="1"/>
          <p:nvPr>
            <p:custDataLst>
              <p:tags r:id="rId4"/>
            </p:custDataLst>
          </p:nvPr>
        </p:nvSpPr>
        <p:spPr bwMode="auto">
          <a:xfrm>
            <a:off x="335361" y="1369041"/>
            <a:ext cx="3023146" cy="751809"/>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Generates folder structure and default policy</a:t>
            </a:r>
          </a:p>
        </p:txBody>
      </p:sp>
      <p:sp>
        <p:nvSpPr>
          <p:cNvPr id="35" name="TextBox">
            <a:extLst>
              <a:ext uri="{FF2B5EF4-FFF2-40B4-BE49-F238E27FC236}">
                <a16:creationId xmlns:a16="http://schemas.microsoft.com/office/drawing/2014/main" id="{3CE05592-7A9E-51AA-2E18-382EE6B3FEA7}"/>
              </a:ext>
            </a:extLst>
          </p:cNvPr>
          <p:cNvSpPr txBox="1"/>
          <p:nvPr>
            <p:custDataLst>
              <p:tags r:id="rId5"/>
            </p:custDataLst>
          </p:nvPr>
        </p:nvSpPr>
        <p:spPr bwMode="auto">
          <a:xfrm>
            <a:off x="360041" y="3827579"/>
            <a:ext cx="3412670" cy="1401620"/>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CSR contains: OEM ROT public keys, cert type, OEM name and project information</a:t>
            </a:r>
          </a:p>
          <a:p>
            <a:r>
              <a:rPr lang="en-US" sz="1400" dirty="0"/>
              <a:t>Signed by the OEM private key</a:t>
            </a:r>
          </a:p>
        </p:txBody>
      </p:sp>
      <p:pic>
        <p:nvPicPr>
          <p:cNvPr id="4" name="Certificate">
            <a:extLst>
              <a:ext uri="{FF2B5EF4-FFF2-40B4-BE49-F238E27FC236}">
                <a16:creationId xmlns:a16="http://schemas.microsoft.com/office/drawing/2014/main" id="{108F64A4-3AB7-8610-CC35-13D89AD1CA51}"/>
              </a:ext>
            </a:extLst>
          </p:cNvPr>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04369" y="5229199"/>
            <a:ext cx="457200" cy="457200"/>
          </a:xfrm>
          <a:prstGeom prst="rect">
            <a:avLst/>
          </a:prstGeom>
        </p:spPr>
      </p:pic>
      <p:pic>
        <p:nvPicPr>
          <p:cNvPr id="3" name="Key">
            <a:extLst>
              <a:ext uri="{FF2B5EF4-FFF2-40B4-BE49-F238E27FC236}">
                <a16:creationId xmlns:a16="http://schemas.microsoft.com/office/drawing/2014/main" id="{E6C3024A-594C-F9BB-53DD-C21E2B6E2EBB}"/>
              </a:ext>
            </a:extLst>
          </p:cNvPr>
          <p:cNvPicPr>
            <a:picLocks noChangeAspect="1"/>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733328" y="2671962"/>
            <a:ext cx="457200" cy="457200"/>
          </a:xfrm>
          <a:prstGeom prst="rect">
            <a:avLst/>
          </a:prstGeom>
        </p:spPr>
      </p:pic>
      <p:pic>
        <p:nvPicPr>
          <p:cNvPr id="29" name="Graphic 28">
            <a:extLst>
              <a:ext uri="{FF2B5EF4-FFF2-40B4-BE49-F238E27FC236}">
                <a16:creationId xmlns:a16="http://schemas.microsoft.com/office/drawing/2014/main" id="{201C126E-4E22-46F1-9E2D-B18E4DEEB3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72711" y="3974884"/>
            <a:ext cx="457200" cy="457200"/>
          </a:xfrm>
          <a:prstGeom prst="rect">
            <a:avLst/>
          </a:prstGeom>
        </p:spPr>
      </p:pic>
      <p:pic>
        <p:nvPicPr>
          <p:cNvPr id="25" name="Graphic 24">
            <a:extLst>
              <a:ext uri="{FF2B5EF4-FFF2-40B4-BE49-F238E27FC236}">
                <a16:creationId xmlns:a16="http://schemas.microsoft.com/office/drawing/2014/main" id="{B26DD237-8AA1-421C-A463-5E77937440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772711" y="1516346"/>
            <a:ext cx="457200" cy="457200"/>
          </a:xfrm>
          <a:prstGeom prst="rect">
            <a:avLst/>
          </a:prstGeom>
        </p:spPr>
      </p:pic>
      <p:sp>
        <p:nvSpPr>
          <p:cNvPr id="12" name="TextBox 11">
            <a:extLst>
              <a:ext uri="{FF2B5EF4-FFF2-40B4-BE49-F238E27FC236}">
                <a16:creationId xmlns:a16="http://schemas.microsoft.com/office/drawing/2014/main" id="{5E577099-D9DD-902F-AE6B-9C9CA3A69BE5}"/>
              </a:ext>
            </a:extLst>
          </p:cNvPr>
          <p:cNvSpPr txBox="1"/>
          <p:nvPr/>
        </p:nvSpPr>
        <p:spPr bwMode="auto">
          <a:xfrm>
            <a:off x="7304369" y="1321726"/>
            <a:ext cx="4655796" cy="523220"/>
          </a:xfrm>
          <a:prstGeom prst="rect">
            <a:avLst/>
          </a:prstGeom>
          <a:noFill/>
          <a:ln w="9525">
            <a:noFill/>
            <a:miter lim="800000"/>
            <a:headEnd/>
            <a:tailEnd/>
          </a:ln>
          <a:effectLst/>
        </p:spPr>
        <p:txBody>
          <a:bodyPr wrap="square">
            <a:spAutoFit/>
          </a:bodyPr>
          <a:lstStyle/>
          <a:p>
            <a:pPr marL="285750" indent="-285750" algn="ctr">
              <a:buClr>
                <a:srgbClr val="0A8276"/>
              </a:buClr>
              <a:buFont typeface="Arial" panose="020B0604020202020204" pitchFamily="34" charset="0"/>
              <a:buChar char="–"/>
              <a:tabLst>
                <a:tab pos="0" algn="l"/>
              </a:tabLst>
            </a:pPr>
            <a:r>
              <a:rPr lang="en-US" dirty="0">
                <a:latin typeface="Arial" panose="020B0604020202020204" pitchFamily="34" charset="0"/>
              </a:rPr>
              <a:t>For production, certificate can be per-device</a:t>
            </a:r>
          </a:p>
          <a:p>
            <a:pPr algn="ctr">
              <a:buClr>
                <a:srgbClr val="0A8276"/>
              </a:buClr>
              <a:tabLst>
                <a:tab pos="0" algn="l"/>
              </a:tabLst>
            </a:pPr>
            <a:r>
              <a:rPr lang="en-US" dirty="0">
                <a:latin typeface="Arial" panose="020B0604020202020204" pitchFamily="34" charset="0"/>
              </a:rPr>
              <a:t> or per batch. It is up to the OEM to decide</a:t>
            </a:r>
            <a:endParaRPr lang="en-IN" dirty="0">
              <a:latin typeface="Arial" panose="020B0604020202020204" pitchFamily="34" charset="0"/>
            </a:endParaRPr>
          </a:p>
        </p:txBody>
      </p:sp>
    </p:spTree>
    <p:custDataLst>
      <p:tags r:id="rId1"/>
    </p:custDataLst>
    <p:extLst>
      <p:ext uri="{BB962C8B-B14F-4D97-AF65-F5344CB8AC3E}">
        <p14:creationId xmlns:p14="http://schemas.microsoft.com/office/powerpoint/2010/main" val="355977782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55219D-71F1-8315-628F-73D9D8E4D5D6}"/>
              </a:ext>
            </a:extLst>
          </p:cNvPr>
          <p:cNvSpPr/>
          <p:nvPr/>
        </p:nvSpPr>
        <p:spPr bwMode="auto">
          <a:xfrm>
            <a:off x="5825101" y="1273716"/>
            <a:ext cx="6016346"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pic>
        <p:nvPicPr>
          <p:cNvPr id="10" name="Picture 9">
            <a:extLst>
              <a:ext uri="{FF2B5EF4-FFF2-40B4-BE49-F238E27FC236}">
                <a16:creationId xmlns:a16="http://schemas.microsoft.com/office/drawing/2014/main" id="{66022528-A3E0-4E21-A6CE-DFF5C9B24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064" y="1604883"/>
            <a:ext cx="4601819" cy="4393257"/>
          </a:xfrm>
          <a:prstGeom prst="rect">
            <a:avLst/>
          </a:prstGeom>
        </p:spPr>
      </p:pic>
      <p:sp>
        <p:nvSpPr>
          <p:cNvPr id="4" name="Title 3"/>
          <p:cNvSpPr>
            <a:spLocks noGrp="1"/>
          </p:cNvSpPr>
          <p:nvPr>
            <p:ph type="title" hasCustomPrompt="1"/>
          </p:nvPr>
        </p:nvSpPr>
        <p:spPr/>
        <p:txBody>
          <a:bodyPr wrap="square"/>
          <a:lstStyle/>
          <a:p>
            <a:r>
              <a:rPr dirty="0"/>
              <a:t>Ownership </a:t>
            </a:r>
            <a:r>
              <a:rPr lang="en-IN" dirty="0"/>
              <a:t>t</a:t>
            </a:r>
            <a:r>
              <a:rPr dirty="0" err="1"/>
              <a:t>ransfer</a:t>
            </a:r>
            <a:r>
              <a:rPr dirty="0"/>
              <a:t> </a:t>
            </a:r>
            <a:r>
              <a:rPr lang="en-US" dirty="0"/>
              <a:t>- provision</a:t>
            </a:r>
            <a:endParaRPr dirty="0"/>
          </a:p>
        </p:txBody>
      </p:sp>
      <p:sp>
        <p:nvSpPr>
          <p:cNvPr id="7" name="Content Placeholder 1">
            <a:extLst>
              <a:ext uri="{FF2B5EF4-FFF2-40B4-BE49-F238E27FC236}">
                <a16:creationId xmlns:a16="http://schemas.microsoft.com/office/drawing/2014/main" id="{BDEF6596-7FBA-4ED1-8298-B785B5B6098C}"/>
              </a:ext>
            </a:extLst>
          </p:cNvPr>
          <p:cNvSpPr txBox="1">
            <a:spLocks/>
          </p:cNvSpPr>
          <p:nvPr/>
        </p:nvSpPr>
        <p:spPr>
          <a:xfrm>
            <a:off x="408000" y="980728"/>
            <a:ext cx="5183944" cy="5113337"/>
          </a:xfrm>
          <a:prstGeom prst="rect">
            <a:avLst/>
          </a:prstGeom>
        </p:spPr>
        <p:txBody>
          <a:bodyPr vert="horz" wrap="square"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252000" lvl="1" indent="0">
              <a:buNone/>
            </a:pPr>
            <a:endParaRPr lang="en-IN" dirty="0"/>
          </a:p>
          <a:p>
            <a:r>
              <a:rPr lang="en-US" sz="1600" dirty="0"/>
              <a:t>Create provisioning packet (Policy JSON, certificate, RAM APP)</a:t>
            </a:r>
          </a:p>
          <a:p>
            <a:r>
              <a:rPr lang="en-US" sz="1600" dirty="0"/>
              <a:t>Send provisioning packet to device</a:t>
            </a:r>
          </a:p>
          <a:p>
            <a:r>
              <a:rPr lang="en-US" sz="1600" dirty="0" err="1"/>
              <a:t>BootROM</a:t>
            </a:r>
            <a:r>
              <a:rPr lang="en-US" sz="1600" dirty="0"/>
              <a:t> verifies the Infineon certificate signature</a:t>
            </a:r>
          </a:p>
          <a:p>
            <a:r>
              <a:rPr lang="en-US" sz="1600" dirty="0"/>
              <a:t>Writes OEM keys and policy into </a:t>
            </a:r>
            <a:r>
              <a:rPr lang="en-US" sz="1600" dirty="0" err="1"/>
              <a:t>SFlash</a:t>
            </a:r>
            <a:endParaRPr lang="en-US" sz="1600" dirty="0"/>
          </a:p>
          <a:p>
            <a:r>
              <a:rPr lang="en-US" sz="1600" dirty="0"/>
              <a:t>Device ownership transferred to OEM</a:t>
            </a:r>
          </a:p>
        </p:txBody>
      </p:sp>
    </p:spTree>
    <p:extLst>
      <p:ext uri="{BB962C8B-B14F-4D97-AF65-F5344CB8AC3E}">
        <p14:creationId xmlns:p14="http://schemas.microsoft.com/office/powerpoint/2010/main" val="228004451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940662-1BCA-0BAF-27CA-26EF21E09FC6}"/>
              </a:ext>
            </a:extLst>
          </p:cNvPr>
          <p:cNvSpPr>
            <a:spLocks noGrp="1"/>
          </p:cNvSpPr>
          <p:nvPr>
            <p:ph sz="quarter" idx="13" hasCustomPrompt="1"/>
          </p:nvPr>
        </p:nvSpPr>
        <p:spPr/>
        <p:txBody>
          <a:bodyPr/>
          <a:lstStyle/>
          <a:p>
            <a:r>
              <a:rPr sz="1600" dirty="0"/>
              <a:t>JSON file that defines the device's complete security configuration</a:t>
            </a:r>
            <a:endParaRPr lang="en-US" sz="1600" dirty="0"/>
          </a:p>
          <a:p>
            <a:r>
              <a:rPr sz="1600" dirty="0"/>
              <a:t>Created in the policy/ folder when EPT is initialized: </a:t>
            </a:r>
            <a:r>
              <a:rPr sz="1600" dirty="0" err="1"/>
              <a:t>policy_oem_provisioning.json</a:t>
            </a:r>
            <a:endParaRPr lang="en-US" sz="1600" dirty="0"/>
          </a:p>
          <a:p>
            <a:r>
              <a:rPr sz="1600" dirty="0"/>
              <a:t>Written to </a:t>
            </a:r>
            <a:r>
              <a:rPr sz="1600" dirty="0" err="1"/>
              <a:t>SFlash</a:t>
            </a:r>
            <a:r>
              <a:rPr sz="1600" dirty="0"/>
              <a:t> during provisioning </a:t>
            </a:r>
            <a:r>
              <a:rPr lang="en-IN" sz="1600" dirty="0"/>
              <a:t>-</a:t>
            </a:r>
            <a:r>
              <a:rPr sz="1600" dirty="0"/>
              <a:t> </a:t>
            </a:r>
            <a:r>
              <a:rPr sz="1600" dirty="0" err="1"/>
              <a:t>BootROM</a:t>
            </a:r>
            <a:r>
              <a:rPr sz="1600" dirty="0"/>
              <a:t> reads it at every boot</a:t>
            </a:r>
            <a:endParaRPr lang="en-US" sz="1600" dirty="0"/>
          </a:p>
          <a:p>
            <a:r>
              <a:rPr sz="1600" dirty="0"/>
              <a:t>Device behavior is entirely driven by the provisioned policy</a:t>
            </a:r>
          </a:p>
          <a:p>
            <a:pPr lvl="1"/>
            <a:r>
              <a:rPr sz="1400" dirty="0"/>
              <a:t>Boot behavior - Boot mode, image slots, signature scheme</a:t>
            </a:r>
            <a:endParaRPr lang="fr-FR" sz="1400" dirty="0"/>
          </a:p>
          <a:p>
            <a:pPr lvl="1"/>
            <a:r>
              <a:rPr sz="1400" dirty="0"/>
              <a:t>Debug access - DAP enable/disable</a:t>
            </a:r>
          </a:p>
          <a:p>
            <a:pPr lvl="1"/>
            <a:r>
              <a:rPr sz="1400" dirty="0"/>
              <a:t>DFU serial interface - </a:t>
            </a:r>
            <a:r>
              <a:rPr sz="1400" dirty="0" err="1"/>
              <a:t>BootROM</a:t>
            </a:r>
            <a:r>
              <a:rPr sz="1400" dirty="0"/>
              <a:t> UART download channel on/off</a:t>
            </a:r>
          </a:p>
        </p:txBody>
      </p:sp>
      <p:sp>
        <p:nvSpPr>
          <p:cNvPr id="3" name="Title 2">
            <a:extLst>
              <a:ext uri="{FF2B5EF4-FFF2-40B4-BE49-F238E27FC236}">
                <a16:creationId xmlns:a16="http://schemas.microsoft.com/office/drawing/2014/main" id="{38249644-01A4-98A7-ACD3-43AF7867F74C}"/>
              </a:ext>
            </a:extLst>
          </p:cNvPr>
          <p:cNvSpPr>
            <a:spLocks noGrp="1"/>
          </p:cNvSpPr>
          <p:nvPr>
            <p:ph type="title" hasCustomPrompt="1"/>
          </p:nvPr>
        </p:nvSpPr>
        <p:spPr/>
        <p:txBody>
          <a:bodyPr/>
          <a:lstStyle/>
          <a:p>
            <a:r>
              <a:rPr dirty="0"/>
              <a:t>OEM </a:t>
            </a:r>
            <a:r>
              <a:rPr lang="en-IN" dirty="0"/>
              <a:t>p</a:t>
            </a:r>
            <a:r>
              <a:rPr dirty="0" err="1"/>
              <a:t>olicy</a:t>
            </a:r>
            <a:r>
              <a:rPr dirty="0"/>
              <a:t> </a:t>
            </a:r>
            <a:endParaRPr lang="en-IN" dirty="0"/>
          </a:p>
        </p:txBody>
      </p:sp>
    </p:spTree>
    <p:extLst>
      <p:ext uri="{BB962C8B-B14F-4D97-AF65-F5344CB8AC3E}">
        <p14:creationId xmlns:p14="http://schemas.microsoft.com/office/powerpoint/2010/main" val="834504298"/>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49A1292-2857-3C4C-6CA1-8CFE0F585726}"/>
              </a:ext>
            </a:extLst>
          </p:cNvPr>
          <p:cNvGrpSpPr/>
          <p:nvPr>
            <p:custDataLst>
              <p:tags r:id="rId1"/>
            </p:custDataLst>
          </p:nvPr>
        </p:nvGrpSpPr>
        <p:grpSpPr>
          <a:xfrm>
            <a:off x="334434" y="1268413"/>
            <a:ext cx="11521017" cy="2231998"/>
            <a:chOff x="334434" y="1268413"/>
            <a:chExt cx="11521017" cy="2231998"/>
          </a:xfrm>
        </p:grpSpPr>
        <p:sp>
          <p:nvSpPr>
            <p:cNvPr id="5" name="MIO_AGENDA_ELEMENT_TITEL_1">
              <a:hlinkClick r:id="rId17" action="ppaction://hlinksldjump"/>
              <a:extLst>
                <a:ext uri="{FF2B5EF4-FFF2-40B4-BE49-F238E27FC236}">
                  <a16:creationId xmlns:a16="http://schemas.microsoft.com/office/drawing/2014/main" id="{644287F3-133F-67B4-6BF1-4E88AE251730}"/>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Security by design</a:t>
              </a:r>
              <a:endParaRPr lang="de-DE" sz="1800" dirty="0">
                <a:latin typeface="+mn-lt"/>
              </a:endParaRPr>
            </a:p>
          </p:txBody>
        </p:sp>
        <p:sp>
          <p:nvSpPr>
            <p:cNvPr id="6" name="MIO_AGENDA_ELEMENT_ELEMENTNUMBER_1">
              <a:hlinkClick r:id="rId17" action="ppaction://hlinksldjump"/>
              <a:extLst>
                <a:ext uri="{FF2B5EF4-FFF2-40B4-BE49-F238E27FC236}">
                  <a16:creationId xmlns:a16="http://schemas.microsoft.com/office/drawing/2014/main" id="{E577B9B7-5D84-66E4-4659-D5CCF18C1677}"/>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7" action="ppaction://hlinksldjump"/>
              <a:extLst>
                <a:ext uri="{FF2B5EF4-FFF2-40B4-BE49-F238E27FC236}">
                  <a16:creationId xmlns:a16="http://schemas.microsoft.com/office/drawing/2014/main" id="{086F7516-528C-603A-AD21-DCE01DB380BE}"/>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8" action="ppaction://hlinksldjump"/>
              <a:extLst>
                <a:ext uri="{FF2B5EF4-FFF2-40B4-BE49-F238E27FC236}">
                  <a16:creationId xmlns:a16="http://schemas.microsoft.com/office/drawing/2014/main" id="{45660AAD-08DF-0349-18CD-B1D0192239DB}"/>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Device life cycle stage (LCS)</a:t>
              </a:r>
              <a:endParaRPr lang="de-DE" sz="1800" dirty="0">
                <a:latin typeface="+mn-lt"/>
              </a:endParaRPr>
            </a:p>
          </p:txBody>
        </p:sp>
        <p:sp>
          <p:nvSpPr>
            <p:cNvPr id="9" name="MIO_AGENDA_ELEMENT_ELEMENTNUMBER_2">
              <a:hlinkClick r:id="rId18" action="ppaction://hlinksldjump"/>
              <a:extLst>
                <a:ext uri="{FF2B5EF4-FFF2-40B4-BE49-F238E27FC236}">
                  <a16:creationId xmlns:a16="http://schemas.microsoft.com/office/drawing/2014/main" id="{BEE954A8-EFEB-6750-220C-8CF08A0F87F6}"/>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8" action="ppaction://hlinksldjump"/>
              <a:extLst>
                <a:ext uri="{FF2B5EF4-FFF2-40B4-BE49-F238E27FC236}">
                  <a16:creationId xmlns:a16="http://schemas.microsoft.com/office/drawing/2014/main" id="{33EE059E-3F17-DA31-CC0C-7B48CD239609}"/>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6</a:t>
              </a:r>
              <a:endParaRPr lang="de-DE" sz="1800" dirty="0">
                <a:latin typeface="+mn-lt"/>
              </a:endParaRPr>
            </a:p>
          </p:txBody>
        </p:sp>
        <p:sp>
          <p:nvSpPr>
            <p:cNvPr id="11" name="MIO_AGENDA_ELEMENT_TITEL_3">
              <a:hlinkClick r:id="rId19" action="ppaction://hlinksldjump"/>
              <a:extLst>
                <a:ext uri="{FF2B5EF4-FFF2-40B4-BE49-F238E27FC236}">
                  <a16:creationId xmlns:a16="http://schemas.microsoft.com/office/drawing/2014/main" id="{F837D0BC-D21E-CB96-63A4-14DDD0F0DA09}"/>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a:latin typeface="+mn-lt"/>
                </a:rPr>
                <a:t>Ownership transfer and provisioning</a:t>
              </a:r>
              <a:endParaRPr lang="de-DE" sz="1800" dirty="0">
                <a:latin typeface="+mn-lt"/>
              </a:endParaRPr>
            </a:p>
          </p:txBody>
        </p:sp>
        <p:sp>
          <p:nvSpPr>
            <p:cNvPr id="12" name="MIO_AGENDA_ELEMENT_ELEMENTNUMBER_3">
              <a:hlinkClick r:id="rId19" action="ppaction://hlinksldjump"/>
              <a:extLst>
                <a:ext uri="{FF2B5EF4-FFF2-40B4-BE49-F238E27FC236}">
                  <a16:creationId xmlns:a16="http://schemas.microsoft.com/office/drawing/2014/main" id="{AA3C744D-BF44-5838-96FE-514E885B46CE}"/>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9" action="ppaction://hlinksldjump"/>
              <a:extLst>
                <a:ext uri="{FF2B5EF4-FFF2-40B4-BE49-F238E27FC236}">
                  <a16:creationId xmlns:a16="http://schemas.microsoft.com/office/drawing/2014/main" id="{40D05117-39D2-023D-F7B9-297C97758C65}"/>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11</a:t>
              </a:r>
              <a:endParaRPr lang="de-DE" sz="1800" dirty="0">
                <a:latin typeface="+mn-lt"/>
              </a:endParaRPr>
            </a:p>
          </p:txBody>
        </p:sp>
        <p:sp>
          <p:nvSpPr>
            <p:cNvPr id="14" name="MIO_AGENDA_ELEMENT_TITEL_4">
              <a:hlinkClick r:id="rId20" action="ppaction://hlinksldjump"/>
              <a:extLst>
                <a:ext uri="{FF2B5EF4-FFF2-40B4-BE49-F238E27FC236}">
                  <a16:creationId xmlns:a16="http://schemas.microsoft.com/office/drawing/2014/main" id="{EF5D4AC6-8DEB-B26F-2148-E9EA4AEEE42A}"/>
                </a:ext>
              </a:extLst>
            </p:cNvPr>
            <p:cNvSpPr>
              <a:spLocks/>
            </p:cNvSpPr>
            <p:nvPr>
              <p:custDataLst>
                <p:tags r:id="rId12"/>
              </p:custDataLst>
            </p:nvPr>
          </p:nvSpPr>
          <p:spPr>
            <a:xfrm>
              <a:off x="1235075" y="2996411"/>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de-DE" sz="1800" b="1">
                  <a:solidFill>
                    <a:schemeClr val="tx2"/>
                  </a:solidFill>
                  <a:latin typeface="+mn-lt"/>
                </a:rPr>
                <a:t>Secure boot</a:t>
              </a:r>
              <a:endParaRPr lang="de-DE" sz="1800" b="1" dirty="0">
                <a:solidFill>
                  <a:schemeClr val="tx2"/>
                </a:solidFill>
                <a:latin typeface="+mn-lt"/>
              </a:endParaRPr>
            </a:p>
          </p:txBody>
        </p:sp>
        <p:sp>
          <p:nvSpPr>
            <p:cNvPr id="15" name="MIO_AGENDA_ELEMENT_ELEMENTNUMBER_4">
              <a:hlinkClick r:id="rId20" action="ppaction://hlinksldjump"/>
              <a:extLst>
                <a:ext uri="{FF2B5EF4-FFF2-40B4-BE49-F238E27FC236}">
                  <a16:creationId xmlns:a16="http://schemas.microsoft.com/office/drawing/2014/main" id="{889885A3-CFD7-8FD9-168A-EA99621D5D39}"/>
                </a:ext>
              </a:extLst>
            </p:cNvPr>
            <p:cNvSpPr>
              <a:spLocks noChangeAspect="1"/>
            </p:cNvSpPr>
            <p:nvPr>
              <p:custDataLst>
                <p:tags r:id="rId13"/>
              </p:custDataLst>
            </p:nvPr>
          </p:nvSpPr>
          <p:spPr>
            <a:xfrm>
              <a:off x="334434" y="2996411"/>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4</a:t>
              </a:r>
              <a:endParaRPr lang="de-DE" b="1" dirty="0">
                <a:solidFill>
                  <a:schemeClr val="bg1"/>
                </a:solidFill>
                <a:latin typeface="+mn-lt"/>
                <a:cs typeface="Arial" panose="020B0604020202020204" pitchFamily="34" charset="0"/>
              </a:endParaRPr>
            </a:p>
          </p:txBody>
        </p:sp>
        <p:sp>
          <p:nvSpPr>
            <p:cNvPr id="16" name="MIO_AGENDA_ELEMENT_PAGENUMBER_4">
              <a:hlinkClick r:id="rId20" action="ppaction://hlinksldjump"/>
              <a:extLst>
                <a:ext uri="{FF2B5EF4-FFF2-40B4-BE49-F238E27FC236}">
                  <a16:creationId xmlns:a16="http://schemas.microsoft.com/office/drawing/2014/main" id="{27050942-DF48-48AE-885F-02FCA8F96D62}"/>
                </a:ext>
              </a:extLst>
            </p:cNvPr>
            <p:cNvSpPr txBox="1">
              <a:spLocks/>
            </p:cNvSpPr>
            <p:nvPr>
              <p:custDataLst>
                <p:tags r:id="rId14"/>
              </p:custDataLst>
            </p:nvPr>
          </p:nvSpPr>
          <p:spPr>
            <a:xfrm>
              <a:off x="11026666" y="2996411"/>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17</a:t>
              </a:r>
              <a:endParaRPr lang="de-DE" sz="1800" b="1" dirty="0">
                <a:solidFill>
                  <a:schemeClr val="tx2"/>
                </a:solidFill>
                <a:latin typeface="+mn-lt"/>
                <a:cs typeface="Segoe UI Semibold" panose="020B0702040204020203" pitchFamily="34" charset="0"/>
              </a:endParaRPr>
            </a:p>
          </p:txBody>
        </p:sp>
      </p:grpSp>
      <p:sp>
        <p:nvSpPr>
          <p:cNvPr id="2" name="Title 1">
            <a:extLst>
              <a:ext uri="{FF2B5EF4-FFF2-40B4-BE49-F238E27FC236}">
                <a16:creationId xmlns:a16="http://schemas.microsoft.com/office/drawing/2014/main" id="{CB801DFB-99AB-C3BB-1F36-2D09E28D5484}"/>
              </a:ext>
            </a:extLst>
          </p:cNvPr>
          <p:cNvSpPr>
            <a:spLocks noGrp="1"/>
          </p:cNvSpPr>
          <p:nvPr>
            <p:ph type="title"/>
            <p:custDataLst>
              <p:tags r:id="rId2"/>
            </p:custDataLst>
          </p:nvPr>
        </p:nvSpPr>
        <p:spPr/>
        <p:txBody>
          <a:bodyPr/>
          <a:lstStyle/>
          <a:p>
            <a:r>
              <a:rPr lang="en-IN"/>
              <a:t>Table of contents</a:t>
            </a:r>
          </a:p>
        </p:txBody>
      </p:sp>
    </p:spTree>
    <p:extLst>
      <p:ext uri="{BB962C8B-B14F-4D97-AF65-F5344CB8AC3E}">
        <p14:creationId xmlns:p14="http://schemas.microsoft.com/office/powerpoint/2010/main" val="604812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007BA9-E6CE-8314-C033-E06FCBF10729}"/>
              </a:ext>
            </a:extLst>
          </p:cNvPr>
          <p:cNvSpPr/>
          <p:nvPr/>
        </p:nvSpPr>
        <p:spPr bwMode="auto">
          <a:xfrm>
            <a:off x="6384033" y="1273716"/>
            <a:ext cx="5457414"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a:extLst>
              <a:ext uri="{FF2B5EF4-FFF2-40B4-BE49-F238E27FC236}">
                <a16:creationId xmlns:a16="http://schemas.microsoft.com/office/drawing/2014/main" id="{9D0AB5A3-B671-6AA9-62FF-DB8BAA2632CD}"/>
              </a:ext>
            </a:extLst>
          </p:cNvPr>
          <p:cNvSpPr>
            <a:spLocks noGrp="1"/>
          </p:cNvSpPr>
          <p:nvPr>
            <p:ph sz="quarter" idx="13"/>
          </p:nvPr>
        </p:nvSpPr>
        <p:spPr>
          <a:xfrm>
            <a:off x="334800" y="1268414"/>
            <a:ext cx="5833208" cy="5113337"/>
          </a:xfrm>
        </p:spPr>
        <p:txBody>
          <a:bodyPr/>
          <a:lstStyle/>
          <a:p>
            <a:r>
              <a:rPr lang="en-US" sz="1600" dirty="0" err="1"/>
              <a:t>BootROM</a:t>
            </a:r>
            <a:r>
              <a:rPr lang="en-US" sz="1600" dirty="0"/>
              <a:t> is immutable - it is the hardware root of trust</a:t>
            </a:r>
          </a:p>
          <a:p>
            <a:r>
              <a:rPr lang="en-US" sz="1600" dirty="0"/>
              <a:t>Chain of trust</a:t>
            </a:r>
          </a:p>
          <a:p>
            <a:pPr lvl="1"/>
            <a:r>
              <a:rPr lang="en-US" sz="1400" dirty="0" err="1"/>
              <a:t>BootROM</a:t>
            </a:r>
            <a:r>
              <a:rPr lang="en-US" sz="1400" dirty="0"/>
              <a:t> verifies </a:t>
            </a:r>
            <a:r>
              <a:rPr lang="en-US" sz="1400" dirty="0" err="1"/>
              <a:t>SFlash</a:t>
            </a:r>
            <a:r>
              <a:rPr lang="en-US" sz="1400" dirty="0"/>
              <a:t> using ASSET_HASH / FACTORY_HASH</a:t>
            </a:r>
          </a:p>
          <a:p>
            <a:pPr lvl="1"/>
            <a:r>
              <a:rPr lang="en-US" sz="1400" dirty="0" err="1"/>
              <a:t>BootROM</a:t>
            </a:r>
            <a:r>
              <a:rPr lang="en-US" sz="1400" dirty="0"/>
              <a:t> verifies OEM application using OEM_ROT_KEY</a:t>
            </a:r>
          </a:p>
          <a:p>
            <a:pPr lvl="1"/>
            <a:r>
              <a:rPr lang="en-US" sz="1400" dirty="0" err="1"/>
              <a:t>BootROM</a:t>
            </a:r>
            <a:r>
              <a:rPr lang="en-US" sz="1400" dirty="0"/>
              <a:t> launches the application on successful authentication</a:t>
            </a:r>
          </a:p>
          <a:p>
            <a:pPr marL="504000" marR="0" lvl="1" indent="-252000" algn="l" defTabSz="576000" rtl="0" eaLnBrk="1" fontAlgn="base" latinLnBrk="0" hangingPunct="1">
              <a:lnSpc>
                <a:spcPct val="120000"/>
              </a:lnSpc>
              <a:spcBef>
                <a:spcPts val="0"/>
              </a:spcBef>
              <a:spcAft>
                <a:spcPts val="0"/>
              </a:spcAft>
              <a:buClr>
                <a:srgbClr val="0A8276"/>
              </a:buClr>
              <a:buSzPct val="100000"/>
              <a:buFont typeface="Arial" panose="020B0604020202020204" pitchFamily="34" charset="0"/>
              <a:buChar char="‒"/>
              <a:tabLst/>
              <a:defRPr/>
            </a:pPr>
            <a:r>
              <a:rPr kumimoji="0" lang="en-US" sz="1400" b="0" i="0" u="none" strike="noStrike" kern="0" cap="none" spc="0" normalizeH="0" baseline="0" noProof="0" dirty="0">
                <a:ln>
                  <a:noFill/>
                </a:ln>
                <a:solidFill>
                  <a:srgbClr val="1D1D1D"/>
                </a:solidFill>
                <a:effectLst/>
                <a:uLnTx/>
                <a:uFillTx/>
                <a:latin typeface="Arial"/>
                <a:cs typeface="Arial"/>
              </a:rPr>
              <a:t>Authentication failure → Device does not boot</a:t>
            </a:r>
          </a:p>
          <a:p>
            <a:r>
              <a:rPr lang="en-US" sz="1600" dirty="0"/>
              <a:t>Trust anchored at silicon </a:t>
            </a:r>
          </a:p>
          <a:p>
            <a:pPr lvl="1"/>
            <a:r>
              <a:rPr lang="en-US" sz="1400" dirty="0" err="1"/>
              <a:t>BootROM</a:t>
            </a:r>
            <a:r>
              <a:rPr lang="en-US" sz="1400" dirty="0"/>
              <a:t> → OEM Application</a:t>
            </a:r>
          </a:p>
          <a:p>
            <a:endParaRPr lang="en-IN" dirty="0"/>
          </a:p>
        </p:txBody>
      </p:sp>
      <p:pic>
        <p:nvPicPr>
          <p:cNvPr id="8" name="Content Placeholder 7">
            <a:extLst>
              <a:ext uri="{FF2B5EF4-FFF2-40B4-BE49-F238E27FC236}">
                <a16:creationId xmlns:a16="http://schemas.microsoft.com/office/drawing/2014/main" id="{01815F26-72F3-6286-7BDB-7103336ABE3D}"/>
              </a:ext>
            </a:extLst>
          </p:cNvPr>
          <p:cNvPicPr>
            <a:picLocks noGrp="1" noChangeAspect="1"/>
          </p:cNvPicPr>
          <p:nvPr>
            <p:ph sz="quarter" idx="14"/>
          </p:nvPr>
        </p:nvPicPr>
        <p:blipFill>
          <a:blip r:embed="rId2"/>
          <a:stretch>
            <a:fillRect/>
          </a:stretch>
        </p:blipFill>
        <p:spPr>
          <a:xfrm>
            <a:off x="6949673" y="1497687"/>
            <a:ext cx="4877051" cy="4654789"/>
          </a:xfrm>
          <a:prstGeom prst="rect">
            <a:avLst/>
          </a:prstGeom>
        </p:spPr>
      </p:pic>
      <p:sp>
        <p:nvSpPr>
          <p:cNvPr id="4" name="Title 3">
            <a:extLst>
              <a:ext uri="{FF2B5EF4-FFF2-40B4-BE49-F238E27FC236}">
                <a16:creationId xmlns:a16="http://schemas.microsoft.com/office/drawing/2014/main" id="{F8D545E7-BEB8-35A9-197A-9BF1F91C5E84}"/>
              </a:ext>
            </a:extLst>
          </p:cNvPr>
          <p:cNvSpPr>
            <a:spLocks noGrp="1"/>
          </p:cNvSpPr>
          <p:nvPr>
            <p:ph type="title"/>
          </p:nvPr>
        </p:nvSpPr>
        <p:spPr/>
        <p:txBody>
          <a:bodyPr/>
          <a:lstStyle/>
          <a:p>
            <a:r>
              <a:rPr lang="en-IN" dirty="0" err="1"/>
              <a:t>BootROM</a:t>
            </a:r>
            <a:r>
              <a:rPr lang="en-IN" dirty="0"/>
              <a:t> - root of trust</a:t>
            </a:r>
          </a:p>
        </p:txBody>
      </p:sp>
    </p:spTree>
    <p:extLst>
      <p:ext uri="{BB962C8B-B14F-4D97-AF65-F5344CB8AC3E}">
        <p14:creationId xmlns:p14="http://schemas.microsoft.com/office/powerpoint/2010/main" val="1207646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hasCustomPrompt="1"/>
          </p:nvPr>
        </p:nvSpPr>
        <p:spPr>
          <a:xfrm>
            <a:off x="334800" y="1268414"/>
            <a:ext cx="4609072" cy="5113337"/>
          </a:xfrm>
        </p:spPr>
        <p:txBody>
          <a:bodyPr wrap="square"/>
          <a:lstStyle/>
          <a:p>
            <a:r>
              <a:rPr sz="1600" dirty="0" err="1"/>
              <a:t>boot_cfg_id</a:t>
            </a:r>
            <a:endParaRPr sz="1600" dirty="0"/>
          </a:p>
          <a:p>
            <a:pPr lvl="1"/>
            <a:r>
              <a:rPr sz="1400" dirty="0"/>
              <a:t>Sets the boot mode: SIMPLE_APP or SECURE_APP</a:t>
            </a:r>
            <a:endParaRPr lang="en-US" sz="1400" dirty="0"/>
          </a:p>
          <a:p>
            <a:pPr lvl="1"/>
            <a:r>
              <a:rPr lang="en-US" sz="1400" dirty="0"/>
              <a:t>Set this field to SEURE_APP for secure boot</a:t>
            </a:r>
            <a:endParaRPr sz="1500" dirty="0"/>
          </a:p>
          <a:p>
            <a:r>
              <a:rPr lang="en-IN" sz="1600" dirty="0" err="1"/>
              <a:t>boot_auth_signature</a:t>
            </a:r>
            <a:endParaRPr lang="en-IN" sz="1600" dirty="0"/>
          </a:p>
          <a:p>
            <a:pPr lvl="1"/>
            <a:r>
              <a:rPr sz="1400" dirty="0"/>
              <a:t>ECDSA scheme for image verification</a:t>
            </a:r>
          </a:p>
          <a:p>
            <a:pPr lvl="1"/>
            <a:r>
              <a:rPr sz="1400" dirty="0"/>
              <a:t>ES256 (P-256) / ES384 (P-384) / ES512 (P-521)</a:t>
            </a:r>
          </a:p>
          <a:p>
            <a:pPr lvl="1"/>
            <a:r>
              <a:rPr sz="1400" dirty="0"/>
              <a:t>Must match the key type used to sign the image</a:t>
            </a:r>
            <a:endParaRPr sz="1500" dirty="0"/>
          </a:p>
          <a:p>
            <a:r>
              <a:rPr sz="1600" dirty="0" err="1"/>
              <a:t>boot_app_layout</a:t>
            </a:r>
            <a:endParaRPr sz="1600" dirty="0"/>
          </a:p>
          <a:p>
            <a:pPr lvl="1"/>
            <a:r>
              <a:rPr sz="1400" dirty="0"/>
              <a:t>Array of up to 5 entries: address + size per image</a:t>
            </a:r>
            <a:endParaRPr lang="en-US" sz="1400" dirty="0"/>
          </a:p>
          <a:p>
            <a:pPr lvl="1"/>
            <a:r>
              <a:rPr lang="en-US" sz="1400" dirty="0"/>
              <a:t>Number of entries in this field decides how many images gets verified</a:t>
            </a:r>
            <a:endParaRPr sz="1500" dirty="0"/>
          </a:p>
          <a:p>
            <a:r>
              <a:rPr lang="en-IN" sz="1600" dirty="0" err="1"/>
              <a:t>failed_signature_counter</a:t>
            </a:r>
            <a:endParaRPr lang="en-IN" sz="1600" dirty="0"/>
          </a:p>
          <a:p>
            <a:pPr lvl="1"/>
            <a:r>
              <a:rPr sz="1400" dirty="0"/>
              <a:t>Per-slot budget: 65535 = unlimited retries</a:t>
            </a:r>
          </a:p>
        </p:txBody>
      </p:sp>
      <p:sp>
        <p:nvSpPr>
          <p:cNvPr id="4" name="Title 3"/>
          <p:cNvSpPr>
            <a:spLocks noGrp="1"/>
          </p:cNvSpPr>
          <p:nvPr>
            <p:ph type="title" hasCustomPrompt="1"/>
          </p:nvPr>
        </p:nvSpPr>
        <p:spPr/>
        <p:txBody>
          <a:bodyPr wrap="square"/>
          <a:lstStyle/>
          <a:p>
            <a:r>
              <a:rPr dirty="0"/>
              <a:t>Policy </a:t>
            </a:r>
            <a:r>
              <a:rPr lang="en-IN" dirty="0"/>
              <a:t>fields for secure boot</a:t>
            </a:r>
            <a:endParaRPr dirty="0"/>
          </a:p>
        </p:txBody>
      </p:sp>
      <p:sp>
        <p:nvSpPr>
          <p:cNvPr id="7" name="Rectangle 6">
            <a:extLst>
              <a:ext uri="{FF2B5EF4-FFF2-40B4-BE49-F238E27FC236}">
                <a16:creationId xmlns:a16="http://schemas.microsoft.com/office/drawing/2014/main" id="{7F1BFFE2-A347-E9FB-5596-6CCBCF7FCEA4}"/>
              </a:ext>
            </a:extLst>
          </p:cNvPr>
          <p:cNvSpPr/>
          <p:nvPr/>
        </p:nvSpPr>
        <p:spPr bwMode="auto">
          <a:xfrm>
            <a:off x="6095999" y="1268414"/>
            <a:ext cx="5588807" cy="4824882"/>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3" name="Content Placeholder 2">
            <a:extLst>
              <a:ext uri="{FF2B5EF4-FFF2-40B4-BE49-F238E27FC236}">
                <a16:creationId xmlns:a16="http://schemas.microsoft.com/office/drawing/2014/main" id="{E49404ED-ED18-E7E5-538C-DE34444AC838}"/>
              </a:ext>
            </a:extLst>
          </p:cNvPr>
          <p:cNvSpPr>
            <a:spLocks noGrp="1"/>
          </p:cNvSpPr>
          <p:nvPr>
            <p:ph sz="quarter" idx="14" hasCustomPrompt="1"/>
          </p:nvPr>
        </p:nvSpPr>
        <p:spPr>
          <a:xfrm>
            <a:off x="6312024" y="1419642"/>
            <a:ext cx="4609072" cy="5113337"/>
          </a:xfrm>
        </p:spPr>
        <p:txBody>
          <a:bodyPr wrap="none"/>
          <a:lstStyle/>
          <a:p>
            <a:pPr marL="0" indent="0">
              <a:buNone/>
            </a:pPr>
            <a:r>
              <a:rPr sz="1400" dirty="0">
                <a:latin typeface="Arial" panose="020B0604020202020204" pitchFamily="34" charset="0"/>
              </a:rPr>
              <a:t>// </a:t>
            </a:r>
            <a:r>
              <a:rPr lang="en-US" sz="1400" dirty="0">
                <a:latin typeface="Arial" panose="020B0604020202020204" pitchFamily="34" charset="0"/>
              </a:rPr>
              <a:t>P</a:t>
            </a:r>
            <a:r>
              <a:rPr sz="1400" dirty="0">
                <a:latin typeface="Arial" panose="020B0604020202020204" pitchFamily="34" charset="0"/>
              </a:rPr>
              <a:t>olicy </a:t>
            </a:r>
            <a:r>
              <a:rPr lang="en-US" sz="1400" dirty="0">
                <a:latin typeface="Arial" panose="020B0604020202020204" pitchFamily="34" charset="0"/>
              </a:rPr>
              <a:t>file</a:t>
            </a:r>
            <a:endParaRPr sz="1400" dirty="0">
              <a:latin typeface="Arial" panose="020B0604020202020204" pitchFamily="34" charset="0"/>
            </a:endParaRPr>
          </a:p>
          <a:p>
            <a:pPr marL="0" indent="0">
              <a:buNone/>
            </a:pPr>
            <a:r>
              <a:rPr sz="1400" dirty="0">
                <a:latin typeface="Arial" panose="020B0604020202020204" pitchFamily="34" charset="0"/>
              </a:rPr>
              <a:t>"</a:t>
            </a:r>
            <a:r>
              <a:rPr sz="1400" dirty="0" err="1">
                <a:latin typeface="Arial" panose="020B0604020202020204" pitchFamily="34" charset="0"/>
              </a:rPr>
              <a:t>boot_cfg_id</a:t>
            </a:r>
            <a:r>
              <a:rPr sz="1400" dirty="0">
                <a:latin typeface="Arial" panose="020B0604020202020204" pitchFamily="34" charset="0"/>
              </a:rPr>
              <a:t>"</a:t>
            </a:r>
            <a:r>
              <a:rPr lang="en-IN" sz="1400" dirty="0">
                <a:latin typeface="Arial" panose="020B0604020202020204" pitchFamily="34" charset="0"/>
              </a:rPr>
              <a:t>:         </a:t>
            </a:r>
            <a:r>
              <a:rPr sz="1400" dirty="0">
                <a:latin typeface="Arial" panose="020B0604020202020204" pitchFamily="34" charset="0"/>
              </a:rPr>
              <a:t>{ "value": "SECURE_APP" },</a:t>
            </a:r>
          </a:p>
          <a:p>
            <a:pPr marL="0" indent="0">
              <a:buNone/>
            </a:pPr>
            <a:r>
              <a:rPr sz="1400" dirty="0">
                <a:latin typeface="Arial" panose="020B0604020202020204" pitchFamily="34" charset="0"/>
              </a:rPr>
              <a:t>"</a:t>
            </a:r>
            <a:r>
              <a:rPr sz="1400" dirty="0" err="1">
                <a:latin typeface="Arial" panose="020B0604020202020204" pitchFamily="34" charset="0"/>
              </a:rPr>
              <a:t>boot_auth_signature</a:t>
            </a:r>
            <a:r>
              <a:rPr sz="1400" dirty="0">
                <a:latin typeface="Arial" panose="020B0604020202020204" pitchFamily="34" charset="0"/>
              </a:rPr>
              <a:t>": { "value": "ES512" },</a:t>
            </a:r>
          </a:p>
          <a:p>
            <a:pPr marL="0" indent="0">
              <a:buNone/>
            </a:pPr>
            <a:endParaRPr sz="1400" dirty="0">
              <a:latin typeface="Arial" panose="020B0604020202020204" pitchFamily="34" charset="0"/>
            </a:endParaRPr>
          </a:p>
          <a:p>
            <a:pPr marL="0" indent="0">
              <a:buNone/>
            </a:pPr>
            <a:r>
              <a:rPr sz="1400" dirty="0">
                <a:latin typeface="Arial" panose="020B0604020202020204" pitchFamily="34" charset="0"/>
              </a:rPr>
              <a:t>"</a:t>
            </a:r>
            <a:r>
              <a:rPr sz="1400" dirty="0" err="1">
                <a:latin typeface="Arial" panose="020B0604020202020204" pitchFamily="34" charset="0"/>
              </a:rPr>
              <a:t>boot_app_layout</a:t>
            </a:r>
            <a:r>
              <a:rPr sz="1400" dirty="0">
                <a:latin typeface="Arial" panose="020B0604020202020204" pitchFamily="34" charset="0"/>
              </a:rPr>
              <a:t>": {</a:t>
            </a:r>
          </a:p>
          <a:p>
            <a:pPr marL="0" indent="0">
              <a:buNone/>
            </a:pPr>
            <a:r>
              <a:rPr sz="1400" dirty="0">
                <a:latin typeface="Arial" panose="020B0604020202020204" pitchFamily="34" charset="0"/>
              </a:rPr>
              <a:t>  "value": [</a:t>
            </a:r>
          </a:p>
          <a:p>
            <a:pPr marL="0" indent="0">
              <a:buNone/>
            </a:pPr>
            <a:r>
              <a:rPr sz="1400" dirty="0">
                <a:latin typeface="Arial" panose="020B0604020202020204" pitchFamily="34" charset="0"/>
              </a:rPr>
              <a:t>    // Slot 0: Secure CM33 application</a:t>
            </a:r>
          </a:p>
          <a:p>
            <a:pPr marL="0" indent="0">
              <a:buNone/>
            </a:pPr>
            <a:r>
              <a:rPr sz="1400" dirty="0">
                <a:latin typeface="Arial" panose="020B0604020202020204" pitchFamily="34" charset="0"/>
              </a:rPr>
              <a:t>    { "address": "0x32000000", "size": "0x6E000" },</a:t>
            </a:r>
          </a:p>
          <a:p>
            <a:pPr marL="0" indent="0">
              <a:buNone/>
            </a:pPr>
            <a:r>
              <a:rPr sz="1400" dirty="0">
                <a:latin typeface="Arial" panose="020B0604020202020204" pitchFamily="34" charset="0"/>
              </a:rPr>
              <a:t>    // Slot 1: PPCA0</a:t>
            </a:r>
          </a:p>
          <a:p>
            <a:pPr marL="0" indent="0">
              <a:buNone/>
            </a:pPr>
            <a:r>
              <a:rPr sz="1400" dirty="0">
                <a:latin typeface="Arial" panose="020B0604020202020204" pitchFamily="34" charset="0"/>
              </a:rPr>
              <a:t>    { "address": "0x3206E000", "size": "0x9000" },</a:t>
            </a:r>
          </a:p>
          <a:p>
            <a:pPr marL="0" indent="0">
              <a:buNone/>
            </a:pPr>
            <a:r>
              <a:rPr sz="1400" dirty="0">
                <a:latin typeface="Arial" panose="020B0604020202020204" pitchFamily="34" charset="0"/>
              </a:rPr>
              <a:t>    // Slot 2: PPCA1</a:t>
            </a:r>
          </a:p>
          <a:p>
            <a:pPr marL="0" indent="0">
              <a:buNone/>
            </a:pPr>
            <a:r>
              <a:rPr sz="1400" dirty="0">
                <a:latin typeface="Arial" panose="020B0604020202020204" pitchFamily="34" charset="0"/>
              </a:rPr>
              <a:t>    { "address": "0x32077000", "size": "0x9000" },</a:t>
            </a:r>
          </a:p>
          <a:p>
            <a:pPr marL="0" indent="0">
              <a:buNone/>
            </a:pPr>
            <a:r>
              <a:rPr sz="1400" dirty="0">
                <a:latin typeface="Arial" panose="020B0604020202020204" pitchFamily="34" charset="0"/>
              </a:rPr>
              <a:t>    // Slots 3,4: unused</a:t>
            </a:r>
          </a:p>
          <a:p>
            <a:pPr marL="0" indent="0">
              <a:buNone/>
            </a:pPr>
            <a:r>
              <a:rPr sz="1400" dirty="0">
                <a:latin typeface="Arial" panose="020B0604020202020204" pitchFamily="34" charset="0"/>
              </a:rPr>
              <a:t>    { "address": "0x00000000", "size": "0x00" },</a:t>
            </a:r>
          </a:p>
          <a:p>
            <a:pPr marL="0" indent="0">
              <a:buNone/>
            </a:pPr>
            <a:r>
              <a:rPr sz="1400" dirty="0">
                <a:latin typeface="Arial" panose="020B0604020202020204" pitchFamily="34" charset="0"/>
              </a:rPr>
              <a:t>    { "address": "0x00000000", "size": "0x00" }</a:t>
            </a:r>
          </a:p>
          <a:p>
            <a:pPr marL="0" indent="0">
              <a:buNone/>
            </a:pPr>
            <a:r>
              <a:rPr sz="1400" dirty="0">
                <a:latin typeface="Arial" panose="020B0604020202020204" pitchFamily="34" charset="0"/>
              </a:rPr>
              <a:t>  ]</a:t>
            </a:r>
          </a:p>
          <a:p>
            <a:pPr marL="0" indent="0">
              <a:buNone/>
            </a:pPr>
            <a:r>
              <a:rPr sz="1400" dirty="0">
                <a:latin typeface="Arial" panose="020B0604020202020204" pitchFamily="34" charset="0"/>
              </a:rPr>
              <a:t>}</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9C917D-ED6E-941A-63E7-98F442F15C10}"/>
              </a:ext>
            </a:extLst>
          </p:cNvPr>
          <p:cNvSpPr/>
          <p:nvPr/>
        </p:nvSpPr>
        <p:spPr bwMode="auto">
          <a:xfrm>
            <a:off x="335360" y="1273716"/>
            <a:ext cx="11521280"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pic>
        <p:nvPicPr>
          <p:cNvPr id="16" name="Content Placeholder 15">
            <a:extLst>
              <a:ext uri="{FF2B5EF4-FFF2-40B4-BE49-F238E27FC236}">
                <a16:creationId xmlns:a16="http://schemas.microsoft.com/office/drawing/2014/main" id="{CAEC938D-BCBB-AF32-6C57-0FE78F1803D5}"/>
              </a:ext>
            </a:extLst>
          </p:cNvPr>
          <p:cNvPicPr>
            <a:picLocks noGrp="1" noChangeAspect="1"/>
          </p:cNvPicPr>
          <p:nvPr>
            <p:ph sz="quarter" idx="13"/>
          </p:nvPr>
        </p:nvPicPr>
        <p:blipFill>
          <a:blip r:embed="rId3"/>
          <a:stretch>
            <a:fillRect/>
          </a:stretch>
        </p:blipFill>
        <p:spPr>
          <a:xfrm>
            <a:off x="2927648" y="1450345"/>
            <a:ext cx="7272808" cy="4687648"/>
          </a:xfrm>
          <a:prstGeom prst="rect">
            <a:avLst/>
          </a:prstGeom>
        </p:spPr>
      </p:pic>
      <p:sp>
        <p:nvSpPr>
          <p:cNvPr id="4" name="Title 3"/>
          <p:cNvSpPr>
            <a:spLocks noGrp="1"/>
          </p:cNvSpPr>
          <p:nvPr>
            <p:ph type="title" hasCustomPrompt="1"/>
          </p:nvPr>
        </p:nvSpPr>
        <p:spPr/>
        <p:txBody>
          <a:bodyPr wrap="square"/>
          <a:lstStyle/>
          <a:p>
            <a:r>
              <a:rPr dirty="0"/>
              <a:t>Image </a:t>
            </a:r>
            <a:r>
              <a:rPr lang="en-IN" dirty="0"/>
              <a:t>s</a:t>
            </a:r>
            <a:r>
              <a:rPr dirty="0" err="1"/>
              <a:t>igning</a:t>
            </a:r>
            <a:endParaRPr dirty="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EA50-6818-EFEE-DD04-7FA07FA78BD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0AF179E-9CFA-4B8A-F2BB-A0D5BF36829E}"/>
              </a:ext>
            </a:extLst>
          </p:cNvPr>
          <p:cNvSpPr/>
          <p:nvPr/>
        </p:nvSpPr>
        <p:spPr bwMode="auto">
          <a:xfrm>
            <a:off x="335360" y="1273716"/>
            <a:ext cx="11506087"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4" name="Title 3">
            <a:extLst>
              <a:ext uri="{FF2B5EF4-FFF2-40B4-BE49-F238E27FC236}">
                <a16:creationId xmlns:a16="http://schemas.microsoft.com/office/drawing/2014/main" id="{36BB0110-AC71-8A9B-C098-0F926FB2408B}"/>
              </a:ext>
            </a:extLst>
          </p:cNvPr>
          <p:cNvSpPr>
            <a:spLocks noGrp="1"/>
          </p:cNvSpPr>
          <p:nvPr>
            <p:ph type="title" hasCustomPrompt="1"/>
          </p:nvPr>
        </p:nvSpPr>
        <p:spPr/>
        <p:txBody>
          <a:bodyPr wrap="square"/>
          <a:lstStyle/>
          <a:p>
            <a:r>
              <a:rPr dirty="0"/>
              <a:t>Image </a:t>
            </a:r>
            <a:r>
              <a:rPr lang="en-US" dirty="0"/>
              <a:t>verification</a:t>
            </a:r>
            <a:endParaRPr dirty="0"/>
          </a:p>
        </p:txBody>
      </p:sp>
      <p:pic>
        <p:nvPicPr>
          <p:cNvPr id="6" name="Content Placeholder 5">
            <a:extLst>
              <a:ext uri="{FF2B5EF4-FFF2-40B4-BE49-F238E27FC236}">
                <a16:creationId xmlns:a16="http://schemas.microsoft.com/office/drawing/2014/main" id="{97E24832-9880-E8DD-A8F0-FDBA6B9177E1}"/>
              </a:ext>
            </a:extLst>
          </p:cNvPr>
          <p:cNvPicPr>
            <a:picLocks noGrp="1" noChangeAspect="1"/>
          </p:cNvPicPr>
          <p:nvPr>
            <p:ph sz="quarter" idx="13"/>
          </p:nvPr>
        </p:nvPicPr>
        <p:blipFill>
          <a:blip r:embed="rId3"/>
          <a:stretch>
            <a:fillRect/>
          </a:stretch>
        </p:blipFill>
        <p:spPr>
          <a:xfrm>
            <a:off x="4347115" y="1484784"/>
            <a:ext cx="3497770" cy="4442316"/>
          </a:xfrm>
          <a:prstGeom prst="rect">
            <a:avLst/>
          </a:prstGeom>
        </p:spPr>
      </p:pic>
    </p:spTree>
    <p:extLst>
      <p:ext uri="{BB962C8B-B14F-4D97-AF65-F5344CB8AC3E}">
        <p14:creationId xmlns:p14="http://schemas.microsoft.com/office/powerpoint/2010/main" val="202296980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hasCustomPrompt="1"/>
          </p:nvPr>
        </p:nvSpPr>
        <p:spPr/>
        <p:txBody>
          <a:bodyPr wrap="square"/>
          <a:lstStyle/>
          <a:p>
            <a:r>
              <a:rPr sz="1600" dirty="0"/>
              <a:t>LCS is a one-way progression stored in hardware (OTP)</a:t>
            </a:r>
          </a:p>
          <a:p>
            <a:pPr lvl="1"/>
            <a:r>
              <a:rPr sz="1400" dirty="0"/>
              <a:t>Development → Production → RMA; irreversible at each step</a:t>
            </a:r>
          </a:p>
          <a:p>
            <a:r>
              <a:rPr sz="1600" dirty="0"/>
              <a:t>Ownership transfer is the act of installing OEM keys into </a:t>
            </a:r>
            <a:r>
              <a:rPr sz="1600" dirty="0" err="1"/>
              <a:t>SFlash</a:t>
            </a:r>
            <a:r>
              <a:rPr sz="1600" dirty="0"/>
              <a:t> via provisioning</a:t>
            </a:r>
          </a:p>
          <a:p>
            <a:pPr lvl="1"/>
            <a:r>
              <a:rPr sz="1400" dirty="0"/>
              <a:t>After provisioning: </a:t>
            </a:r>
            <a:r>
              <a:rPr sz="1400" dirty="0" err="1"/>
              <a:t>BootROM</a:t>
            </a:r>
            <a:r>
              <a:rPr sz="1400" dirty="0"/>
              <a:t> trusts the OEM </a:t>
            </a:r>
            <a:r>
              <a:rPr lang="en-US" sz="1400" dirty="0"/>
              <a:t>ROT</a:t>
            </a:r>
            <a:r>
              <a:rPr sz="1400" dirty="0"/>
              <a:t> key</a:t>
            </a:r>
            <a:endParaRPr lang="en-US" sz="1400" dirty="0"/>
          </a:p>
          <a:p>
            <a:pPr lvl="1"/>
            <a:r>
              <a:rPr lang="en-US" sz="1400" dirty="0"/>
              <a:t>Development certificate – LCS does not change and the ownership is non-permanent</a:t>
            </a:r>
          </a:p>
          <a:p>
            <a:pPr lvl="1"/>
            <a:r>
              <a:rPr lang="en-US" sz="1400" dirty="0"/>
              <a:t>Production certificate – LCS advances to Production LCS and ownership becomes permanent</a:t>
            </a:r>
          </a:p>
          <a:p>
            <a:r>
              <a:rPr lang="en-US" sz="1600" dirty="0"/>
              <a:t>Use development certificate for all testing and validation</a:t>
            </a:r>
          </a:p>
          <a:p>
            <a:pPr lvl="1"/>
            <a:r>
              <a:rPr lang="en-US" sz="1400" dirty="0"/>
              <a:t>LCS stays in Development; re-provisioning is always possible</a:t>
            </a:r>
          </a:p>
          <a:p>
            <a:pPr lvl="1"/>
            <a:r>
              <a:rPr lang="en-US" sz="1400" dirty="0"/>
              <a:t>You can fully test secure boot without a production certificate</a:t>
            </a:r>
            <a:endParaRPr sz="1400" dirty="0"/>
          </a:p>
          <a:p>
            <a:r>
              <a:rPr sz="1600" dirty="0"/>
              <a:t>Secure boot (SECURE_APP) requires three things to align:</a:t>
            </a:r>
          </a:p>
          <a:p>
            <a:pPr lvl="1"/>
            <a:r>
              <a:rPr sz="1400" dirty="0"/>
              <a:t>Policy: </a:t>
            </a:r>
            <a:r>
              <a:rPr sz="1400" dirty="0" err="1"/>
              <a:t>boot_cfg_id</a:t>
            </a:r>
            <a:r>
              <a:rPr sz="1400" dirty="0"/>
              <a:t> = SECURE_APP, </a:t>
            </a:r>
            <a:r>
              <a:rPr sz="1400" dirty="0" err="1"/>
              <a:t>boot_app_layout</a:t>
            </a:r>
            <a:r>
              <a:rPr sz="1400" dirty="0"/>
              <a:t> addresses/sizes correct</a:t>
            </a:r>
          </a:p>
          <a:p>
            <a:pPr lvl="1"/>
            <a:r>
              <a:rPr sz="1400" dirty="0"/>
              <a:t>Keys: OEM_ROT_KEY in </a:t>
            </a:r>
            <a:r>
              <a:rPr sz="1400" dirty="0" err="1"/>
              <a:t>SFlash</a:t>
            </a:r>
            <a:r>
              <a:rPr sz="1400" dirty="0"/>
              <a:t> matches the signing key</a:t>
            </a:r>
          </a:p>
          <a:p>
            <a:pPr lvl="1"/>
            <a:r>
              <a:rPr sz="1400" dirty="0"/>
              <a:t>Image: signed with </a:t>
            </a:r>
            <a:r>
              <a:rPr lang="en-US" sz="1400" dirty="0"/>
              <a:t>OEM_ROT_KEY</a:t>
            </a:r>
            <a:r>
              <a:rPr sz="1400" dirty="0"/>
              <a:t> before flashing</a:t>
            </a:r>
          </a:p>
          <a:p>
            <a:r>
              <a:rPr sz="1600" dirty="0"/>
              <a:t>Private keys must never leave a secure, controlled environment</a:t>
            </a:r>
            <a:r>
              <a:rPr lang="en-US" sz="1600" dirty="0"/>
              <a:t> (Caution for production)</a:t>
            </a:r>
            <a:endParaRPr sz="1600" dirty="0"/>
          </a:p>
          <a:p>
            <a:pPr marL="0" indent="0">
              <a:buNone/>
            </a:pPr>
            <a:endParaRPr sz="1400" dirty="0"/>
          </a:p>
        </p:txBody>
      </p:sp>
      <p:sp>
        <p:nvSpPr>
          <p:cNvPr id="3" name="Title 2"/>
          <p:cNvSpPr>
            <a:spLocks noGrp="1"/>
          </p:cNvSpPr>
          <p:nvPr>
            <p:ph type="title" hasCustomPrompt="1"/>
          </p:nvPr>
        </p:nvSpPr>
        <p:spPr/>
        <p:txBody>
          <a:bodyPr wrap="square"/>
          <a:lstStyle/>
          <a:p>
            <a:r>
              <a:rPr dirty="0"/>
              <a:t>Key </a:t>
            </a:r>
            <a:r>
              <a:rPr lang="en-IN" dirty="0"/>
              <a:t>t</a:t>
            </a:r>
            <a:r>
              <a:rPr dirty="0" err="1"/>
              <a:t>akeaways</a:t>
            </a:r>
            <a:endParaRPr dirty="0"/>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F40DB-43C9-94B5-B1A8-ED26061F6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BE26A-EDE3-4B97-1D20-29BB61DCB54C}"/>
              </a:ext>
            </a:extLst>
          </p:cNvPr>
          <p:cNvSpPr>
            <a:spLocks noGrp="1"/>
          </p:cNvSpPr>
          <p:nvPr>
            <p:ph type="title"/>
          </p:nvPr>
        </p:nvSpPr>
        <p:spPr/>
        <p:txBody>
          <a:bodyPr/>
          <a:lstStyle/>
          <a:p>
            <a:r>
              <a:rPr lang="en-US" dirty="0"/>
              <a:t>Appendix</a:t>
            </a:r>
            <a:endParaRPr lang="en-IN" dirty="0"/>
          </a:p>
        </p:txBody>
      </p:sp>
    </p:spTree>
    <p:extLst>
      <p:ext uri="{BB962C8B-B14F-4D97-AF65-F5344CB8AC3E}">
        <p14:creationId xmlns:p14="http://schemas.microsoft.com/office/powerpoint/2010/main" val="2711441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E738-8420-7649-E399-A7D6C5BDAB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A323D3-39BA-DCBB-4DEF-FD877103F229}"/>
              </a:ext>
            </a:extLst>
          </p:cNvPr>
          <p:cNvSpPr/>
          <p:nvPr/>
        </p:nvSpPr>
        <p:spPr bwMode="auto">
          <a:xfrm>
            <a:off x="335360" y="1273716"/>
            <a:ext cx="11506087" cy="5040906"/>
          </a:xfrm>
          <a:prstGeom prst="rect">
            <a:avLst/>
          </a:prstGeom>
          <a:solidFill>
            <a:schemeClr val="bg1"/>
          </a:solid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2" name="Content Placeholder 1">
            <a:extLst>
              <a:ext uri="{FF2B5EF4-FFF2-40B4-BE49-F238E27FC236}">
                <a16:creationId xmlns:a16="http://schemas.microsoft.com/office/drawing/2014/main" id="{E308EBCD-5681-98A8-18F5-C726AE7C9880}"/>
              </a:ext>
            </a:extLst>
          </p:cNvPr>
          <p:cNvSpPr>
            <a:spLocks noGrp="1"/>
          </p:cNvSpPr>
          <p:nvPr>
            <p:ph sz="quarter" idx="13" hasCustomPrompt="1"/>
          </p:nvPr>
        </p:nvSpPr>
        <p:spPr>
          <a:xfrm>
            <a:off x="1847528" y="2204864"/>
            <a:ext cx="10007272" cy="4176887"/>
          </a:xfrm>
        </p:spPr>
        <p:txBody>
          <a:bodyPr wrap="square"/>
          <a:lstStyle/>
          <a:p>
            <a:endParaRPr lang="en-US" sz="1400" dirty="0"/>
          </a:p>
          <a:p>
            <a:endParaRPr lang="en-US" sz="1400" dirty="0"/>
          </a:p>
          <a:p>
            <a:endParaRPr lang="en-US" sz="1400" dirty="0"/>
          </a:p>
          <a:p>
            <a:endParaRPr sz="1400" dirty="0"/>
          </a:p>
        </p:txBody>
      </p:sp>
      <p:sp>
        <p:nvSpPr>
          <p:cNvPr id="3" name="Title 2">
            <a:extLst>
              <a:ext uri="{FF2B5EF4-FFF2-40B4-BE49-F238E27FC236}">
                <a16:creationId xmlns:a16="http://schemas.microsoft.com/office/drawing/2014/main" id="{D894B85F-90C5-C37C-C08B-47BDE5E88E56}"/>
              </a:ext>
            </a:extLst>
          </p:cNvPr>
          <p:cNvSpPr>
            <a:spLocks noGrp="1"/>
          </p:cNvSpPr>
          <p:nvPr>
            <p:ph type="title" hasCustomPrompt="1"/>
          </p:nvPr>
        </p:nvSpPr>
        <p:spPr/>
        <p:txBody>
          <a:bodyPr wrap="square"/>
          <a:lstStyle/>
          <a:p>
            <a:r>
              <a:rPr lang="en-US" dirty="0"/>
              <a:t>Attack types vs security features</a:t>
            </a:r>
            <a:endParaRPr dirty="0"/>
          </a:p>
        </p:txBody>
      </p:sp>
      <p:pic>
        <p:nvPicPr>
          <p:cNvPr id="7" name="Graphic 6">
            <a:extLst>
              <a:ext uri="{FF2B5EF4-FFF2-40B4-BE49-F238E27FC236}">
                <a16:creationId xmlns:a16="http://schemas.microsoft.com/office/drawing/2014/main" id="{E2398EBE-5CAA-D690-D387-3A0440F09E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49016" y="620688"/>
            <a:ext cx="18529908" cy="6696744"/>
          </a:xfrm>
          <a:prstGeom prst="rect">
            <a:avLst/>
          </a:prstGeom>
        </p:spPr>
      </p:pic>
    </p:spTree>
    <p:extLst>
      <p:ext uri="{BB962C8B-B14F-4D97-AF65-F5344CB8AC3E}">
        <p14:creationId xmlns:p14="http://schemas.microsoft.com/office/powerpoint/2010/main" val="4125227606"/>
      </p:ext>
    </p:extLst>
  </p:cSld>
  <p:clrMapOvr>
    <a:masterClrMapping/>
  </p:clrMapOvr>
  <p:transition spd="slow"/>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7C67B-4983-3421-0963-2AB5767C64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1C8B8B-7967-45AA-4006-276A203E81FF}"/>
              </a:ext>
            </a:extLst>
          </p:cNvPr>
          <p:cNvSpPr>
            <a:spLocks noGrp="1"/>
          </p:cNvSpPr>
          <p:nvPr>
            <p:ph sz="quarter" idx="13" hasCustomPrompt="1"/>
          </p:nvPr>
        </p:nvSpPr>
        <p:spPr/>
        <p:txBody>
          <a:bodyPr wrap="square"/>
          <a:lstStyle/>
          <a:p>
            <a:r>
              <a:rPr sz="1600" dirty="0"/>
              <a:t>Slot 0 failure (</a:t>
            </a:r>
            <a:r>
              <a:rPr lang="en-IN" sz="1600" dirty="0"/>
              <a:t>s</a:t>
            </a:r>
            <a:r>
              <a:rPr sz="1600" dirty="0" err="1"/>
              <a:t>ecure</a:t>
            </a:r>
            <a:r>
              <a:rPr sz="1600" dirty="0"/>
              <a:t> application) → DEAD</a:t>
            </a:r>
          </a:p>
          <a:p>
            <a:pPr lvl="1"/>
            <a:r>
              <a:rPr sz="1400" dirty="0"/>
              <a:t>Device halts — no code executes</a:t>
            </a:r>
          </a:p>
          <a:p>
            <a:pPr lvl="1"/>
            <a:r>
              <a:rPr sz="1400" dirty="0"/>
              <a:t>Persists until </a:t>
            </a:r>
            <a:r>
              <a:rPr lang="en-IN" sz="1400" dirty="0"/>
              <a:t>next</a:t>
            </a:r>
            <a:r>
              <a:rPr sz="1400" dirty="0"/>
              <a:t> reset</a:t>
            </a:r>
          </a:p>
          <a:p>
            <a:pPr lvl="1"/>
            <a:r>
              <a:rPr sz="1400" dirty="0"/>
              <a:t>Recovery: flash a correctly signed image or re-provision</a:t>
            </a:r>
            <a:endParaRPr lang="en-US" sz="1600" dirty="0"/>
          </a:p>
          <a:p>
            <a:r>
              <a:rPr sz="1600" dirty="0"/>
              <a:t>Slots 1–3 failure (optional images) → skip and continue</a:t>
            </a:r>
          </a:p>
          <a:p>
            <a:pPr lvl="1"/>
            <a:r>
              <a:rPr sz="1400" dirty="0"/>
              <a:t>Secure application still launches</a:t>
            </a:r>
          </a:p>
          <a:p>
            <a:pPr lvl="1"/>
            <a:r>
              <a:rPr sz="1400" dirty="0"/>
              <a:t>Secure app is responsible for handling the missing sub-image</a:t>
            </a:r>
          </a:p>
          <a:p>
            <a:pPr lvl="1"/>
            <a:r>
              <a:rPr sz="1400" dirty="0" err="1"/>
              <a:t>failed_signature_counter</a:t>
            </a:r>
            <a:r>
              <a:rPr sz="1400" dirty="0"/>
              <a:t> decremented on each failure per slot</a:t>
            </a:r>
            <a:endParaRPr lang="en-US" sz="1600" dirty="0"/>
          </a:p>
          <a:p>
            <a:r>
              <a:rPr sz="1600" dirty="0"/>
              <a:t>Common causes</a:t>
            </a:r>
          </a:p>
          <a:p>
            <a:pPr lvl="1"/>
            <a:r>
              <a:rPr sz="1400" dirty="0"/>
              <a:t>Image not signed</a:t>
            </a:r>
          </a:p>
          <a:p>
            <a:pPr lvl="1"/>
            <a:r>
              <a:rPr sz="1400" dirty="0"/>
              <a:t>Key mismatch between signing key and provisioned OEM_ROT_KEY</a:t>
            </a:r>
          </a:p>
          <a:p>
            <a:pPr lvl="1"/>
            <a:r>
              <a:rPr sz="1400" dirty="0"/>
              <a:t>Slot address or size mismatch between policy and image</a:t>
            </a:r>
          </a:p>
          <a:p>
            <a:pPr lvl="1"/>
            <a:r>
              <a:rPr sz="1400" dirty="0"/>
              <a:t>Corrupted image in flash</a:t>
            </a:r>
            <a:endParaRPr sz="1200" dirty="0"/>
          </a:p>
        </p:txBody>
      </p:sp>
      <p:sp>
        <p:nvSpPr>
          <p:cNvPr id="3" name="Title 2">
            <a:extLst>
              <a:ext uri="{FF2B5EF4-FFF2-40B4-BE49-F238E27FC236}">
                <a16:creationId xmlns:a16="http://schemas.microsoft.com/office/drawing/2014/main" id="{1A24E7A6-132A-F34B-4CAC-2DA74184453C}"/>
              </a:ext>
            </a:extLst>
          </p:cNvPr>
          <p:cNvSpPr>
            <a:spLocks noGrp="1"/>
          </p:cNvSpPr>
          <p:nvPr>
            <p:ph type="title" hasCustomPrompt="1"/>
          </p:nvPr>
        </p:nvSpPr>
        <p:spPr/>
        <p:txBody>
          <a:bodyPr wrap="square"/>
          <a:lstStyle/>
          <a:p>
            <a:r>
              <a:rPr dirty="0"/>
              <a:t>What </a:t>
            </a:r>
            <a:r>
              <a:rPr lang="en-IN" dirty="0"/>
              <a:t>happens when authentication fails</a:t>
            </a:r>
            <a:endParaRPr dirty="0"/>
          </a:p>
        </p:txBody>
      </p:sp>
    </p:spTree>
    <p:extLst>
      <p:ext uri="{BB962C8B-B14F-4D97-AF65-F5344CB8AC3E}">
        <p14:creationId xmlns:p14="http://schemas.microsoft.com/office/powerpoint/2010/main" val="2806961946"/>
      </p:ext>
    </p:extLst>
  </p:cSld>
  <p:clrMapOvr>
    <a:masterClrMapping/>
  </p:clrMapOvr>
  <p:transition spd="slow"/>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2">
            <a:extLst>
              <a:ext uri="{FF2B5EF4-FFF2-40B4-BE49-F238E27FC236}">
                <a16:creationId xmlns:a16="http://schemas.microsoft.com/office/drawing/2014/main" id="{1C0A1699-9219-4807-8672-73A95F774948}"/>
              </a:ext>
            </a:extLst>
          </p:cNvPr>
          <p:cNvSpPr>
            <a:spLocks noGrp="1"/>
          </p:cNvSpPr>
          <p:nvPr>
            <p:ph type="title"/>
          </p:nvPr>
        </p:nvSpPr>
        <p:spPr>
          <a:xfrm>
            <a:off x="335360" y="188720"/>
            <a:ext cx="9613068" cy="720000"/>
          </a:xfrm>
        </p:spPr>
        <p:txBody>
          <a:bodyPr/>
          <a:lstStyle/>
          <a:p>
            <a:r>
              <a:rPr lang="en-US" sz="2800" dirty="0"/>
              <a:t>Revision history</a:t>
            </a:r>
          </a:p>
        </p:txBody>
      </p:sp>
      <p:graphicFrame>
        <p:nvGraphicFramePr>
          <p:cNvPr id="3" name="表 3">
            <a:extLst>
              <a:ext uri="{FF2B5EF4-FFF2-40B4-BE49-F238E27FC236}">
                <a16:creationId xmlns:a16="http://schemas.microsoft.com/office/drawing/2014/main" id="{BCF57EB3-5B04-9189-8598-DBD761045800}"/>
              </a:ext>
            </a:extLst>
          </p:cNvPr>
          <p:cNvGraphicFramePr>
            <a:graphicFrameLocks noGrp="1"/>
          </p:cNvGraphicFramePr>
          <p:nvPr>
            <p:extLst>
              <p:ext uri="{D42A27DB-BD31-4B8C-83A1-F6EECF244321}">
                <p14:modId xmlns:p14="http://schemas.microsoft.com/office/powerpoint/2010/main" val="2458416116"/>
              </p:ext>
            </p:extLst>
          </p:nvPr>
        </p:nvGraphicFramePr>
        <p:xfrm>
          <a:off x="341264" y="1268760"/>
          <a:ext cx="11521278" cy="1004315"/>
        </p:xfrm>
        <a:graphic>
          <a:graphicData uri="http://schemas.openxmlformats.org/drawingml/2006/table">
            <a:tbl>
              <a:tblPr firstRow="1" bandRow="1">
                <a:tableStyleId>{5C22544A-7EE6-4342-B048-85BDC9FD1C3A}</a:tableStyleId>
              </a:tblPr>
              <a:tblGrid>
                <a:gridCol w="1573702">
                  <a:extLst>
                    <a:ext uri="{9D8B030D-6E8A-4147-A177-3AD203B41FA5}">
                      <a16:colId xmlns:a16="http://schemas.microsoft.com/office/drawing/2014/main" val="1239718747"/>
                    </a:ext>
                  </a:extLst>
                </a:gridCol>
                <a:gridCol w="1790175">
                  <a:extLst>
                    <a:ext uri="{9D8B030D-6E8A-4147-A177-3AD203B41FA5}">
                      <a16:colId xmlns:a16="http://schemas.microsoft.com/office/drawing/2014/main" val="3210263253"/>
                    </a:ext>
                  </a:extLst>
                </a:gridCol>
                <a:gridCol w="8157401">
                  <a:extLst>
                    <a:ext uri="{9D8B030D-6E8A-4147-A177-3AD203B41FA5}">
                      <a16:colId xmlns:a16="http://schemas.microsoft.com/office/drawing/2014/main" val="3488215586"/>
                    </a:ext>
                  </a:extLst>
                </a:gridCol>
              </a:tblGrid>
              <a:tr h="634304">
                <a:tc>
                  <a:txBody>
                    <a:bodyPr/>
                    <a:lstStyle/>
                    <a:p>
                      <a:r>
                        <a:rPr kumimoji="1" lang="en-US" altLang="ja-JP" sz="1500" dirty="0">
                          <a:solidFill>
                            <a:schemeClr val="bg1"/>
                          </a:solidFill>
                        </a:rPr>
                        <a:t>Document revision</a:t>
                      </a:r>
                      <a:endParaRPr kumimoji="1" lang="ja-JP" altLang="en-US" sz="1500" dirty="0">
                        <a:solidFill>
                          <a:schemeClr val="bg1"/>
                        </a:solidFill>
                      </a:endParaRPr>
                    </a:p>
                  </a:txBody>
                  <a:tcPr/>
                </a:tc>
                <a:tc>
                  <a:txBody>
                    <a:bodyPr/>
                    <a:lstStyle/>
                    <a:p>
                      <a:r>
                        <a:rPr kumimoji="1" lang="en-US" altLang="ja-JP" sz="1500" dirty="0">
                          <a:solidFill>
                            <a:schemeClr val="bg1"/>
                          </a:solidFill>
                        </a:rPr>
                        <a:t>Date</a:t>
                      </a:r>
                      <a:endParaRPr kumimoji="1" lang="ja-JP" altLang="en-US" sz="1500" dirty="0">
                        <a:solidFill>
                          <a:schemeClr val="bg1"/>
                        </a:solidFill>
                      </a:endParaRPr>
                    </a:p>
                  </a:txBody>
                  <a:tcPr/>
                </a:tc>
                <a:tc>
                  <a:txBody>
                    <a:bodyPr/>
                    <a:lstStyle/>
                    <a:p>
                      <a:r>
                        <a:rPr kumimoji="1" lang="en-US" altLang="ja-JP" sz="1500" dirty="0">
                          <a:solidFill>
                            <a:schemeClr val="bg1"/>
                          </a:solidFill>
                        </a:rPr>
                        <a:t>Description</a:t>
                      </a:r>
                      <a:r>
                        <a:rPr kumimoji="1" lang="en-US" altLang="ja-JP" sz="1500" baseline="0" dirty="0">
                          <a:solidFill>
                            <a:schemeClr val="bg1"/>
                          </a:solidFill>
                        </a:rPr>
                        <a:t> of change</a:t>
                      </a:r>
                      <a:endParaRPr kumimoji="1" lang="ja-JP" altLang="en-US" sz="1500" dirty="0">
                        <a:solidFill>
                          <a:schemeClr val="bg1"/>
                        </a:solidFill>
                      </a:endParaRPr>
                    </a:p>
                  </a:txBody>
                  <a:tcPr/>
                </a:tc>
                <a:extLst>
                  <a:ext uri="{0D108BD9-81ED-4DB2-BD59-A6C34878D82A}">
                    <a16:rowId xmlns:a16="http://schemas.microsoft.com/office/drawing/2014/main" val="1299302294"/>
                  </a:ext>
                </a:extLst>
              </a:tr>
              <a:tr h="370011">
                <a:tc>
                  <a:txBody>
                    <a:bodyPr/>
                    <a:lstStyle/>
                    <a:p>
                      <a:r>
                        <a:rPr kumimoji="1" lang="en-US" altLang="ja-JP" sz="1500" dirty="0"/>
                        <a:t>**</a:t>
                      </a:r>
                      <a:endParaRPr kumimoji="1" lang="ja-JP" altLang="en-US" sz="1500" dirty="0"/>
                    </a:p>
                  </a:txBody>
                  <a:tcPr/>
                </a:tc>
                <a:tc>
                  <a:txBody>
                    <a:bodyPr/>
                    <a:lstStyle/>
                    <a:p>
                      <a:r>
                        <a:rPr lang="en-US" altLang="ja-JP" sz="1500" dirty="0"/>
                        <a:t>2026-06-26</a:t>
                      </a:r>
                    </a:p>
                  </a:txBody>
                  <a:tcPr/>
                </a:tc>
                <a:tc>
                  <a:txBody>
                    <a:bodyPr/>
                    <a:lstStyle/>
                    <a:p>
                      <a:r>
                        <a:rPr lang="en-IN" altLang="ja-JP" sz="1500" dirty="0"/>
                        <a:t>Initial release</a:t>
                      </a:r>
                      <a:endParaRPr lang="ja-JP" altLang="en-US" sz="1500" dirty="0"/>
                    </a:p>
                  </a:txBody>
                  <a:tcPr/>
                </a:tc>
                <a:extLst>
                  <a:ext uri="{0D108BD9-81ED-4DB2-BD59-A6C34878D82A}">
                    <a16:rowId xmlns:a16="http://schemas.microsoft.com/office/drawing/2014/main" val="2629041960"/>
                  </a:ext>
                </a:extLst>
              </a:tr>
            </a:tbl>
          </a:graphicData>
        </a:graphic>
      </p:graphicFrame>
    </p:spTree>
    <p:extLst>
      <p:ext uri="{BB962C8B-B14F-4D97-AF65-F5344CB8AC3E}">
        <p14:creationId xmlns:p14="http://schemas.microsoft.com/office/powerpoint/2010/main" val="15021407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FALLBACK_LAYOUT" val="4"/>
  <p:tag name="MIO_SHOW_DATE" val="False"/>
  <p:tag name="MIO_SHOW_FOOTER" val="False"/>
  <p:tag name="MIO_SHOW_PAGENUMBER" val="False"/>
  <p:tag name="MIO_AVOID_BLANK_LAYOUT" val="True"/>
  <p:tag name="MIO_CD_LAYOUT_VALID_AREA" val="False"/>
  <p:tag name="MIO_EMBED_FONT" val="False"/>
  <p:tag name="MIO_MATCH_COLOR_SCHEME" val="False"/>
  <p:tag name="MIO_NUMBER_OF_VALID_LAYOUTS" val="18"/>
  <p:tag name="MIO_HDS" val="True"/>
  <p:tag name="MIO_SKIPVERSION" val="01.01.0001 00:00:00"/>
  <p:tag name="MIO_EKGUID" val="f8120ca7-cceb-428f-a7d0-f20ce9397e1b"/>
  <p:tag name="MIO_UPDATE" val="True"/>
  <p:tag name="MIO_VERSION" val="17.04.2026 10:16:31"/>
  <p:tag name="MIO_DBID" val="FDE84254-54DB-49E3-9A0E-CDE72035D530"/>
  <p:tag name="MIO_LASTDOWNLOADED" val="21.05.2026 10:16:48.235"/>
  <p:tag name="MIO_OBJECTNAME" val="Infineon LCD 16:9"/>
  <p:tag name="MIO_CONTENTTAG" val="IbgtWURMPU6UHyje9CCi1A=="/>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67.xml><?xml version="1.0" encoding="utf-8"?>
<p:tagLst xmlns:a="http://schemas.openxmlformats.org/drawingml/2006/main" xmlns:r="http://schemas.openxmlformats.org/officeDocument/2006/relationships" xmlns:p="http://schemas.openxmlformats.org/presentationml/2006/main">
  <p:tag name="MIO_AGENDA_ELEMENTNAME" val="MIO_AGENDA_OVERVIEW_SLIDE"/>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c195d5ab-054b-45b4-81e5-56c68a104522"/>
  <p:tag name="MIO_VERSION" val="31.12.9999 23:59:59"/>
  <p:tag name="MIO_DBID" val="fde84254-54db-49e3-9a0e-cde72035d530"/>
  <p:tag name="MIO_LASTDOWNLOADED" val="26.06.2026 00:53:54.294"/>
  <p:tag name="MIO_UPDATE" val="False"/>
</p:tagLst>
</file>

<file path=ppt/tags/tag68.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6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7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71.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72.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73.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74.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75.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76.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77.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78.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79.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80.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81.xml><?xml version="1.0" encoding="utf-8"?>
<p:tagLst xmlns:a="http://schemas.openxmlformats.org/drawingml/2006/main" xmlns:r="http://schemas.openxmlformats.org/officeDocument/2006/relationships" xmlns:p="http://schemas.openxmlformats.org/presentationml/2006/main">
  <p:tag name="MIO_AGENDA_LEVEL_STRING" val="1"/>
  <p:tag name="MIO_AGENDA_ELEMENTNAME" val="Security by design"/>
  <p:tag name="MIO_AGENDA_EXPLICIT_ITEM_LEVEL_TAG" val="0"/>
  <p:tag name="MIO_AGENDA_NUMBER_STRING_TAG" val="1"/>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63d69d70-f332-4ef9-88cd-3d2e30cf5c20"/>
  <p:tag name="MIO_VERSION" val="31.12.9999 23:59:59"/>
  <p:tag name="MIO_DBID" val="fde84254-54db-49e3-9a0e-cde72035d530"/>
  <p:tag name="MIO_LASTDOWNLOADED" val="26.06.2026 00:53:54.737"/>
  <p:tag name="MIO_UPDATE" val="False"/>
</p:tagLst>
</file>

<file path=ppt/tags/tag82.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83.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84.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85.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ags/tag86.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87.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88.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8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9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91.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92.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93.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94.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95.xml><?xml version="1.0" encoding="utf-8"?>
<p:tagLst xmlns:a="http://schemas.openxmlformats.org/drawingml/2006/main" xmlns:r="http://schemas.openxmlformats.org/officeDocument/2006/relationships" xmlns:p="http://schemas.openxmlformats.org/presentationml/2006/main">
  <p:tag name="MIO_GUID" val="08d70fdb-3d28-490a-af6c-95dc34f5f8cc"/>
  <p:tag name="MIO_EKGUID" val="b2e7619d-ca6c-4310-ab7b-c1b03190eb5e"/>
  <p:tag name="MIO_UPDATE" val="True"/>
  <p:tag name="MIO_VERSION" val="09.03.2023 09:36:45"/>
  <p:tag name="MIO_DBID" val="FDE84254-54DB-49E3-9A0E-CDE72035D530"/>
  <p:tag name="MIO_LASTDOWNLOADED" val="22.05.2026 12:20:48.036"/>
  <p:tag name="MIO_OBJECTNAME" val="01 Plain"/>
  <p:tag name="MIO_CONTENTTAG" val="KuJoL/MEU0yEytFY+idzDVf/UwqQTtVBsCW4nPMUZwM="/>
  <p:tag name="MIO_LASTEDITORNAME" val="Verena Kohl"/>
</p:tagLst>
</file>

<file path=ppt/tags/tag96.xml><?xml version="1.0" encoding="utf-8"?>
<p:tagLst xmlns:a="http://schemas.openxmlformats.org/drawingml/2006/main" xmlns:r="http://schemas.openxmlformats.org/officeDocument/2006/relationships" xmlns:p="http://schemas.openxmlformats.org/presentationml/2006/main">
  <p:tag name="MIO_GUID" val="f414782c-cd95-4aba-ac42-9093a1d825d5"/>
  <p:tag name="MIO_EKGUID" val="c800f650-0fca-4819-b1d8-23257dc0893c"/>
  <p:tag name="MIO_UPDATE" val="True"/>
  <p:tag name="MIO_VERSION" val="11.02.2026 14:15:31"/>
  <p:tag name="MIO_DBID" val="FDE84254-54DB-49E3-9A0E-CDE72035D530"/>
  <p:tag name="MIO_LASTDOWNLOADED" val="17.06.2026 02:42:20.876"/>
  <p:tag name="MIO_OBJECTNAME" val="Circle (4)"/>
  <p:tag name="MIO_CONTENTTAG" val="24/pQWw0rUSo6li0mJAaEg=="/>
  <p:tag name="MIO_LASTEDITORNAME" val="Alina Raquel Grunert da Fonseca"/>
</p:tagLst>
</file>

<file path=ppt/tags/tag97.xml><?xml version="1.0" encoding="utf-8"?>
<p:tagLst xmlns:a="http://schemas.openxmlformats.org/drawingml/2006/main" xmlns:r="http://schemas.openxmlformats.org/officeDocument/2006/relationships" xmlns:p="http://schemas.openxmlformats.org/presentationml/2006/main">
  <p:tag name="MIO_AGENDA_LEVEL_STRING" val="2"/>
  <p:tag name="MIO_AGENDA_ELEMENTNAME" val="Device life cycle stage (LCS)"/>
  <p:tag name="MIO_AGENDA_EXPLICIT_ITEM_LEVEL_TAG" val="0"/>
  <p:tag name="MIO_AGENDA_NUMBER_STRING_TAG" val="2"/>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3bce39f9-ca27-4ef3-8043-b34d3cc7ee38"/>
  <p:tag name="MIO_VERSION" val="31.12.9999 23:59:59"/>
  <p:tag name="MIO_DBID" val="fde84254-54db-49e3-9a0e-cde72035d530"/>
  <p:tag name="MIO_LASTDOWNLOADED" val="26.06.2026 00:53:55.236"/>
  <p:tag name="MIO_UPDATE" val="False"/>
</p:tagLst>
</file>

<file path=ppt/tags/tag98.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9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0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01.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02.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103.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104.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ags/tag105.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06.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07.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08.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09.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10.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11.xml><?xml version="1.0" encoding="utf-8"?>
<p:tagLst xmlns:a="http://schemas.openxmlformats.org/drawingml/2006/main" xmlns:r="http://schemas.openxmlformats.org/officeDocument/2006/relationships" xmlns:p="http://schemas.openxmlformats.org/presentationml/2006/main">
  <p:tag name="MIO_AGENDA_LEVEL_STRING" val="3"/>
  <p:tag name="MIO_AGENDA_ELEMENTNAME" val="Ownership transfer and provisioning"/>
  <p:tag name="MIO_AGENDA_EXPLICIT_ITEM_LEVEL_TAG" val="0"/>
  <p:tag name="MIO_AGENDA_NUMBER_STRING_TAG" val="3"/>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e0dac813-d963-4838-9c0e-37467de16311"/>
  <p:tag name="MIO_VERSION" val="31.12.9999 23:59:59"/>
  <p:tag name="MIO_DBID" val="fde84254-54db-49e3-9a0e-cde72035d530"/>
  <p:tag name="MIO_LASTDOWNLOADED" val="26.06.2026 00:53:55.548"/>
  <p:tag name="MIO_UPDATE" val="False"/>
</p:tagLst>
</file>

<file path=ppt/tags/tag112.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113.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14.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15.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16.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17.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18.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19.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120.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121.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ags/tag122.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23.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24.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25.xml><?xml version="1.0" encoding="utf-8"?>
<p:tagLst xmlns:a="http://schemas.openxmlformats.org/drawingml/2006/main" xmlns:r="http://schemas.openxmlformats.org/officeDocument/2006/relationships" xmlns:p="http://schemas.openxmlformats.org/presentationml/2006/main">
  <p:tag name="FB-SLIDENAME" val="Process 4"/>
  <p:tag name="FB-CATEGORY" val="Process"/>
  <p:tag name="MIO_GUID" val="22c106f7-060c-479b-9cb6-49ee74d09713"/>
  <p:tag name="MIO_EKGUID" val="36c9f2d0-afe0-4244-ac50-fa84d445e637"/>
  <p:tag name="MIO_UPDATE" val="True"/>
  <p:tag name="MIO_VERSION" val="02.02.2026 14:42:49"/>
  <p:tag name="MIO_DBID" val="FDE84254-54DB-49E3-9A0E-CDE72035D530"/>
  <p:tag name="MIO_LASTDOWNLOADED" val="16.06.2026 16:55:40.331"/>
  <p:tag name="MIO_OBJECTNAME" val="Comparison (2)"/>
  <p:tag name="MIO_CONTENTTAG" val="gN4P5hj7OkG/FjArLthnwA=="/>
  <p:tag name="MIO_LASTEDITORNAME" val="Miguel Madeyski"/>
</p:tagLst>
</file>

<file path=ppt/tags/tag126.xml><?xml version="1.0" encoding="utf-8"?>
<p:tagLst xmlns:a="http://schemas.openxmlformats.org/drawingml/2006/main" xmlns:r="http://schemas.openxmlformats.org/officeDocument/2006/relationships" xmlns:p="http://schemas.openxmlformats.org/presentationml/2006/main">
  <p:tag name="MIO_GUID" val="c25072b8-ea43-4a50-9bf6-2b8a59445465"/>
  <p:tag name="MIO_EKGUID" val="ac0ebba2-92e3-410f-b7d1-ce71302b8a47"/>
  <p:tag name="MIO_UPDATE" val="True"/>
  <p:tag name="MIO_VERSION" val="09.03.2023 11:26:21"/>
  <p:tag name="MIO_DBID" val="FDE84254-54DB-49E3-9A0E-CDE72035D530"/>
  <p:tag name="MIO_LASTDOWNLOADED" val="16.06.2026 15:20:44.629"/>
  <p:tag name="MIO_OBJECTNAME" val="Process infographic – vertical"/>
  <p:tag name="MIO_CONTENTTAG" val="+YCqXI65uEOP9Eb855HQ/ncpYP2lbn9Hs1Gdr2vDfPA="/>
  <p:tag name="MIO_LASTEDITORNAME" val="Verena Kohl"/>
</p:tagLst>
</file>

<file path=ppt/tags/tag127.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128.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129.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130.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131.xml><?xml version="1.0" encoding="utf-8"?>
<p:tagLst xmlns:a="http://schemas.openxmlformats.org/drawingml/2006/main" xmlns:r="http://schemas.openxmlformats.org/officeDocument/2006/relationships" xmlns:p="http://schemas.openxmlformats.org/presentationml/2006/main">
  <p:tag name="MIO_EKGUID" val="9cc37eaf-be9d-4b73-b7a5-4d9bb7f10371"/>
  <p:tag name="MIO_GUID" val="6d347e78-20be-469a-8c0a-8c6ce097ead1"/>
  <p:tag name="MIO_UPDATE" val="True"/>
  <p:tag name="MIO_VERSION" val="05.03.2023 11:09:23"/>
  <p:tag name="MIO_DBID" val="FDE84254-54DB-49E3-9A0E-CDE72035D530"/>
  <p:tag name="MIO_LASTDOWNLOADED" val="16.06.2026 15:24:27.638"/>
  <p:tag name="MIO_OBJECTNAME" val="Certificate"/>
  <p:tag name="MIO_CONTENTTAG" val="M5V4sxQySUCt8whYla8fvw3nEpI+2dZNoZq0qCHT/JQ="/>
  <p:tag name="MIO_LASTEDITORNAME" val="Verena Kohl"/>
</p:tagLst>
</file>

<file path=ppt/tags/tag132.xml><?xml version="1.0" encoding="utf-8"?>
<p:tagLst xmlns:a="http://schemas.openxmlformats.org/drawingml/2006/main" xmlns:r="http://schemas.openxmlformats.org/officeDocument/2006/relationships" xmlns:p="http://schemas.openxmlformats.org/presentationml/2006/main">
  <p:tag name="MIO_EKGUID" val="ba1c4618-2f82-43da-85ff-f40c5fbe4a99"/>
  <p:tag name="MIO_GUID" val="458fa3b6-a0b9-4eb2-8eed-339aa6f969c6"/>
  <p:tag name="MIO_UPDATE" val="True"/>
  <p:tag name="MIO_VERSION" val="05.03.2023 11:13:09"/>
  <p:tag name="MIO_DBID" val="FDE84254-54DB-49E3-9A0E-CDE72035D530"/>
  <p:tag name="MIO_LASTDOWNLOADED" val="16.06.2026 15:23:58.155"/>
  <p:tag name="MIO_OBJECTNAME" val="Key"/>
  <p:tag name="MIO_CONTENTTAG" val="nUPJk0bNXkW20RJ0fgs1ZNgHVaEI/RNCjOkv4guhk/U="/>
  <p:tag name="MIO_LASTEDITORNAME" val="Verena Kohl"/>
</p:tagLst>
</file>

<file path=ppt/tags/tag133.xml><?xml version="1.0" encoding="utf-8"?>
<p:tagLst xmlns:a="http://schemas.openxmlformats.org/drawingml/2006/main" xmlns:r="http://schemas.openxmlformats.org/officeDocument/2006/relationships" xmlns:p="http://schemas.openxmlformats.org/presentationml/2006/main">
  <p:tag name="MIO_AGENDA_LEVEL_STRING" val="4"/>
  <p:tag name="MIO_AGENDA_ELEMENTNAME" val="Secure boot"/>
  <p:tag name="MIO_AGENDA_EXPLICIT_ITEM_LEVEL_TAG" val="0"/>
  <p:tag name="MIO_AGENDA_NUMBER_STRING_TAG" val="4"/>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bb33504f-b7e3-47a3-8526-47315acf795b"/>
  <p:tag name="MIO_VERSION" val="31.12.9999 23:59:59"/>
  <p:tag name="MIO_DBID" val="fde84254-54db-49e3-9a0e-cde72035d530"/>
  <p:tag name="MIO_LASTDOWNLOADED" val="26.06.2026 00:53:55.893"/>
  <p:tag name="MIO_UPDATE" val="False"/>
</p:tagLst>
</file>

<file path=ppt/tags/tag134.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135.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36.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37.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38.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39.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40.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41.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142.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143.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144.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145.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146.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49E94593-889F-4919-949F-151C10E47156}" vid="{261C40F5-1AA9-49AA-B9AB-B51A12FA2F78}"/>
    </a:ext>
  </a:extLst>
</a:theme>
</file>

<file path=ppt/theme/theme2.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655AAE9148B404486CBFDD74AD2AA0B" ma:contentTypeVersion="2" ma:contentTypeDescription="Create a new document." ma:contentTypeScope="" ma:versionID="a24cc1775e4f53b56bd6bf310015a115">
  <xsd:schema xmlns:xsd="http://www.w3.org/2001/XMLSchema" xmlns:xs="http://www.w3.org/2001/XMLSchema" xmlns:p="http://schemas.microsoft.com/office/2006/metadata/properties" xmlns:ns2="a709603d-609a-478b-a91d-3c5e984c0e79" xmlns:ns3="6ef45842-284e-44e4-b2db-1749e7948b44" targetNamespace="http://schemas.microsoft.com/office/2006/metadata/properties" ma:root="true" ma:fieldsID="f8923fe8aa0ace7ab58ef4ccc8b43a85" ns2:_="" ns3:_="">
    <xsd:import namespace="a709603d-609a-478b-a91d-3c5e984c0e79"/>
    <xsd:import namespace="6ef45842-284e-44e4-b2db-1749e7948b44"/>
    <xsd:element name="properties">
      <xsd:complexType>
        <xsd:sequence>
          <xsd:element name="documentManagement">
            <xsd:complexType>
              <xsd:all>
                <xsd:element ref="ns2:Ver"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09603d-609a-478b-a91d-3c5e984c0e79" elementFormDefault="qualified">
    <xsd:import namespace="http://schemas.microsoft.com/office/2006/documentManagement/types"/>
    <xsd:import namespace="http://schemas.microsoft.com/office/infopath/2007/PartnerControls"/>
    <xsd:element name="Ver" ma:index="8" nillable="true" ma:displayName="Ver" ma:default="0" ma:internalName="Ver"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6ef45842-284e-44e4-b2db-1749e7948b44" elementFormDefault="qualified">
    <xsd:import namespace="http://schemas.microsoft.com/office/2006/documentManagement/types"/>
    <xsd:import namespace="http://schemas.microsoft.com/office/infopath/2007/PartnerControls"/>
    <xsd:element name="SharedWithUsers" ma:index="9"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Ver xmlns="a709603d-609a-478b-a91d-3c5e984c0e79">0</Ver>
  </documentManagement>
</p:properties>
</file>

<file path=customXml/itemProps1.xml><?xml version="1.0" encoding="utf-8"?>
<ds:datastoreItem xmlns:ds="http://schemas.openxmlformats.org/officeDocument/2006/customXml" ds:itemID="{EC144A13-A380-40B3-9980-61BD11F58D02}">
  <ds:schemaRefs>
    <ds:schemaRef ds:uri="http://schemas.microsoft.com/office/2006/metadata/customXsn"/>
  </ds:schemaRefs>
</ds:datastoreItem>
</file>

<file path=customXml/itemProps2.xml><?xml version="1.0" encoding="utf-8"?>
<ds:datastoreItem xmlns:ds="http://schemas.openxmlformats.org/officeDocument/2006/customXml" ds:itemID="{63C6748B-B74E-4BE1-834C-AEBB9BCA18FB}">
  <ds:schemaRefs>
    <ds:schemaRef ds:uri="http://schemas.microsoft.com/sharepoint/v3/contenttype/forms"/>
  </ds:schemaRefs>
</ds:datastoreItem>
</file>

<file path=customXml/itemProps3.xml><?xml version="1.0" encoding="utf-8"?>
<ds:datastoreItem xmlns:ds="http://schemas.openxmlformats.org/officeDocument/2006/customXml" ds:itemID="{AF2014AB-78C2-4F59-9D6E-9572E72F77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09603d-609a-478b-a91d-3c5e984c0e79"/>
    <ds:schemaRef ds:uri="6ef45842-284e-44e4-b2db-1749e7948b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D299A1D5-F553-4264-9022-E0136C61CE27}">
  <ds:schemaRefs>
    <ds:schemaRef ds:uri="http://schemas.microsoft.com/office/2006/documentManagement/types"/>
    <ds:schemaRef ds:uri="http://schemas.microsoft.com/office/infopath/2007/PartnerControls"/>
    <ds:schemaRef ds:uri="http://purl.org/dc/elements/1.1/"/>
    <ds:schemaRef ds:uri="a709603d-609a-478b-a91d-3c5e984c0e79"/>
    <ds:schemaRef ds:uri="http://schemas.microsoft.com/office/2006/metadata/properties"/>
    <ds:schemaRef ds:uri="http://purl.org/dc/terms/"/>
    <ds:schemaRef ds:uri="http://www.w3.org/XML/1998/namespace"/>
    <ds:schemaRef ds:uri="http://purl.org/dc/dcmitype/"/>
    <ds:schemaRef ds:uri="http://schemas.openxmlformats.org/package/2006/metadata/core-properties"/>
    <ds:schemaRef ds:uri="6ef45842-284e-44e4-b2db-1749e7948b44"/>
  </ds:schemaRefs>
</ds:datastoreItem>
</file>

<file path=docMetadata/LabelInfo.xml><?xml version="1.0" encoding="utf-8"?>
<clbl:labelList xmlns:clbl="http://schemas.microsoft.com/office/2020/mipLabelMetadata">
  <clbl:label id="{a15a25aa-e944-415d-b7a7-40f6b9180b6b}" enabled="1" method="Standard" siteId="{eeb8d0e8-3544-41d3-aac6-934c309faf5a}" contentBits="0" removed="0"/>
</clbl:labelList>
</file>

<file path=docProps/app.xml><?xml version="1.0" encoding="utf-8"?>
<Properties xmlns="http://schemas.openxmlformats.org/officeDocument/2006/extended-properties" xmlns:vt="http://schemas.openxmlformats.org/officeDocument/2006/docPropsVTypes">
  <Template>InfineonTemplate_16_9</Template>
  <TotalTime>29904</TotalTime>
  <Words>4953</Words>
  <Application>Microsoft Office PowerPoint</Application>
  <PresentationFormat>Widescreen</PresentationFormat>
  <Paragraphs>457</Paragraphs>
  <Slides>27</Slides>
  <Notes>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Arial</vt:lpstr>
      <vt:lpstr>Infineon 16:9</vt:lpstr>
      <vt:lpstr>PSOC™ Control C3 (PSC3x7, PSC3x8) - Security introduction  Customer training workshop (CTW)</vt:lpstr>
      <vt:lpstr>Table of contents</vt:lpstr>
      <vt:lpstr>Table of contents</vt:lpstr>
      <vt:lpstr>Why security on embedded MCUs?</vt:lpstr>
      <vt:lpstr>PSOC™ C3 security architecture</vt:lpstr>
      <vt:lpstr>Table of contents</vt:lpstr>
      <vt:lpstr>Device lifecycle stages - overview</vt:lpstr>
      <vt:lpstr>Development LCS - bring-up</vt:lpstr>
      <vt:lpstr>Production LCS - field deployment</vt:lpstr>
      <vt:lpstr>RMA LCS - failure analysis</vt:lpstr>
      <vt:lpstr>Table of contents</vt:lpstr>
      <vt:lpstr>Edge protect tools (EPT) - overview</vt:lpstr>
      <vt:lpstr>Two certificate types - development vs production</vt:lpstr>
      <vt:lpstr>Ownership transfer - create certificate</vt:lpstr>
      <vt:lpstr>Ownership transfer - provision</vt:lpstr>
      <vt:lpstr>OEM policy </vt:lpstr>
      <vt:lpstr>Table of contents</vt:lpstr>
      <vt:lpstr>BootROM - root of trust</vt:lpstr>
      <vt:lpstr>Policy fields for secure boot</vt:lpstr>
      <vt:lpstr>Image signing</vt:lpstr>
      <vt:lpstr>Image verification</vt:lpstr>
      <vt:lpstr>Key takeaways</vt:lpstr>
      <vt:lpstr>PowerPoint Presentation</vt:lpstr>
      <vt:lpstr>Appendix</vt:lpstr>
      <vt:lpstr>Attack types vs security features</vt:lpstr>
      <vt:lpstr>What happens when authentication fails</vt:lpstr>
      <vt:lpstr>Revision history</vt:lpstr>
    </vt:vector>
  </TitlesOfParts>
  <Manager/>
  <Company>Infineon Technologies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PSOC(TM) Control C3 (PSC3x7, PSC3x8) Security introduction Customer training workshop (CTW)</dc:title>
  <dc:subject>Customer training workshop (CTW)</dc:subject>
  <dc:creator>Infineon Technologies AG</dc:creator>
  <cp:keywords>PSOC, Control, C3, PSC3x7, PSC3x8, Security, Introduction, Customer training workshop, CTW</cp:keywords>
  <cp:lastModifiedBy>Rangaswamy Vinay (ES ICW MCU APP FD SEC)</cp:lastModifiedBy>
  <cp:revision>224</cp:revision>
  <dcterms:created xsi:type="dcterms:W3CDTF">2020-12-16T02:43:07Z</dcterms:created>
  <dcterms:modified xsi:type="dcterms:W3CDTF">2026-10-08T07:11:50Z</dcterms:modified>
  <cp:category>Customer training workshop (CTW)</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restricted</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0x010100A655AAE9148B404486CBFDD74AD2AA0B</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2026-06-25T19:38:40Z</vt:filetime>
  </property>
  <property fmtid="{D5CDD505-2E9C-101B-9397-08002B2CF9AE}" pid="15" name="empower.integration.Classification.DateFormat">
    <vt:lpwstr>yyyy-MM-dd</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empower.integration.Classification.ButtonState">
    <vt:bool>false</vt:bool>
  </property>
  <property fmtid="{D5CDD505-2E9C-101B-9397-08002B2CF9AE}" pid="23" name="MSIP_Label_a15a25aa-e944-415d-b7a7-40f6b9180b6b_Enabled">
    <vt:lpwstr>-1</vt:lpwstr>
  </property>
  <property fmtid="{D5CDD505-2E9C-101B-9397-08002B2CF9AE}" pid="24" name="MSIP_Label_a15a25aa-e944-415d-b7a7-40f6b9180b6b_SetDate">
    <vt:lpwstr>2026-06-25 19:38:42Z</vt:lpwstr>
  </property>
  <property fmtid="{D5CDD505-2E9C-101B-9397-08002B2CF9AE}" pid="25" name="MSIP_Label_a15a25aa-e944-415d-b7a7-40f6b9180b6b_Method">
    <vt:lpwstr>Privileged</vt:lpwstr>
  </property>
  <property fmtid="{D5CDD505-2E9C-101B-9397-08002B2CF9AE}" pid="26" name="MSIP_Label_a15a25aa-e944-415d-b7a7-40f6b9180b6b_Name">
    <vt:lpwstr>a15a25aa-e944-415d-b7a7-40f6b9180b6b</vt:lpwstr>
  </property>
  <property fmtid="{D5CDD505-2E9C-101B-9397-08002B2CF9AE}" pid="27" name="MSIP_Label_a15a25aa-e944-415d-b7a7-40f6b9180b6b_SiteId">
    <vt:lpwstr>eeb8d0e8-3544-41d3-aac6-934c309faf5a</vt:lpwstr>
  </property>
  <property fmtid="{D5CDD505-2E9C-101B-9397-08002B2CF9AE}" pid="28" name="MSIP_Label_a15a25aa-e944-415d-b7a7-40f6b9180b6b_ActionId">
    <vt:lpwstr>3350a213-78ff-48dd-a803-db12101ef7cc</vt:lpwstr>
  </property>
  <property fmtid="{D5CDD505-2E9C-101B-9397-08002B2CF9AE}" pid="29" name="MSIP_Label_a15a25aa-e944-415d-b7a7-40f6b9180b6b_ContentBits">
    <vt:lpwstr>0</vt:lpwstr>
  </property>
</Properties>
</file>